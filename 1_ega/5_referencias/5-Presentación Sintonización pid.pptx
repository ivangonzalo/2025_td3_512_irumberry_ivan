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38" r:id="rId2"/>
    <p:sldId id="274" r:id="rId3"/>
    <p:sldId id="275" r:id="rId4"/>
    <p:sldId id="258" r:id="rId5"/>
    <p:sldId id="340" r:id="rId6"/>
    <p:sldId id="260" r:id="rId7"/>
    <p:sldId id="261" r:id="rId8"/>
    <p:sldId id="262" r:id="rId9"/>
    <p:sldId id="320" r:id="rId10"/>
    <p:sldId id="263" r:id="rId11"/>
    <p:sldId id="264" r:id="rId12"/>
    <p:sldId id="317" r:id="rId13"/>
    <p:sldId id="318" r:id="rId14"/>
    <p:sldId id="319" r:id="rId15"/>
    <p:sldId id="265" r:id="rId16"/>
    <p:sldId id="267" r:id="rId17"/>
    <p:sldId id="269" r:id="rId18"/>
    <p:sldId id="277" r:id="rId19"/>
    <p:sldId id="278" r:id="rId20"/>
    <p:sldId id="279" r:id="rId21"/>
    <p:sldId id="331" r:id="rId22"/>
    <p:sldId id="332" r:id="rId23"/>
    <p:sldId id="333" r:id="rId24"/>
    <p:sldId id="294" r:id="rId25"/>
    <p:sldId id="295" r:id="rId26"/>
    <p:sldId id="296" r:id="rId27"/>
    <p:sldId id="297" r:id="rId28"/>
    <p:sldId id="298" r:id="rId29"/>
    <p:sldId id="299" r:id="rId30"/>
    <p:sldId id="300" r:id="rId31"/>
    <p:sldId id="339" r:id="rId32"/>
    <p:sldId id="328" r:id="rId33"/>
    <p:sldId id="329" r:id="rId34"/>
    <p:sldId id="330" r:id="rId35"/>
    <p:sldId id="301" r:id="rId36"/>
    <p:sldId id="304" r:id="rId37"/>
    <p:sldId id="306" r:id="rId38"/>
    <p:sldId id="305" r:id="rId39"/>
    <p:sldId id="335" r:id="rId40"/>
    <p:sldId id="336" r:id="rId41"/>
    <p:sldId id="337" r:id="rId42"/>
    <p:sldId id="307" r:id="rId43"/>
    <p:sldId id="308" r:id="rId44"/>
    <p:sldId id="334" r:id="rId45"/>
    <p:sldId id="310" r:id="rId46"/>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460" y="-1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8.wmf"/><Relationship Id="rId3" Type="http://schemas.openxmlformats.org/officeDocument/2006/relationships/image" Target="../media/image18.wmf"/><Relationship Id="rId7" Type="http://schemas.openxmlformats.org/officeDocument/2006/relationships/image" Target="../media/image22.wmf"/><Relationship Id="rId12" Type="http://schemas.openxmlformats.org/officeDocument/2006/relationships/image" Target="../media/image27.wmf"/><Relationship Id="rId2" Type="http://schemas.openxmlformats.org/officeDocument/2006/relationships/image" Target="../media/image17.wmf"/><Relationship Id="rId16" Type="http://schemas.openxmlformats.org/officeDocument/2006/relationships/image" Target="../media/image31.w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6.wmf"/><Relationship Id="rId5" Type="http://schemas.openxmlformats.org/officeDocument/2006/relationships/image" Target="../media/image20.wmf"/><Relationship Id="rId15" Type="http://schemas.openxmlformats.org/officeDocument/2006/relationships/image" Target="../media/image3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 Id="rId14"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4.wmf"/><Relationship Id="rId1" Type="http://schemas.openxmlformats.org/officeDocument/2006/relationships/image" Target="../media/image33.wmf"/><Relationship Id="rId5" Type="http://schemas.openxmlformats.org/officeDocument/2006/relationships/image" Target="../media/image35.wmf"/><Relationship Id="rId4" Type="http://schemas.openxmlformats.org/officeDocument/2006/relationships/image" Target="../media/image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image" Target="../media/image16.wmf"/><Relationship Id="rId3" Type="http://schemas.openxmlformats.org/officeDocument/2006/relationships/image" Target="../media/image42.wmf"/><Relationship Id="rId7" Type="http://schemas.openxmlformats.org/officeDocument/2006/relationships/image" Target="../media/image45.wmf"/><Relationship Id="rId12" Type="http://schemas.openxmlformats.org/officeDocument/2006/relationships/image" Target="../media/image50.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4.wmf"/><Relationship Id="rId11" Type="http://schemas.openxmlformats.org/officeDocument/2006/relationships/image" Target="../media/image49.wmf"/><Relationship Id="rId5" Type="http://schemas.openxmlformats.org/officeDocument/2006/relationships/image" Target="../media/image43.wmf"/><Relationship Id="rId15" Type="http://schemas.openxmlformats.org/officeDocument/2006/relationships/image" Target="../media/image18.wmf"/><Relationship Id="rId10" Type="http://schemas.openxmlformats.org/officeDocument/2006/relationships/image" Target="../media/image48.wmf"/><Relationship Id="rId4" Type="http://schemas.openxmlformats.org/officeDocument/2006/relationships/image" Target="../media/image27.wmf"/><Relationship Id="rId9" Type="http://schemas.openxmlformats.org/officeDocument/2006/relationships/image" Target="../media/image47.wmf"/><Relationship Id="rId14"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56.wmf"/><Relationship Id="rId2" Type="http://schemas.openxmlformats.org/officeDocument/2006/relationships/image" Target="../media/image5.wmf"/><Relationship Id="rId1" Type="http://schemas.openxmlformats.org/officeDocument/2006/relationships/image" Target="../media/image52.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6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77.wmf"/><Relationship Id="rId1" Type="http://schemas.openxmlformats.org/officeDocument/2006/relationships/image" Target="../media/image7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5" Type="http://schemas.openxmlformats.org/officeDocument/2006/relationships/image" Target="../media/image84.wmf"/><Relationship Id="rId4" Type="http://schemas.openxmlformats.org/officeDocument/2006/relationships/image" Target="../media/image8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7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349B4A-38B8-484C-ADF1-F74EB3797B27}" type="datetimeFigureOut">
              <a:rPr lang="es-AR" smtClean="0"/>
              <a:pPr/>
              <a:t>2/5/2016</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28C3A5-1787-4E4F-A71C-0CEE626E6971}" type="slidenum">
              <a:rPr lang="es-AR" smtClean="0"/>
              <a:pPr/>
              <a:t>‹Nº›</a:t>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pPr>
              <a:defRPr/>
            </a:pPr>
            <a:fld id="{6687C8A6-F02F-4B4F-B0EF-A49B7EA5A2E7}" type="slidenum">
              <a:rPr lang="es-ES_tradnl" smtClean="0"/>
              <a:pPr>
                <a:defRPr/>
              </a:pPr>
              <a:t>1</a:t>
            </a:fld>
            <a:endParaRPr lang="es-ES_trad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A7CFDD21-90B0-40B5-9A24-BB303D1B6032}" type="slidenum">
              <a:rPr lang="es-AR" smtClean="0"/>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441486-A1FD-46E8-9274-EBEC9FF62AC9}" type="datetimeFigureOut">
              <a:rPr lang="es-AR" smtClean="0"/>
              <a:pPr/>
              <a:t>2/5/2016</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CFDD21-90B0-40B5-9A24-BB303D1B6032}" type="slidenum">
              <a:rPr lang="es-AR" smtClean="0"/>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6.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3.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0.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10.bin"/><Relationship Id="rId14" Type="http://schemas.openxmlformats.org/officeDocument/2006/relationships/image" Target="../media/image14.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9.bin"/><Relationship Id="rId18" Type="http://schemas.openxmlformats.org/officeDocument/2006/relationships/image" Target="../media/image23.wmf"/><Relationship Id="rId26" Type="http://schemas.openxmlformats.org/officeDocument/2006/relationships/image" Target="../media/image27.wmf"/><Relationship Id="rId3" Type="http://schemas.openxmlformats.org/officeDocument/2006/relationships/oleObject" Target="../embeddings/oleObject14.bin"/><Relationship Id="rId21" Type="http://schemas.openxmlformats.org/officeDocument/2006/relationships/oleObject" Target="../embeddings/oleObject23.bin"/><Relationship Id="rId34" Type="http://schemas.openxmlformats.org/officeDocument/2006/relationships/image" Target="../media/image31.wmf"/><Relationship Id="rId7" Type="http://schemas.openxmlformats.org/officeDocument/2006/relationships/oleObject" Target="../embeddings/oleObject16.bin"/><Relationship Id="rId12" Type="http://schemas.openxmlformats.org/officeDocument/2006/relationships/image" Target="../media/image20.wmf"/><Relationship Id="rId17" Type="http://schemas.openxmlformats.org/officeDocument/2006/relationships/oleObject" Target="../embeddings/oleObject21.bin"/><Relationship Id="rId25" Type="http://schemas.openxmlformats.org/officeDocument/2006/relationships/oleObject" Target="../embeddings/oleObject25.bin"/><Relationship Id="rId33" Type="http://schemas.openxmlformats.org/officeDocument/2006/relationships/oleObject" Target="../embeddings/oleObject29.bin"/><Relationship Id="rId2" Type="http://schemas.openxmlformats.org/officeDocument/2006/relationships/slideLayout" Target="../slideLayouts/slideLayout2.xml"/><Relationship Id="rId16" Type="http://schemas.openxmlformats.org/officeDocument/2006/relationships/image" Target="../media/image22.wmf"/><Relationship Id="rId20" Type="http://schemas.openxmlformats.org/officeDocument/2006/relationships/image" Target="../media/image24.wmf"/><Relationship Id="rId29" Type="http://schemas.openxmlformats.org/officeDocument/2006/relationships/oleObject" Target="../embeddings/oleObject27.bin"/><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18.bin"/><Relationship Id="rId24" Type="http://schemas.openxmlformats.org/officeDocument/2006/relationships/image" Target="../media/image26.wmf"/><Relationship Id="rId32" Type="http://schemas.openxmlformats.org/officeDocument/2006/relationships/image" Target="../media/image30.wmf"/><Relationship Id="rId5" Type="http://schemas.openxmlformats.org/officeDocument/2006/relationships/oleObject" Target="../embeddings/oleObject15.bin"/><Relationship Id="rId15" Type="http://schemas.openxmlformats.org/officeDocument/2006/relationships/oleObject" Target="../embeddings/oleObject20.bin"/><Relationship Id="rId23" Type="http://schemas.openxmlformats.org/officeDocument/2006/relationships/oleObject" Target="../embeddings/oleObject24.bin"/><Relationship Id="rId28" Type="http://schemas.openxmlformats.org/officeDocument/2006/relationships/image" Target="../media/image28.wmf"/><Relationship Id="rId10" Type="http://schemas.openxmlformats.org/officeDocument/2006/relationships/image" Target="../media/image19.wmf"/><Relationship Id="rId19" Type="http://schemas.openxmlformats.org/officeDocument/2006/relationships/oleObject" Target="../embeddings/oleObject22.bin"/><Relationship Id="rId31" Type="http://schemas.openxmlformats.org/officeDocument/2006/relationships/oleObject" Target="../embeddings/oleObject28.bin"/><Relationship Id="rId4" Type="http://schemas.openxmlformats.org/officeDocument/2006/relationships/image" Target="../media/image16.wmf"/><Relationship Id="rId9" Type="http://schemas.openxmlformats.org/officeDocument/2006/relationships/oleObject" Target="../embeddings/oleObject17.bin"/><Relationship Id="rId14" Type="http://schemas.openxmlformats.org/officeDocument/2006/relationships/image" Target="../media/image21.wmf"/><Relationship Id="rId22" Type="http://schemas.openxmlformats.org/officeDocument/2006/relationships/image" Target="../media/image25.wmf"/><Relationship Id="rId27" Type="http://schemas.openxmlformats.org/officeDocument/2006/relationships/oleObject" Target="../embeddings/oleObject26.bin"/><Relationship Id="rId30" Type="http://schemas.openxmlformats.org/officeDocument/2006/relationships/image" Target="../media/image2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2.wmf"/></Relationships>
</file>

<file path=ppt/slides/_rels/slide12.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4.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6.wmf"/><Relationship Id="rId4" Type="http://schemas.openxmlformats.org/officeDocument/2006/relationships/image" Target="../media/image33.wmf"/><Relationship Id="rId9"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7.wmf"/></Relationships>
</file>

<file path=ppt/slides/_rels/slide15.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9.wmf"/><Relationship Id="rId5" Type="http://schemas.openxmlformats.org/officeDocument/2006/relationships/oleObject" Target="../embeddings/oleObject39.bin"/><Relationship Id="rId4" Type="http://schemas.openxmlformats.org/officeDocument/2006/relationships/image" Target="../media/image38.wmf"/></Relationships>
</file>

<file path=ppt/slides/_rels/slide16.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46.bin"/><Relationship Id="rId18" Type="http://schemas.openxmlformats.org/officeDocument/2006/relationships/image" Target="../media/image46.wmf"/><Relationship Id="rId26" Type="http://schemas.openxmlformats.org/officeDocument/2006/relationships/image" Target="../media/image50.w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43.wmf"/><Relationship Id="rId17" Type="http://schemas.openxmlformats.org/officeDocument/2006/relationships/oleObject" Target="../embeddings/oleObject48.bin"/><Relationship Id="rId25" Type="http://schemas.openxmlformats.org/officeDocument/2006/relationships/oleObject" Target="../embeddings/oleObject52.bin"/><Relationship Id="rId2" Type="http://schemas.openxmlformats.org/officeDocument/2006/relationships/slideLayout" Target="../slideLayouts/slideLayout2.xml"/><Relationship Id="rId16" Type="http://schemas.openxmlformats.org/officeDocument/2006/relationships/image" Target="../media/image45.wmf"/><Relationship Id="rId20" Type="http://schemas.openxmlformats.org/officeDocument/2006/relationships/image" Target="../media/image47.wmf"/><Relationship Id="rId29" Type="http://schemas.openxmlformats.org/officeDocument/2006/relationships/oleObject" Target="../embeddings/oleObject54.bin"/><Relationship Id="rId1" Type="http://schemas.openxmlformats.org/officeDocument/2006/relationships/vmlDrawing" Target="../drawings/vmlDrawing11.vml"/><Relationship Id="rId6" Type="http://schemas.openxmlformats.org/officeDocument/2006/relationships/image" Target="../media/image41.wmf"/><Relationship Id="rId11" Type="http://schemas.openxmlformats.org/officeDocument/2006/relationships/oleObject" Target="../embeddings/oleObject45.bin"/><Relationship Id="rId24" Type="http://schemas.openxmlformats.org/officeDocument/2006/relationships/image" Target="../media/image49.wmf"/><Relationship Id="rId32" Type="http://schemas.openxmlformats.org/officeDocument/2006/relationships/image" Target="../media/image18.w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28" Type="http://schemas.openxmlformats.org/officeDocument/2006/relationships/image" Target="../media/image16.wmf"/><Relationship Id="rId10" Type="http://schemas.openxmlformats.org/officeDocument/2006/relationships/image" Target="../media/image27.wmf"/><Relationship Id="rId19" Type="http://schemas.openxmlformats.org/officeDocument/2006/relationships/oleObject" Target="../embeddings/oleObject49.bin"/><Relationship Id="rId31" Type="http://schemas.openxmlformats.org/officeDocument/2006/relationships/oleObject" Target="../embeddings/oleObject55.bin"/><Relationship Id="rId4" Type="http://schemas.openxmlformats.org/officeDocument/2006/relationships/image" Target="../media/image40.wmf"/><Relationship Id="rId9" Type="http://schemas.openxmlformats.org/officeDocument/2006/relationships/oleObject" Target="../embeddings/oleObject44.bin"/><Relationship Id="rId14" Type="http://schemas.openxmlformats.org/officeDocument/2006/relationships/image" Target="../media/image44.wmf"/><Relationship Id="rId22" Type="http://schemas.openxmlformats.org/officeDocument/2006/relationships/image" Target="../media/image48.wmf"/><Relationship Id="rId27" Type="http://schemas.openxmlformats.org/officeDocument/2006/relationships/oleObject" Target="../embeddings/oleObject53.bin"/><Relationship Id="rId30"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1.wmf"/></Relationships>
</file>

<file path=ppt/slides/_rels/slide18.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2.bin"/><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54.wmf"/><Relationship Id="rId2" Type="http://schemas.openxmlformats.org/officeDocument/2006/relationships/slideLayout" Target="../slideLayouts/slideLayout1.xml"/><Relationship Id="rId16" Type="http://schemas.openxmlformats.org/officeDocument/2006/relationships/image" Target="../media/image56.wmf"/><Relationship Id="rId1" Type="http://schemas.openxmlformats.org/officeDocument/2006/relationships/vmlDrawing" Target="../drawings/vmlDrawing13.vml"/><Relationship Id="rId6" Type="http://schemas.openxmlformats.org/officeDocument/2006/relationships/image" Target="../media/image5.wmf"/><Relationship Id="rId11" Type="http://schemas.openxmlformats.org/officeDocument/2006/relationships/oleObject" Target="../embeddings/oleObject61.bin"/><Relationship Id="rId5" Type="http://schemas.openxmlformats.org/officeDocument/2006/relationships/oleObject" Target="../embeddings/oleObject58.bin"/><Relationship Id="rId15" Type="http://schemas.openxmlformats.org/officeDocument/2006/relationships/oleObject" Target="../embeddings/oleObject63.bin"/><Relationship Id="rId10" Type="http://schemas.openxmlformats.org/officeDocument/2006/relationships/image" Target="../media/image53.wmf"/><Relationship Id="rId4" Type="http://schemas.openxmlformats.org/officeDocument/2006/relationships/image" Target="../media/image52.wmf"/><Relationship Id="rId9" Type="http://schemas.openxmlformats.org/officeDocument/2006/relationships/oleObject" Target="../embeddings/oleObject60.bin"/><Relationship Id="rId14" Type="http://schemas.openxmlformats.org/officeDocument/2006/relationships/image" Target="../media/image55.wmf"/></Relationships>
</file>

<file path=ppt/slides/_rels/slide19.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69.bin"/><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61.wmf"/><Relationship Id="rId2" Type="http://schemas.openxmlformats.org/officeDocument/2006/relationships/slideLayout" Target="../slideLayouts/slideLayout1.xml"/><Relationship Id="rId16" Type="http://schemas.openxmlformats.org/officeDocument/2006/relationships/image" Target="../media/image63.wmf"/><Relationship Id="rId1" Type="http://schemas.openxmlformats.org/officeDocument/2006/relationships/vmlDrawing" Target="../drawings/vmlDrawing14.vml"/><Relationship Id="rId6" Type="http://schemas.openxmlformats.org/officeDocument/2006/relationships/image" Target="../media/image58.wmf"/><Relationship Id="rId11" Type="http://schemas.openxmlformats.org/officeDocument/2006/relationships/oleObject" Target="../embeddings/oleObject68.bin"/><Relationship Id="rId5" Type="http://schemas.openxmlformats.org/officeDocument/2006/relationships/oleObject" Target="../embeddings/oleObject65.bin"/><Relationship Id="rId15" Type="http://schemas.openxmlformats.org/officeDocument/2006/relationships/oleObject" Target="../embeddings/oleObject70.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67.bin"/><Relationship Id="rId14" Type="http://schemas.openxmlformats.org/officeDocument/2006/relationships/image" Target="../media/image62.wmf"/></Relationships>
</file>

<file path=ppt/slides/_rels/slide20.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76.bin"/><Relationship Id="rId3" Type="http://schemas.openxmlformats.org/officeDocument/2006/relationships/oleObject" Target="../embeddings/oleObject71.bin"/><Relationship Id="rId7" Type="http://schemas.openxmlformats.org/officeDocument/2006/relationships/oleObject" Target="../embeddings/oleObject73.bin"/><Relationship Id="rId12" Type="http://schemas.openxmlformats.org/officeDocument/2006/relationships/image" Target="../media/image68.wmf"/><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65.wmf"/><Relationship Id="rId11" Type="http://schemas.openxmlformats.org/officeDocument/2006/relationships/oleObject" Target="../embeddings/oleObject75.bin"/><Relationship Id="rId5" Type="http://schemas.openxmlformats.org/officeDocument/2006/relationships/oleObject" Target="../embeddings/oleObject72.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74.bin"/><Relationship Id="rId14" Type="http://schemas.openxmlformats.org/officeDocument/2006/relationships/image" Target="../media/image69.wmf"/></Relationships>
</file>

<file path=ppt/slides/_rels/slide21.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70.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77.wmf"/><Relationship Id="rId5" Type="http://schemas.openxmlformats.org/officeDocument/2006/relationships/oleObject" Target="../embeddings/oleObject78.bin"/><Relationship Id="rId4" Type="http://schemas.openxmlformats.org/officeDocument/2006/relationships/image" Target="../media/image76.wmf"/><Relationship Id="rId9" Type="http://schemas.openxmlformats.org/officeDocument/2006/relationships/image" Target="../media/image78.png"/></Relationships>
</file>

<file path=ppt/slides/_rels/slide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84.wmf"/><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81.wmf"/><Relationship Id="rId11" Type="http://schemas.openxmlformats.org/officeDocument/2006/relationships/oleObject" Target="../embeddings/oleObject84.bin"/><Relationship Id="rId5" Type="http://schemas.openxmlformats.org/officeDocument/2006/relationships/oleObject" Target="../embeddings/oleObject81.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83.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86.wmf"/><Relationship Id="rId5" Type="http://schemas.openxmlformats.org/officeDocument/2006/relationships/oleObject" Target="../embeddings/oleObject86.bin"/><Relationship Id="rId4" Type="http://schemas.openxmlformats.org/officeDocument/2006/relationships/image" Target="../media/image85.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90.jpeg"/><Relationship Id="rId5" Type="http://schemas.openxmlformats.org/officeDocument/2006/relationships/image" Target="../media/image89.jpeg"/><Relationship Id="rId4" Type="http://schemas.openxmlformats.org/officeDocument/2006/relationships/image" Target="../media/image88.wmf"/></Relationships>
</file>

<file path=ppt/slides/_rels/slide33.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7.xml"/><Relationship Id="rId4" Type="http://schemas.openxmlformats.org/officeDocument/2006/relationships/image" Target="../media/image94.jpe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95.wmf"/><Relationship Id="rId5" Type="http://schemas.openxmlformats.org/officeDocument/2006/relationships/oleObject" Target="../embeddings/oleObject89.bin"/><Relationship Id="rId4" Type="http://schemas.openxmlformats.org/officeDocument/2006/relationships/image" Target="../media/image76.wmf"/></Relationships>
</file>

<file path=ppt/slides/_rels/slide3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00.emf"/><Relationship Id="rId7" Type="http://schemas.openxmlformats.org/officeDocument/2006/relationships/image" Target="../media/image99.wmf"/><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oleObject" Target="../embeddings/oleObject91.bin"/><Relationship Id="rId5" Type="http://schemas.openxmlformats.org/officeDocument/2006/relationships/image" Target="../media/image98.wmf"/><Relationship Id="rId4" Type="http://schemas.openxmlformats.org/officeDocument/2006/relationships/oleObject" Target="../embeddings/oleObject90.bin"/></Relationships>
</file>

<file path=ppt/slides/_rels/slide40.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a:t>Electrónica Industrial</a:t>
            </a:r>
          </a:p>
        </p:txBody>
      </p:sp>
      <p:sp>
        <p:nvSpPr>
          <p:cNvPr id="3" name="2 Subtítulo"/>
          <p:cNvSpPr>
            <a:spLocks noGrp="1"/>
          </p:cNvSpPr>
          <p:nvPr>
            <p:ph type="subTitle" idx="1"/>
          </p:nvPr>
        </p:nvSpPr>
        <p:spPr/>
        <p:txBody>
          <a:bodyPr/>
          <a:lstStyle/>
          <a:p>
            <a:r>
              <a:rPr lang="es-ES_tradnl" dirty="0"/>
              <a:t>Sintonización de controladores </a:t>
            </a:r>
            <a:r>
              <a:rPr lang="es-ES_tradnl" dirty="0" err="1"/>
              <a:t>pid</a:t>
            </a:r>
            <a:endParaRPr lang="es-A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 Box 5"/>
          <p:cNvSpPr txBox="1">
            <a:spLocks noChangeArrowheads="1"/>
          </p:cNvSpPr>
          <p:nvPr/>
        </p:nvSpPr>
        <p:spPr bwMode="auto">
          <a:xfrm>
            <a:off x="360315" y="1364481"/>
            <a:ext cx="8530873" cy="830997"/>
          </a:xfrm>
          <a:prstGeom prst="rect">
            <a:avLst/>
          </a:prstGeom>
          <a:noFill/>
          <a:ln w="3175">
            <a:noFill/>
            <a:miter lim="800000"/>
            <a:headEnd/>
            <a:tailEnd/>
          </a:ln>
          <a:effectLst/>
        </p:spPr>
        <p:txBody>
          <a:bodyPr wrap="square">
            <a:spAutoFit/>
          </a:bodyPr>
          <a:lstStyle/>
          <a:p>
            <a:pPr algn="just">
              <a:spcBef>
                <a:spcPct val="50000"/>
              </a:spcBef>
            </a:pPr>
            <a:r>
              <a:rPr lang="es-MX" sz="2400" dirty="0">
                <a:latin typeface="Times New Roman" pitchFamily="18" charset="0"/>
                <a:cs typeface="Times New Roman" pitchFamily="18" charset="0"/>
              </a:rPr>
              <a:t>Los controladores PID son ampliamente usados en los sistemas de control industrial. </a:t>
            </a:r>
          </a:p>
        </p:txBody>
      </p:sp>
      <p:sp>
        <p:nvSpPr>
          <p:cNvPr id="3085" name="Text Box 13"/>
          <p:cNvSpPr txBox="1">
            <a:spLocks noChangeArrowheads="1"/>
          </p:cNvSpPr>
          <p:nvPr/>
        </p:nvSpPr>
        <p:spPr bwMode="auto">
          <a:xfrm>
            <a:off x="395536" y="2421756"/>
            <a:ext cx="8496944" cy="1200329"/>
          </a:xfrm>
          <a:prstGeom prst="rect">
            <a:avLst/>
          </a:prstGeom>
          <a:noFill/>
          <a:ln w="3175">
            <a:noFill/>
            <a:miter lim="800000"/>
            <a:headEnd/>
            <a:tailEnd/>
          </a:ln>
          <a:effectLst/>
        </p:spPr>
        <p:txBody>
          <a:bodyPr wrap="square">
            <a:spAutoFit/>
          </a:bodyPr>
          <a:lstStyle/>
          <a:p>
            <a:pPr algn="just"/>
            <a:r>
              <a:rPr lang="es-MX" sz="2400" dirty="0">
                <a:latin typeface="Times New Roman" pitchFamily="18" charset="0"/>
                <a:cs typeface="Times New Roman" pitchFamily="18" charset="0"/>
              </a:rPr>
              <a:t>Se aplican a la mayoría de los sistemas de control. Pero se aprecia más su utilidad cuando el modelo de la planta a controlar no se conoce y los métodos analíticos no pueden ser empleados.</a:t>
            </a:r>
          </a:p>
        </p:txBody>
      </p:sp>
      <p:sp>
        <p:nvSpPr>
          <p:cNvPr id="3086" name="Text Box 14"/>
          <p:cNvSpPr txBox="1">
            <a:spLocks noChangeArrowheads="1"/>
          </p:cNvSpPr>
          <p:nvPr/>
        </p:nvSpPr>
        <p:spPr bwMode="auto">
          <a:xfrm>
            <a:off x="395536" y="3933056"/>
            <a:ext cx="8499809" cy="830997"/>
          </a:xfrm>
          <a:prstGeom prst="rect">
            <a:avLst/>
          </a:prstGeom>
          <a:noFill/>
          <a:ln w="3175">
            <a:noFill/>
            <a:miter lim="800000"/>
            <a:headEnd/>
            <a:tailEnd/>
          </a:ln>
          <a:effectLst/>
        </p:spPr>
        <p:txBody>
          <a:bodyPr wrap="square">
            <a:spAutoFit/>
          </a:bodyPr>
          <a:lstStyle/>
          <a:p>
            <a:r>
              <a:rPr lang="es-MX" sz="2400" dirty="0">
                <a:latin typeface="Times New Roman" pitchFamily="18" charset="0"/>
                <a:cs typeface="Times New Roman" pitchFamily="18" charset="0"/>
              </a:rPr>
              <a:t>El controlador PID recibe una señal de entrada (generalmente es el error llamada e(t)) y proporciona una salida (acción de control, u(t))</a:t>
            </a:r>
          </a:p>
        </p:txBody>
      </p:sp>
      <p:graphicFrame>
        <p:nvGraphicFramePr>
          <p:cNvPr id="3087" name="Object 15"/>
          <p:cNvGraphicFramePr>
            <a:graphicFrameLocks noChangeAspect="1"/>
          </p:cNvGraphicFramePr>
          <p:nvPr/>
        </p:nvGraphicFramePr>
        <p:xfrm>
          <a:off x="2123728" y="5301208"/>
          <a:ext cx="4785862" cy="1017165"/>
        </p:xfrm>
        <a:graphic>
          <a:graphicData uri="http://schemas.openxmlformats.org/presentationml/2006/ole">
            <mc:AlternateContent xmlns:mc="http://schemas.openxmlformats.org/markup-compatibility/2006">
              <mc:Choice xmlns:v="urn:schemas-microsoft-com:vml" Requires="v">
                <p:oleObj spid="_x0000_s32777" name="Ecuación" r:id="rId3" imgW="2387520" imgH="507960" progId="Equation.3">
                  <p:embed/>
                </p:oleObj>
              </mc:Choice>
              <mc:Fallback>
                <p:oleObj name="Ecuación" r:id="rId3" imgW="2387520" imgH="5079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5301208"/>
                        <a:ext cx="4785862" cy="1017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2"/>
          <p:cNvSpPr txBox="1">
            <a:spLocks noChangeArrowheads="1"/>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Controladores PID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Text Box 5"/>
          <p:cNvSpPr txBox="1">
            <a:spLocks noChangeArrowheads="1"/>
          </p:cNvSpPr>
          <p:nvPr/>
        </p:nvSpPr>
        <p:spPr bwMode="auto">
          <a:xfrm>
            <a:off x="467544" y="1484784"/>
            <a:ext cx="7664278" cy="461665"/>
          </a:xfrm>
          <a:prstGeom prst="rect">
            <a:avLst/>
          </a:prstGeom>
          <a:noFill/>
          <a:ln w="3175">
            <a:noFill/>
            <a:miter lim="800000"/>
            <a:headEnd/>
            <a:tailEnd/>
          </a:ln>
          <a:effectLst/>
        </p:spPr>
        <p:txBody>
          <a:bodyPr wrap="none">
            <a:spAutoFit/>
          </a:bodyPr>
          <a:lstStyle/>
          <a:p>
            <a:r>
              <a:rPr lang="es-MX" sz="2400" dirty="0">
                <a:latin typeface="Times New Roman" pitchFamily="18" charset="0"/>
                <a:cs typeface="Times New Roman" pitchFamily="18" charset="0"/>
              </a:rPr>
              <a:t>Entonces, la  función de transferencia del controlador PID es</a:t>
            </a:r>
          </a:p>
        </p:txBody>
      </p:sp>
      <p:graphicFrame>
        <p:nvGraphicFramePr>
          <p:cNvPr id="15366" name="Object 6"/>
          <p:cNvGraphicFramePr>
            <a:graphicFrameLocks noChangeAspect="1"/>
          </p:cNvGraphicFramePr>
          <p:nvPr/>
        </p:nvGraphicFramePr>
        <p:xfrm>
          <a:off x="2699792" y="1988840"/>
          <a:ext cx="3345477" cy="1008112"/>
        </p:xfrm>
        <a:graphic>
          <a:graphicData uri="http://schemas.openxmlformats.org/presentationml/2006/ole">
            <mc:AlternateContent xmlns:mc="http://schemas.openxmlformats.org/markup-compatibility/2006">
              <mc:Choice xmlns:v="urn:schemas-microsoft-com:vml" Requires="v">
                <p:oleObj spid="_x0000_s33829" name="Ecuación" r:id="rId3" imgW="1600200" imgH="482400" progId="Equation.3">
                  <p:embed/>
                </p:oleObj>
              </mc:Choice>
              <mc:Fallback>
                <p:oleObj name="Ecuación" r:id="rId3" imgW="1600200" imgH="482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1988840"/>
                        <a:ext cx="3345477" cy="1008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Text Box 8"/>
          <p:cNvSpPr txBox="1">
            <a:spLocks noChangeArrowheads="1"/>
          </p:cNvSpPr>
          <p:nvPr/>
        </p:nvSpPr>
        <p:spPr bwMode="auto">
          <a:xfrm>
            <a:off x="395536" y="3068960"/>
            <a:ext cx="8352928" cy="1200329"/>
          </a:xfrm>
          <a:prstGeom prst="rect">
            <a:avLst/>
          </a:prstGeom>
          <a:noFill/>
          <a:ln w="3175">
            <a:noFill/>
            <a:miter lim="800000"/>
            <a:headEnd/>
            <a:tailEnd/>
          </a:ln>
          <a:effectLst/>
        </p:spPr>
        <p:txBody>
          <a:bodyPr wrap="square">
            <a:spAutoFit/>
          </a:bodyPr>
          <a:lstStyle/>
          <a:p>
            <a:pPr algn="just"/>
            <a:r>
              <a:rPr lang="es-MX" sz="2400" dirty="0">
                <a:latin typeface="Times New Roman" pitchFamily="18" charset="0"/>
                <a:cs typeface="Times New Roman" pitchFamily="18" charset="0"/>
              </a:rPr>
              <a:t>Donde K</a:t>
            </a:r>
            <a:r>
              <a:rPr lang="es-MX" sz="2400" baseline="-25000" dirty="0">
                <a:latin typeface="Times New Roman" pitchFamily="18" charset="0"/>
                <a:cs typeface="Times New Roman" pitchFamily="18" charset="0"/>
              </a:rPr>
              <a:t>p</a:t>
            </a:r>
            <a:r>
              <a:rPr lang="es-MX" sz="2400" dirty="0">
                <a:latin typeface="Times New Roman" pitchFamily="18" charset="0"/>
                <a:cs typeface="Times New Roman" pitchFamily="18" charset="0"/>
              </a:rPr>
              <a:t> es la ganancia proporcional, </a:t>
            </a:r>
            <a:r>
              <a:rPr lang="en-US" sz="2400" dirty="0">
                <a:latin typeface="Times New Roman" pitchFamily="18" charset="0"/>
                <a:cs typeface="Times New Roman" pitchFamily="18" charset="0"/>
              </a:rPr>
              <a:t>T</a:t>
            </a:r>
            <a:r>
              <a:rPr lang="en-US" sz="2400" baseline="-25000" dirty="0">
                <a:latin typeface="Times New Roman" pitchFamily="18" charset="0"/>
                <a:cs typeface="Times New Roman" pitchFamily="18" charset="0"/>
              </a:rPr>
              <a:t>i</a:t>
            </a:r>
            <a:r>
              <a:rPr lang="es-MX" sz="2400" dirty="0">
                <a:latin typeface="Times New Roman" pitchFamily="18" charset="0"/>
                <a:cs typeface="Times New Roman" pitchFamily="18" charset="0"/>
              </a:rPr>
              <a:t> el tiempo integral y </a:t>
            </a:r>
            <a:r>
              <a:rPr lang="en-US" sz="2400" dirty="0">
                <a:latin typeface="Times New Roman" pitchFamily="18" charset="0"/>
                <a:cs typeface="Times New Roman" pitchFamily="18" charset="0"/>
              </a:rPr>
              <a:t>T</a:t>
            </a:r>
            <a:r>
              <a:rPr lang="en-US" sz="2400" baseline="-25000" dirty="0">
                <a:latin typeface="Times New Roman" pitchFamily="18" charset="0"/>
                <a:cs typeface="Times New Roman" pitchFamily="18" charset="0"/>
              </a:rPr>
              <a:t>d</a:t>
            </a:r>
            <a:r>
              <a:rPr lang="es-MX" sz="2400" dirty="0">
                <a:latin typeface="Times New Roman" pitchFamily="18" charset="0"/>
                <a:cs typeface="Times New Roman" pitchFamily="18" charset="0"/>
              </a:rPr>
              <a:t> es el tiempo derivativo. </a:t>
            </a:r>
          </a:p>
          <a:p>
            <a:pPr algn="just"/>
            <a:r>
              <a:rPr lang="es-MX" sz="2400" dirty="0">
                <a:latin typeface="Times New Roman" pitchFamily="18" charset="0"/>
                <a:cs typeface="Times New Roman" pitchFamily="18" charset="0"/>
              </a:rPr>
              <a:t>El esquema habitual de uso del controlador PID es:</a:t>
            </a:r>
          </a:p>
        </p:txBody>
      </p:sp>
      <p:grpSp>
        <p:nvGrpSpPr>
          <p:cNvPr id="3" name="Group 13"/>
          <p:cNvGrpSpPr>
            <a:grpSpLocks/>
          </p:cNvGrpSpPr>
          <p:nvPr/>
        </p:nvGrpSpPr>
        <p:grpSpPr bwMode="auto">
          <a:xfrm>
            <a:off x="683568" y="4941168"/>
            <a:ext cx="7202487" cy="1439862"/>
            <a:chOff x="430" y="573"/>
            <a:chExt cx="4537" cy="907"/>
          </a:xfrm>
        </p:grpSpPr>
        <p:sp>
          <p:nvSpPr>
            <p:cNvPr id="15374" name="Line 14"/>
            <p:cNvSpPr>
              <a:spLocks noChangeShapeType="1"/>
            </p:cNvSpPr>
            <p:nvPr/>
          </p:nvSpPr>
          <p:spPr bwMode="auto">
            <a:xfrm>
              <a:off x="430" y="846"/>
              <a:ext cx="499" cy="0"/>
            </a:xfrm>
            <a:prstGeom prst="line">
              <a:avLst/>
            </a:prstGeom>
            <a:noFill/>
            <a:ln w="25400">
              <a:solidFill>
                <a:schemeClr val="tx1"/>
              </a:solidFill>
              <a:round/>
              <a:headEnd/>
              <a:tailEnd type="triangle" w="med" len="med"/>
            </a:ln>
            <a:effectLst/>
          </p:spPr>
          <p:txBody>
            <a:bodyPr/>
            <a:lstStyle/>
            <a:p>
              <a:endParaRPr lang="es-AR" dirty="0"/>
            </a:p>
          </p:txBody>
        </p:sp>
        <p:sp>
          <p:nvSpPr>
            <p:cNvPr id="15375" name="Line 15"/>
            <p:cNvSpPr>
              <a:spLocks noChangeShapeType="1"/>
            </p:cNvSpPr>
            <p:nvPr/>
          </p:nvSpPr>
          <p:spPr bwMode="auto">
            <a:xfrm>
              <a:off x="1429" y="845"/>
              <a:ext cx="362" cy="0"/>
            </a:xfrm>
            <a:prstGeom prst="line">
              <a:avLst/>
            </a:prstGeom>
            <a:noFill/>
            <a:ln w="25400">
              <a:solidFill>
                <a:schemeClr val="tx1"/>
              </a:solidFill>
              <a:round/>
              <a:headEnd/>
              <a:tailEnd type="triangle" w="med" len="med"/>
            </a:ln>
            <a:effectLst/>
          </p:spPr>
          <p:txBody>
            <a:bodyPr/>
            <a:lstStyle/>
            <a:p>
              <a:endParaRPr lang="es-AR" dirty="0"/>
            </a:p>
          </p:txBody>
        </p:sp>
        <p:sp>
          <p:nvSpPr>
            <p:cNvPr id="15376" name="Rectangle 16"/>
            <p:cNvSpPr>
              <a:spLocks noChangeArrowheads="1"/>
            </p:cNvSpPr>
            <p:nvPr/>
          </p:nvSpPr>
          <p:spPr bwMode="auto">
            <a:xfrm>
              <a:off x="1791" y="573"/>
              <a:ext cx="1588" cy="544"/>
            </a:xfrm>
            <a:prstGeom prst="rect">
              <a:avLst/>
            </a:prstGeom>
            <a:solidFill>
              <a:schemeClr val="accent1"/>
            </a:solidFill>
            <a:ln w="25400">
              <a:solidFill>
                <a:schemeClr val="tx1"/>
              </a:solidFill>
              <a:miter lim="800000"/>
              <a:headEnd/>
              <a:tailEnd/>
            </a:ln>
            <a:effectLst/>
          </p:spPr>
          <p:txBody>
            <a:bodyPr wrap="none" anchor="ctr"/>
            <a:lstStyle/>
            <a:p>
              <a:endParaRPr lang="es-AR" dirty="0"/>
            </a:p>
          </p:txBody>
        </p:sp>
        <p:graphicFrame>
          <p:nvGraphicFramePr>
            <p:cNvPr id="15377" name="Object 17"/>
            <p:cNvGraphicFramePr>
              <a:graphicFrameLocks noChangeAspect="1"/>
            </p:cNvGraphicFramePr>
            <p:nvPr/>
          </p:nvGraphicFramePr>
          <p:xfrm>
            <a:off x="1939" y="573"/>
            <a:ext cx="1246" cy="544"/>
          </p:xfrm>
          <a:graphic>
            <a:graphicData uri="http://schemas.openxmlformats.org/presentationml/2006/ole">
              <mc:AlternateContent xmlns:mc="http://schemas.openxmlformats.org/markup-compatibility/2006">
                <mc:Choice xmlns:v="urn:schemas-microsoft-com:vml" Requires="v">
                  <p:oleObj spid="_x0000_s33830" name="Ecuación" r:id="rId5" imgW="1104840" imgH="482400" progId="Equation.3">
                    <p:embed/>
                  </p:oleObj>
                </mc:Choice>
                <mc:Fallback>
                  <p:oleObj name="Ecuación" r:id="rId5" imgW="1104840" imgH="4824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9" y="573"/>
                          <a:ext cx="1246"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8" name="Line 18"/>
            <p:cNvSpPr>
              <a:spLocks noChangeShapeType="1"/>
            </p:cNvSpPr>
            <p:nvPr/>
          </p:nvSpPr>
          <p:spPr bwMode="auto">
            <a:xfrm>
              <a:off x="3379" y="845"/>
              <a:ext cx="272" cy="0"/>
            </a:xfrm>
            <a:prstGeom prst="line">
              <a:avLst/>
            </a:prstGeom>
            <a:noFill/>
            <a:ln w="25400">
              <a:solidFill>
                <a:schemeClr val="tx1"/>
              </a:solidFill>
              <a:round/>
              <a:headEnd/>
              <a:tailEnd type="triangle" w="med" len="med"/>
            </a:ln>
            <a:effectLst/>
          </p:spPr>
          <p:txBody>
            <a:bodyPr/>
            <a:lstStyle/>
            <a:p>
              <a:endParaRPr lang="es-AR" dirty="0"/>
            </a:p>
          </p:txBody>
        </p:sp>
        <p:sp>
          <p:nvSpPr>
            <p:cNvPr id="15379" name="Rectangle 19"/>
            <p:cNvSpPr>
              <a:spLocks noChangeArrowheads="1"/>
            </p:cNvSpPr>
            <p:nvPr/>
          </p:nvSpPr>
          <p:spPr bwMode="auto">
            <a:xfrm>
              <a:off x="3651" y="573"/>
              <a:ext cx="726" cy="544"/>
            </a:xfrm>
            <a:prstGeom prst="rect">
              <a:avLst/>
            </a:prstGeom>
            <a:solidFill>
              <a:schemeClr val="accent1"/>
            </a:solidFill>
            <a:ln w="25400">
              <a:solidFill>
                <a:schemeClr val="tx1"/>
              </a:solidFill>
              <a:miter lim="800000"/>
              <a:headEnd/>
              <a:tailEnd/>
            </a:ln>
            <a:effectLst/>
          </p:spPr>
          <p:txBody>
            <a:bodyPr wrap="none" anchor="ctr"/>
            <a:lstStyle/>
            <a:p>
              <a:endParaRPr lang="es-AR" dirty="0"/>
            </a:p>
          </p:txBody>
        </p:sp>
        <p:graphicFrame>
          <p:nvGraphicFramePr>
            <p:cNvPr id="15380" name="Object 20"/>
            <p:cNvGraphicFramePr>
              <a:graphicFrameLocks noChangeAspect="1"/>
            </p:cNvGraphicFramePr>
            <p:nvPr/>
          </p:nvGraphicFramePr>
          <p:xfrm>
            <a:off x="3742" y="755"/>
            <a:ext cx="544" cy="216"/>
          </p:xfrm>
          <a:graphic>
            <a:graphicData uri="http://schemas.openxmlformats.org/presentationml/2006/ole">
              <mc:AlternateContent xmlns:mc="http://schemas.openxmlformats.org/markup-compatibility/2006">
                <mc:Choice xmlns:v="urn:schemas-microsoft-com:vml" Requires="v">
                  <p:oleObj spid="_x0000_s33831" name="Ecuación" r:id="rId7" imgW="863280" imgH="342720" progId="Equation.3">
                    <p:embed/>
                  </p:oleObj>
                </mc:Choice>
                <mc:Fallback>
                  <p:oleObj name="Ecuación" r:id="rId7" imgW="863280" imgH="34272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2" y="755"/>
                          <a:ext cx="544"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1" name="Line 21"/>
            <p:cNvSpPr>
              <a:spLocks noChangeShapeType="1"/>
            </p:cNvSpPr>
            <p:nvPr/>
          </p:nvSpPr>
          <p:spPr bwMode="auto">
            <a:xfrm>
              <a:off x="4377" y="845"/>
              <a:ext cx="590" cy="0"/>
            </a:xfrm>
            <a:prstGeom prst="line">
              <a:avLst/>
            </a:prstGeom>
            <a:noFill/>
            <a:ln w="25400">
              <a:solidFill>
                <a:schemeClr val="tx1"/>
              </a:solidFill>
              <a:round/>
              <a:headEnd/>
              <a:tailEnd type="triangle" w="med" len="med"/>
            </a:ln>
            <a:effectLst/>
          </p:spPr>
          <p:txBody>
            <a:bodyPr/>
            <a:lstStyle/>
            <a:p>
              <a:endParaRPr lang="es-AR" dirty="0"/>
            </a:p>
          </p:txBody>
        </p:sp>
        <p:sp>
          <p:nvSpPr>
            <p:cNvPr id="15382" name="AutoShape 22"/>
            <p:cNvSpPr>
              <a:spLocks noChangeArrowheads="1"/>
            </p:cNvSpPr>
            <p:nvPr/>
          </p:nvSpPr>
          <p:spPr bwMode="auto">
            <a:xfrm>
              <a:off x="930" y="619"/>
              <a:ext cx="499" cy="453"/>
            </a:xfrm>
            <a:prstGeom prst="flowChartSummingJunction">
              <a:avLst/>
            </a:prstGeom>
            <a:solidFill>
              <a:schemeClr val="accent1"/>
            </a:solidFill>
            <a:ln w="25400">
              <a:solidFill>
                <a:schemeClr val="tx1"/>
              </a:solidFill>
              <a:round/>
              <a:headEnd/>
              <a:tailEnd/>
            </a:ln>
            <a:effectLst/>
          </p:spPr>
          <p:txBody>
            <a:bodyPr wrap="none" anchor="ctr"/>
            <a:lstStyle/>
            <a:p>
              <a:endParaRPr lang="es-AR" dirty="0"/>
            </a:p>
          </p:txBody>
        </p:sp>
        <p:graphicFrame>
          <p:nvGraphicFramePr>
            <p:cNvPr id="15383" name="Object 23"/>
            <p:cNvGraphicFramePr>
              <a:graphicFrameLocks noChangeAspect="1"/>
            </p:cNvGraphicFramePr>
            <p:nvPr/>
          </p:nvGraphicFramePr>
          <p:xfrm>
            <a:off x="1111" y="936"/>
            <a:ext cx="136" cy="48"/>
          </p:xfrm>
          <a:graphic>
            <a:graphicData uri="http://schemas.openxmlformats.org/presentationml/2006/ole">
              <mc:AlternateContent xmlns:mc="http://schemas.openxmlformats.org/markup-compatibility/2006">
                <mc:Choice xmlns:v="urn:schemas-microsoft-com:vml" Requires="v">
                  <p:oleObj spid="_x0000_s33832" name="Ecuación" r:id="rId9" imgW="215640" imgH="75960" progId="Equation.3">
                    <p:embed/>
                  </p:oleObj>
                </mc:Choice>
                <mc:Fallback>
                  <p:oleObj name="Ecuación" r:id="rId9" imgW="215640" imgH="7596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1" y="936"/>
                          <a:ext cx="136" cy="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84" name="Object 24"/>
            <p:cNvGraphicFramePr>
              <a:graphicFrameLocks noChangeAspect="1"/>
            </p:cNvGraphicFramePr>
            <p:nvPr/>
          </p:nvGraphicFramePr>
          <p:xfrm>
            <a:off x="975" y="755"/>
            <a:ext cx="136" cy="136"/>
          </p:xfrm>
          <a:graphic>
            <a:graphicData uri="http://schemas.openxmlformats.org/presentationml/2006/ole">
              <mc:AlternateContent xmlns:mc="http://schemas.openxmlformats.org/markup-compatibility/2006">
                <mc:Choice xmlns:v="urn:schemas-microsoft-com:vml" Requires="v">
                  <p:oleObj spid="_x0000_s33833" name="Ecuación" r:id="rId11" imgW="215640" imgH="215640" progId="Equation.3">
                    <p:embed/>
                  </p:oleObj>
                </mc:Choice>
                <mc:Fallback>
                  <p:oleObj name="Ecuación" r:id="rId11" imgW="215640" imgH="21564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 y="755"/>
                          <a:ext cx="136" cy="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5" name="Line 25"/>
            <p:cNvSpPr>
              <a:spLocks noChangeShapeType="1"/>
            </p:cNvSpPr>
            <p:nvPr/>
          </p:nvSpPr>
          <p:spPr bwMode="auto">
            <a:xfrm flipV="1">
              <a:off x="1156" y="1072"/>
              <a:ext cx="0" cy="408"/>
            </a:xfrm>
            <a:prstGeom prst="line">
              <a:avLst/>
            </a:prstGeom>
            <a:noFill/>
            <a:ln w="25400">
              <a:solidFill>
                <a:schemeClr val="tx1"/>
              </a:solidFill>
              <a:round/>
              <a:headEnd/>
              <a:tailEnd type="triangle" w="med" len="med"/>
            </a:ln>
            <a:effectLst/>
          </p:spPr>
          <p:txBody>
            <a:bodyPr/>
            <a:lstStyle/>
            <a:p>
              <a:endParaRPr lang="es-AR" dirty="0"/>
            </a:p>
          </p:txBody>
        </p:sp>
        <p:sp>
          <p:nvSpPr>
            <p:cNvPr id="15386" name="Line 26"/>
            <p:cNvSpPr>
              <a:spLocks noChangeShapeType="1"/>
            </p:cNvSpPr>
            <p:nvPr/>
          </p:nvSpPr>
          <p:spPr bwMode="auto">
            <a:xfrm>
              <a:off x="1156" y="1480"/>
              <a:ext cx="3493" cy="0"/>
            </a:xfrm>
            <a:prstGeom prst="line">
              <a:avLst/>
            </a:prstGeom>
            <a:noFill/>
            <a:ln w="25400">
              <a:solidFill>
                <a:schemeClr val="tx1"/>
              </a:solidFill>
              <a:round/>
              <a:headEnd/>
              <a:tailEnd/>
            </a:ln>
            <a:effectLst/>
          </p:spPr>
          <p:txBody>
            <a:bodyPr/>
            <a:lstStyle/>
            <a:p>
              <a:endParaRPr lang="es-AR" dirty="0"/>
            </a:p>
          </p:txBody>
        </p:sp>
        <p:sp>
          <p:nvSpPr>
            <p:cNvPr id="15387" name="Line 27"/>
            <p:cNvSpPr>
              <a:spLocks noChangeShapeType="1"/>
            </p:cNvSpPr>
            <p:nvPr/>
          </p:nvSpPr>
          <p:spPr bwMode="auto">
            <a:xfrm>
              <a:off x="4649" y="845"/>
              <a:ext cx="0" cy="635"/>
            </a:xfrm>
            <a:prstGeom prst="line">
              <a:avLst/>
            </a:prstGeom>
            <a:noFill/>
            <a:ln w="25400">
              <a:solidFill>
                <a:schemeClr val="tx1"/>
              </a:solidFill>
              <a:round/>
              <a:headEnd/>
              <a:tailEnd/>
            </a:ln>
            <a:effectLst/>
          </p:spPr>
          <p:txBody>
            <a:bodyPr/>
            <a:lstStyle/>
            <a:p>
              <a:endParaRPr lang="es-AR" dirty="0"/>
            </a:p>
          </p:txBody>
        </p:sp>
      </p:grpSp>
      <p:sp>
        <p:nvSpPr>
          <p:cNvPr id="27" name="Rectangle 2"/>
          <p:cNvSpPr txBox="1">
            <a:spLocks noChangeArrowheads="1"/>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Controladores PID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algn="ctr"/>
            <a:r>
              <a:rPr lang="es-ES_tradnl" dirty="0"/>
              <a:t>Sintonización</a:t>
            </a:r>
          </a:p>
        </p:txBody>
      </p:sp>
      <p:sp>
        <p:nvSpPr>
          <p:cNvPr id="4" name="3 CuadroTexto"/>
          <p:cNvSpPr txBox="1"/>
          <p:nvPr/>
        </p:nvSpPr>
        <p:spPr>
          <a:xfrm>
            <a:off x="683568" y="1412776"/>
            <a:ext cx="7992888" cy="4893647"/>
          </a:xfrm>
          <a:prstGeom prst="rect">
            <a:avLst/>
          </a:prstGeom>
          <a:noFill/>
        </p:spPr>
        <p:txBody>
          <a:bodyPr wrap="square" rtlCol="0">
            <a:spAutoFit/>
          </a:bodyPr>
          <a:lstStyle/>
          <a:p>
            <a:pPr>
              <a:buFontTx/>
              <a:buNone/>
            </a:pPr>
            <a:r>
              <a:rPr lang="es-ES_tradnl" sz="2400" dirty="0">
                <a:latin typeface="Times New Roman" pitchFamily="18" charset="0"/>
                <a:cs typeface="Times New Roman" pitchFamily="18" charset="0"/>
              </a:rPr>
              <a:t>La determinación de los parámetros de un controlador PID, para una determinada planta resulta ser algo complicado.</a:t>
            </a:r>
          </a:p>
          <a:p>
            <a:pPr>
              <a:buFontTx/>
              <a:buNone/>
            </a:pPr>
            <a:endParaRPr lang="es-ES_tradnl" sz="2400" dirty="0">
              <a:latin typeface="Times New Roman" pitchFamily="18" charset="0"/>
              <a:cs typeface="Times New Roman" pitchFamily="18" charset="0"/>
            </a:endParaRPr>
          </a:p>
          <a:p>
            <a:pPr>
              <a:buFontTx/>
              <a:buNone/>
            </a:pPr>
            <a:r>
              <a:rPr lang="es-ES_tradnl" sz="2400" dirty="0">
                <a:latin typeface="Times New Roman" pitchFamily="18" charset="0"/>
                <a:cs typeface="Times New Roman" pitchFamily="18" charset="0"/>
              </a:rPr>
              <a:t>Lo que se acostumbra es determinar estos parámetros de forma experimental, tanto para plantas conocidas como desconocidas.</a:t>
            </a:r>
          </a:p>
          <a:p>
            <a:pPr>
              <a:buFontTx/>
              <a:buNone/>
            </a:pPr>
            <a:r>
              <a:rPr lang="es-ES_tradnl" sz="2400" dirty="0">
                <a:latin typeface="Times New Roman" pitchFamily="18" charset="0"/>
                <a:cs typeface="Times New Roman" pitchFamily="18" charset="0"/>
              </a:rPr>
              <a:t> </a:t>
            </a:r>
          </a:p>
          <a:p>
            <a:pPr>
              <a:buFontTx/>
              <a:buNone/>
            </a:pPr>
            <a:r>
              <a:rPr lang="es-ES_tradnl" sz="2400" dirty="0" err="1">
                <a:latin typeface="Times New Roman" pitchFamily="18" charset="0"/>
                <a:cs typeface="Times New Roman" pitchFamily="18" charset="0"/>
              </a:rPr>
              <a:t>Ziegler</a:t>
            </a:r>
            <a:r>
              <a:rPr lang="es-ES_tradnl" sz="2400" dirty="0">
                <a:latin typeface="Times New Roman" pitchFamily="18" charset="0"/>
                <a:cs typeface="Times New Roman" pitchFamily="18" charset="0"/>
              </a:rPr>
              <a:t> y </a:t>
            </a:r>
            <a:r>
              <a:rPr lang="es-ES_tradnl" sz="2400" dirty="0" err="1">
                <a:latin typeface="Times New Roman" pitchFamily="18" charset="0"/>
                <a:cs typeface="Times New Roman" pitchFamily="18" charset="0"/>
              </a:rPr>
              <a:t>Nichols</a:t>
            </a:r>
            <a:r>
              <a:rPr lang="es-ES_tradnl" sz="2400" dirty="0">
                <a:latin typeface="Times New Roman" pitchFamily="18" charset="0"/>
                <a:cs typeface="Times New Roman" pitchFamily="18" charset="0"/>
              </a:rPr>
              <a:t> propusieron dos métodos para determinar los valores de la ganancia proporcional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del tiempo integral </a:t>
            </a:r>
            <a:r>
              <a:rPr lang="en-US" sz="2400" dirty="0">
                <a:latin typeface="Times New Roman" pitchFamily="18" charset="0"/>
                <a:cs typeface="Times New Roman" pitchFamily="18" charset="0"/>
              </a:rPr>
              <a:t>T</a:t>
            </a:r>
            <a:r>
              <a:rPr lang="en-US" sz="2400" baseline="-25000" dirty="0">
                <a:latin typeface="Times New Roman" pitchFamily="18" charset="0"/>
                <a:cs typeface="Times New Roman" pitchFamily="18" charset="0"/>
              </a:rPr>
              <a:t>i </a:t>
            </a:r>
            <a:r>
              <a:rPr lang="es-ES_tradnl" sz="2400" dirty="0">
                <a:latin typeface="Times New Roman" pitchFamily="18" charset="0"/>
                <a:cs typeface="Times New Roman" pitchFamily="18" charset="0"/>
              </a:rPr>
              <a:t>y del tiempo derivativo </a:t>
            </a:r>
            <a:r>
              <a:rPr lang="en-US" sz="2400" dirty="0">
                <a:latin typeface="Times New Roman" pitchFamily="18" charset="0"/>
                <a:cs typeface="Times New Roman" pitchFamily="18" charset="0"/>
              </a:rPr>
              <a:t>T</a:t>
            </a:r>
            <a:r>
              <a:rPr lang="en-US" sz="2400" baseline="-25000" dirty="0">
                <a:latin typeface="Times New Roman" pitchFamily="18" charset="0"/>
                <a:cs typeface="Times New Roman" pitchFamily="18" charset="0"/>
              </a:rPr>
              <a:t>d</a:t>
            </a:r>
            <a:r>
              <a:rPr lang="es-ES_tradnl" sz="2400" dirty="0">
                <a:latin typeface="Times New Roman" pitchFamily="18" charset="0"/>
                <a:cs typeface="Times New Roman" pitchFamily="18" charset="0"/>
              </a:rPr>
              <a:t>, en base a las características de respuesta transitoria de una planta específica. </a:t>
            </a:r>
          </a:p>
          <a:p>
            <a:pPr>
              <a:buFontTx/>
              <a:buNone/>
            </a:pPr>
            <a:endParaRPr lang="es-ES_tradnl" sz="2400" dirty="0">
              <a:latin typeface="Times New Roman" pitchFamily="18" charset="0"/>
              <a:cs typeface="Times New Roman" pitchFamily="18" charset="0"/>
            </a:endParaRPr>
          </a:p>
          <a:p>
            <a:r>
              <a:rPr lang="es-ES_tradnl" sz="2400" dirty="0">
                <a:latin typeface="Times New Roman" pitchFamily="18" charset="0"/>
                <a:cs typeface="Times New Roman" pitchFamily="18" charset="0"/>
              </a:rPr>
              <a:t>En ambos métodos se pretende obtener una </a:t>
            </a:r>
            <a:r>
              <a:rPr lang="es-AR" sz="2400" dirty="0">
                <a:latin typeface="Times New Roman" pitchFamily="18" charset="0"/>
                <a:cs typeface="Times New Roman" pitchFamily="18" charset="0"/>
              </a:rPr>
              <a:t>razón de amortiguamiento de 1/4 para cambio en la carga.</a:t>
            </a:r>
            <a:endParaRPr lang="es-ES_tradnl"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algn="ctr"/>
            <a:r>
              <a:rPr lang="es-ES_tradnl" dirty="0"/>
              <a:t>Sintonización</a:t>
            </a:r>
          </a:p>
        </p:txBody>
      </p:sp>
      <p:sp>
        <p:nvSpPr>
          <p:cNvPr id="4" name="3 CuadroTexto"/>
          <p:cNvSpPr txBox="1"/>
          <p:nvPr/>
        </p:nvSpPr>
        <p:spPr>
          <a:xfrm>
            <a:off x="611560" y="1268760"/>
            <a:ext cx="8208912" cy="1938992"/>
          </a:xfrm>
          <a:prstGeom prst="rect">
            <a:avLst/>
          </a:prstGeom>
          <a:noFill/>
        </p:spPr>
        <p:txBody>
          <a:bodyPr wrap="square" rtlCol="0">
            <a:spAutoFit/>
          </a:bodyPr>
          <a:lstStyle/>
          <a:p>
            <a:r>
              <a:rPr lang="es-AR" sz="2400" dirty="0">
                <a:latin typeface="Times New Roman" pitchFamily="18" charset="0"/>
                <a:cs typeface="Times New Roman" pitchFamily="18" charset="0"/>
              </a:rPr>
              <a:t>Características de la respuesta temporal para cambio en la carga:</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Razón de amortiguamiento (b/a) </a:t>
            </a:r>
          </a:p>
          <a:p>
            <a:r>
              <a:rPr lang="es-AR" sz="2400" dirty="0">
                <a:latin typeface="Times New Roman" pitchFamily="18" charset="0"/>
                <a:cs typeface="Times New Roman" pitchFamily="18" charset="0"/>
              </a:rPr>
              <a:t>Tiempo de asentamiento (</a:t>
            </a:r>
            <a:r>
              <a:rPr lang="es-AR" sz="2400" dirty="0" err="1">
                <a:latin typeface="Times New Roman" pitchFamily="18" charset="0"/>
                <a:cs typeface="Times New Roman" pitchFamily="18" charset="0"/>
              </a:rPr>
              <a:t>ts</a:t>
            </a:r>
            <a:r>
              <a:rPr lang="es-AR" sz="2400" dirty="0">
                <a:latin typeface="Times New Roman" pitchFamily="18" charset="0"/>
                <a:cs typeface="Times New Roman" pitchFamily="18" charset="0"/>
              </a:rPr>
              <a:t>) </a:t>
            </a:r>
          </a:p>
          <a:p>
            <a:r>
              <a:rPr lang="es-AR" sz="2400" dirty="0">
                <a:latin typeface="Times New Roman" pitchFamily="18" charset="0"/>
                <a:cs typeface="Times New Roman" pitchFamily="18" charset="0"/>
              </a:rPr>
              <a:t>Máxima </a:t>
            </a:r>
            <a:r>
              <a:rPr lang="es-AR" sz="2400" dirty="0" err="1">
                <a:latin typeface="Times New Roman" pitchFamily="18" charset="0"/>
                <a:cs typeface="Times New Roman" pitchFamily="18" charset="0"/>
              </a:rPr>
              <a:t>sobreelongación</a:t>
            </a:r>
            <a:r>
              <a:rPr lang="es-AR" sz="2400" dirty="0">
                <a:latin typeface="Times New Roman" pitchFamily="18" charset="0"/>
                <a:cs typeface="Times New Roman" pitchFamily="18" charset="0"/>
              </a:rPr>
              <a:t> (</a:t>
            </a:r>
            <a:r>
              <a:rPr lang="es-AR" sz="2400" dirty="0" err="1">
                <a:latin typeface="Times New Roman" pitchFamily="18" charset="0"/>
                <a:cs typeface="Times New Roman" pitchFamily="18" charset="0"/>
              </a:rPr>
              <a:t>mp</a:t>
            </a:r>
            <a:r>
              <a:rPr lang="es-AR" sz="2400" dirty="0">
                <a:latin typeface="Times New Roman" pitchFamily="18" charset="0"/>
                <a:cs typeface="Times New Roman" pitchFamily="18" charset="0"/>
              </a:rPr>
              <a:t>)</a:t>
            </a:r>
            <a:endParaRPr lang="es-ES_tradnl" sz="2400" dirty="0">
              <a:latin typeface="Times New Roman" pitchFamily="18" charset="0"/>
              <a:cs typeface="Times New Roman" pitchFamily="18" charset="0"/>
            </a:endParaRPr>
          </a:p>
        </p:txBody>
      </p:sp>
      <p:pic>
        <p:nvPicPr>
          <p:cNvPr id="131074" name="Picture 2"/>
          <p:cNvPicPr>
            <a:picLocks noChangeAspect="1" noChangeArrowheads="1"/>
          </p:cNvPicPr>
          <p:nvPr/>
        </p:nvPicPr>
        <p:blipFill>
          <a:blip r:embed="rId2" cstate="print"/>
          <a:srcRect/>
          <a:stretch>
            <a:fillRect/>
          </a:stretch>
        </p:blipFill>
        <p:spPr bwMode="auto">
          <a:xfrm>
            <a:off x="2195736" y="3356992"/>
            <a:ext cx="5112568" cy="3334922"/>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pPr algn="ctr"/>
            <a:r>
              <a:rPr lang="es-ES_tradnl" dirty="0"/>
              <a:t>Primer método de ZN</a:t>
            </a:r>
          </a:p>
        </p:txBody>
      </p:sp>
      <p:pic>
        <p:nvPicPr>
          <p:cNvPr id="5" name="Picture 5" descr="AACFTFE0"/>
          <p:cNvPicPr>
            <a:picLocks noChangeAspect="1" noChangeArrowheads="1"/>
          </p:cNvPicPr>
          <p:nvPr/>
        </p:nvPicPr>
        <p:blipFill>
          <a:blip r:embed="rId2" cstate="print">
            <a:lum bright="-12000" contrast="30000"/>
          </a:blip>
          <a:srcRect/>
          <a:stretch>
            <a:fillRect/>
          </a:stretch>
        </p:blipFill>
        <p:spPr bwMode="auto">
          <a:xfrm>
            <a:off x="1115616" y="3356992"/>
            <a:ext cx="7185393" cy="2304480"/>
          </a:xfrm>
          <a:prstGeom prst="rect">
            <a:avLst/>
          </a:prstGeom>
          <a:noFill/>
        </p:spPr>
      </p:pic>
      <p:sp>
        <p:nvSpPr>
          <p:cNvPr id="6" name="5 CuadroTexto"/>
          <p:cNvSpPr txBox="1"/>
          <p:nvPr/>
        </p:nvSpPr>
        <p:spPr>
          <a:xfrm>
            <a:off x="539552" y="1916832"/>
            <a:ext cx="8208912" cy="830997"/>
          </a:xfrm>
          <a:prstGeom prst="rect">
            <a:avLst/>
          </a:prstGeom>
          <a:noFill/>
        </p:spPr>
        <p:txBody>
          <a:bodyPr wrap="square" rtlCol="0">
            <a:spAutoFit/>
          </a:bodyPr>
          <a:lstStyle/>
          <a:p>
            <a:r>
              <a:rPr lang="es-ES_tradnl" sz="2400" dirty="0">
                <a:latin typeface="Times New Roman" pitchFamily="18" charset="0"/>
                <a:cs typeface="Times New Roman" pitchFamily="18" charset="0"/>
              </a:rPr>
              <a:t>El primer método se obtiene mediante la respuesta al escalón de la planta de una manera experimental.</a:t>
            </a:r>
            <a:endParaRPr lang="es-AR"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611560" y="1484784"/>
            <a:ext cx="8064896" cy="1200329"/>
          </a:xfrm>
          <a:prstGeom prst="rect">
            <a:avLst/>
          </a:prstGeom>
          <a:noFill/>
        </p:spPr>
        <p:txBody>
          <a:bodyPr wrap="square" rtlCol="0">
            <a:spAutoFit/>
          </a:bodyPr>
          <a:lstStyle/>
          <a:p>
            <a:r>
              <a:rPr lang="es-ES_tradnl" sz="2400" dirty="0">
                <a:latin typeface="Times New Roman" pitchFamily="18" charset="0"/>
                <a:cs typeface="Times New Roman" pitchFamily="18" charset="0"/>
              </a:rPr>
              <a:t>Si la planta no contiene integradores ni polos dominantes complejos conjugados, la curva de respuesta al escalón unitario puede tener forma de S.</a:t>
            </a:r>
            <a:endParaRPr lang="es-AR" sz="2400" dirty="0">
              <a:latin typeface="Times New Roman" pitchFamily="18" charset="0"/>
              <a:cs typeface="Times New Roman" pitchFamily="18" charset="0"/>
            </a:endParaRPr>
          </a:p>
        </p:txBody>
      </p:sp>
      <p:grpSp>
        <p:nvGrpSpPr>
          <p:cNvPr id="20" name="19 Grupo"/>
          <p:cNvGrpSpPr/>
          <p:nvPr/>
        </p:nvGrpSpPr>
        <p:grpSpPr>
          <a:xfrm>
            <a:off x="1160463" y="2852738"/>
            <a:ext cx="6939929" cy="3744614"/>
            <a:chOff x="1160463" y="2852738"/>
            <a:chExt cx="5716587" cy="3167062"/>
          </a:xfrm>
        </p:grpSpPr>
        <p:sp>
          <p:nvSpPr>
            <p:cNvPr id="21" name="Line 4"/>
            <p:cNvSpPr>
              <a:spLocks noChangeShapeType="1"/>
            </p:cNvSpPr>
            <p:nvPr/>
          </p:nvSpPr>
          <p:spPr bwMode="auto">
            <a:xfrm flipV="1">
              <a:off x="1619250" y="2852738"/>
              <a:ext cx="0" cy="2519362"/>
            </a:xfrm>
            <a:prstGeom prst="line">
              <a:avLst/>
            </a:prstGeom>
            <a:noFill/>
            <a:ln w="25400">
              <a:solidFill>
                <a:schemeClr val="tx1"/>
              </a:solidFill>
              <a:round/>
              <a:headEnd/>
              <a:tailEnd type="triangle" w="med" len="med"/>
            </a:ln>
            <a:effectLst/>
          </p:spPr>
          <p:txBody>
            <a:bodyPr/>
            <a:lstStyle/>
            <a:p>
              <a:endParaRPr lang="es-AR"/>
            </a:p>
          </p:txBody>
        </p:sp>
        <p:sp>
          <p:nvSpPr>
            <p:cNvPr id="22" name="Line 5"/>
            <p:cNvSpPr>
              <a:spLocks noChangeShapeType="1"/>
            </p:cNvSpPr>
            <p:nvPr/>
          </p:nvSpPr>
          <p:spPr bwMode="auto">
            <a:xfrm>
              <a:off x="1619250" y="5372100"/>
              <a:ext cx="5184775" cy="0"/>
            </a:xfrm>
            <a:prstGeom prst="line">
              <a:avLst/>
            </a:prstGeom>
            <a:noFill/>
            <a:ln w="25400">
              <a:solidFill>
                <a:schemeClr val="tx1"/>
              </a:solidFill>
              <a:round/>
              <a:headEnd/>
              <a:tailEnd type="triangle" w="med" len="med"/>
            </a:ln>
            <a:effectLst/>
          </p:spPr>
          <p:txBody>
            <a:bodyPr/>
            <a:lstStyle/>
            <a:p>
              <a:endParaRPr lang="es-AR"/>
            </a:p>
          </p:txBody>
        </p:sp>
        <p:sp>
          <p:nvSpPr>
            <p:cNvPr id="23" name="Line 6"/>
            <p:cNvSpPr>
              <a:spLocks noChangeShapeType="1"/>
            </p:cNvSpPr>
            <p:nvPr/>
          </p:nvSpPr>
          <p:spPr bwMode="auto">
            <a:xfrm>
              <a:off x="1619250" y="3716338"/>
              <a:ext cx="5184775" cy="0"/>
            </a:xfrm>
            <a:prstGeom prst="line">
              <a:avLst/>
            </a:prstGeom>
            <a:noFill/>
            <a:ln w="6350">
              <a:solidFill>
                <a:schemeClr val="tx1"/>
              </a:solidFill>
              <a:round/>
              <a:headEnd/>
              <a:tailEnd/>
            </a:ln>
            <a:effectLst/>
          </p:spPr>
          <p:txBody>
            <a:bodyPr/>
            <a:lstStyle/>
            <a:p>
              <a:endParaRPr lang="es-AR"/>
            </a:p>
          </p:txBody>
        </p:sp>
        <p:sp>
          <p:nvSpPr>
            <p:cNvPr id="24" name="Line 7"/>
            <p:cNvSpPr>
              <a:spLocks noChangeShapeType="1"/>
            </p:cNvSpPr>
            <p:nvPr/>
          </p:nvSpPr>
          <p:spPr bwMode="auto">
            <a:xfrm rot="16200000">
              <a:off x="2735263" y="4545013"/>
              <a:ext cx="1657350" cy="0"/>
            </a:xfrm>
            <a:prstGeom prst="line">
              <a:avLst/>
            </a:prstGeom>
            <a:noFill/>
            <a:ln w="6350">
              <a:solidFill>
                <a:schemeClr val="tx1"/>
              </a:solidFill>
              <a:round/>
              <a:headEnd/>
              <a:tailEnd/>
            </a:ln>
            <a:effectLst/>
          </p:spPr>
          <p:txBody>
            <a:bodyPr/>
            <a:lstStyle/>
            <a:p>
              <a:endParaRPr lang="es-AR"/>
            </a:p>
          </p:txBody>
        </p:sp>
        <p:sp>
          <p:nvSpPr>
            <p:cNvPr id="25" name="Line 8"/>
            <p:cNvSpPr>
              <a:spLocks noChangeShapeType="1"/>
            </p:cNvSpPr>
            <p:nvPr/>
          </p:nvSpPr>
          <p:spPr bwMode="auto">
            <a:xfrm flipV="1">
              <a:off x="1763713" y="3211513"/>
              <a:ext cx="2232025" cy="2376487"/>
            </a:xfrm>
            <a:prstGeom prst="line">
              <a:avLst/>
            </a:prstGeom>
            <a:noFill/>
            <a:ln w="19050">
              <a:solidFill>
                <a:schemeClr val="tx1"/>
              </a:solidFill>
              <a:round/>
              <a:headEnd/>
              <a:tailEnd/>
            </a:ln>
            <a:effectLst/>
          </p:spPr>
          <p:txBody>
            <a:bodyPr/>
            <a:lstStyle/>
            <a:p>
              <a:endParaRPr lang="es-AR"/>
            </a:p>
          </p:txBody>
        </p:sp>
        <p:sp>
          <p:nvSpPr>
            <p:cNvPr id="26" name="Freeform 9"/>
            <p:cNvSpPr>
              <a:spLocks/>
            </p:cNvSpPr>
            <p:nvPr/>
          </p:nvSpPr>
          <p:spPr bwMode="auto">
            <a:xfrm>
              <a:off x="1619250" y="3705225"/>
              <a:ext cx="5184775" cy="1666875"/>
            </a:xfrm>
            <a:custGeom>
              <a:avLst/>
              <a:gdLst/>
              <a:ahLst/>
              <a:cxnLst>
                <a:cxn ang="0">
                  <a:pos x="0" y="1050"/>
                </a:cxn>
                <a:cxn ang="0">
                  <a:pos x="227" y="960"/>
                </a:cxn>
                <a:cxn ang="0">
                  <a:pos x="590" y="642"/>
                </a:cxn>
                <a:cxn ang="0">
                  <a:pos x="953" y="324"/>
                </a:cxn>
                <a:cxn ang="0">
                  <a:pos x="1225" y="143"/>
                </a:cxn>
                <a:cxn ang="0">
                  <a:pos x="1588" y="52"/>
                </a:cxn>
                <a:cxn ang="0">
                  <a:pos x="1905" y="7"/>
                </a:cxn>
                <a:cxn ang="0">
                  <a:pos x="2314" y="7"/>
                </a:cxn>
                <a:cxn ang="0">
                  <a:pos x="3266" y="7"/>
                </a:cxn>
              </a:cxnLst>
              <a:rect l="0" t="0" r="r" b="b"/>
              <a:pathLst>
                <a:path w="3266" h="1050">
                  <a:moveTo>
                    <a:pt x="0" y="1050"/>
                  </a:moveTo>
                  <a:cubicBezTo>
                    <a:pt x="64" y="1039"/>
                    <a:pt x="129" y="1028"/>
                    <a:pt x="227" y="960"/>
                  </a:cubicBezTo>
                  <a:cubicBezTo>
                    <a:pt x="325" y="892"/>
                    <a:pt x="469" y="748"/>
                    <a:pt x="590" y="642"/>
                  </a:cubicBezTo>
                  <a:cubicBezTo>
                    <a:pt x="711" y="536"/>
                    <a:pt x="847" y="407"/>
                    <a:pt x="953" y="324"/>
                  </a:cubicBezTo>
                  <a:cubicBezTo>
                    <a:pt x="1059" y="241"/>
                    <a:pt x="1119" y="188"/>
                    <a:pt x="1225" y="143"/>
                  </a:cubicBezTo>
                  <a:cubicBezTo>
                    <a:pt x="1331" y="98"/>
                    <a:pt x="1475" y="75"/>
                    <a:pt x="1588" y="52"/>
                  </a:cubicBezTo>
                  <a:cubicBezTo>
                    <a:pt x="1701" y="29"/>
                    <a:pt x="1784" y="14"/>
                    <a:pt x="1905" y="7"/>
                  </a:cubicBezTo>
                  <a:cubicBezTo>
                    <a:pt x="2026" y="0"/>
                    <a:pt x="2087" y="7"/>
                    <a:pt x="2314" y="7"/>
                  </a:cubicBezTo>
                  <a:cubicBezTo>
                    <a:pt x="2541" y="7"/>
                    <a:pt x="2903" y="7"/>
                    <a:pt x="3266" y="7"/>
                  </a:cubicBezTo>
                </a:path>
              </a:pathLst>
            </a:custGeom>
            <a:noFill/>
            <a:ln w="25400" cap="flat" cmpd="sng">
              <a:solidFill>
                <a:srgbClr val="FF6600"/>
              </a:solidFill>
              <a:prstDash val="solid"/>
              <a:round/>
              <a:headEnd type="none" w="med" len="med"/>
              <a:tailEnd type="none" w="med" len="med"/>
            </a:ln>
            <a:effectLst/>
          </p:spPr>
          <p:txBody>
            <a:bodyPr/>
            <a:lstStyle/>
            <a:p>
              <a:endParaRPr lang="es-AR"/>
            </a:p>
          </p:txBody>
        </p:sp>
        <p:sp>
          <p:nvSpPr>
            <p:cNvPr id="27" name="Line 10"/>
            <p:cNvSpPr>
              <a:spLocks noChangeShapeType="1"/>
            </p:cNvSpPr>
            <p:nvPr/>
          </p:nvSpPr>
          <p:spPr bwMode="auto">
            <a:xfrm>
              <a:off x="1619250" y="5443538"/>
              <a:ext cx="0" cy="503237"/>
            </a:xfrm>
            <a:prstGeom prst="line">
              <a:avLst/>
            </a:prstGeom>
            <a:noFill/>
            <a:ln w="3175">
              <a:solidFill>
                <a:srgbClr val="808080"/>
              </a:solidFill>
              <a:prstDash val="dash"/>
              <a:round/>
              <a:headEnd/>
              <a:tailEnd/>
            </a:ln>
            <a:effectLst/>
          </p:spPr>
          <p:txBody>
            <a:bodyPr/>
            <a:lstStyle/>
            <a:p>
              <a:endParaRPr lang="es-AR"/>
            </a:p>
          </p:txBody>
        </p:sp>
        <p:sp>
          <p:nvSpPr>
            <p:cNvPr id="28" name="Line 11"/>
            <p:cNvSpPr>
              <a:spLocks noChangeShapeType="1"/>
            </p:cNvSpPr>
            <p:nvPr/>
          </p:nvSpPr>
          <p:spPr bwMode="auto">
            <a:xfrm>
              <a:off x="1979613" y="5445125"/>
              <a:ext cx="0" cy="574675"/>
            </a:xfrm>
            <a:prstGeom prst="line">
              <a:avLst/>
            </a:prstGeom>
            <a:noFill/>
            <a:ln w="3175">
              <a:solidFill>
                <a:srgbClr val="808080"/>
              </a:solidFill>
              <a:prstDash val="dash"/>
              <a:round/>
              <a:headEnd/>
              <a:tailEnd/>
            </a:ln>
            <a:effectLst/>
          </p:spPr>
          <p:txBody>
            <a:bodyPr/>
            <a:lstStyle/>
            <a:p>
              <a:endParaRPr lang="es-AR"/>
            </a:p>
          </p:txBody>
        </p:sp>
        <p:sp>
          <p:nvSpPr>
            <p:cNvPr id="29" name="Line 12"/>
            <p:cNvSpPr>
              <a:spLocks noChangeShapeType="1"/>
            </p:cNvSpPr>
            <p:nvPr/>
          </p:nvSpPr>
          <p:spPr bwMode="auto">
            <a:xfrm>
              <a:off x="3563938" y="5445125"/>
              <a:ext cx="0" cy="574675"/>
            </a:xfrm>
            <a:prstGeom prst="line">
              <a:avLst/>
            </a:prstGeom>
            <a:noFill/>
            <a:ln w="3175">
              <a:solidFill>
                <a:srgbClr val="808080"/>
              </a:solidFill>
              <a:prstDash val="dash"/>
              <a:round/>
              <a:headEnd/>
              <a:tailEnd/>
            </a:ln>
            <a:effectLst/>
          </p:spPr>
          <p:txBody>
            <a:bodyPr/>
            <a:lstStyle/>
            <a:p>
              <a:endParaRPr lang="es-AR"/>
            </a:p>
          </p:txBody>
        </p:sp>
        <p:sp>
          <p:nvSpPr>
            <p:cNvPr id="30" name="Line 13"/>
            <p:cNvSpPr>
              <a:spLocks noChangeShapeType="1"/>
            </p:cNvSpPr>
            <p:nvPr/>
          </p:nvSpPr>
          <p:spPr bwMode="auto">
            <a:xfrm>
              <a:off x="1331913" y="5803900"/>
              <a:ext cx="287337" cy="0"/>
            </a:xfrm>
            <a:prstGeom prst="line">
              <a:avLst/>
            </a:prstGeom>
            <a:noFill/>
            <a:ln w="3175">
              <a:solidFill>
                <a:srgbClr val="808080"/>
              </a:solidFill>
              <a:round/>
              <a:headEnd/>
              <a:tailEnd type="triangle" w="med" len="med"/>
            </a:ln>
            <a:effectLst/>
          </p:spPr>
          <p:txBody>
            <a:bodyPr/>
            <a:lstStyle/>
            <a:p>
              <a:endParaRPr lang="es-AR"/>
            </a:p>
          </p:txBody>
        </p:sp>
        <p:sp>
          <p:nvSpPr>
            <p:cNvPr id="31" name="Line 14"/>
            <p:cNvSpPr>
              <a:spLocks noChangeShapeType="1"/>
            </p:cNvSpPr>
            <p:nvPr/>
          </p:nvSpPr>
          <p:spPr bwMode="auto">
            <a:xfrm flipH="1">
              <a:off x="1978025" y="5803900"/>
              <a:ext cx="647700" cy="0"/>
            </a:xfrm>
            <a:prstGeom prst="line">
              <a:avLst/>
            </a:prstGeom>
            <a:noFill/>
            <a:ln w="3175">
              <a:solidFill>
                <a:srgbClr val="808080"/>
              </a:solidFill>
              <a:round/>
              <a:headEnd/>
              <a:tailEnd type="triangle" w="med" len="med"/>
            </a:ln>
            <a:effectLst/>
          </p:spPr>
          <p:txBody>
            <a:bodyPr/>
            <a:lstStyle/>
            <a:p>
              <a:endParaRPr lang="es-AR"/>
            </a:p>
          </p:txBody>
        </p:sp>
        <p:sp>
          <p:nvSpPr>
            <p:cNvPr id="32" name="Line 15"/>
            <p:cNvSpPr>
              <a:spLocks noChangeShapeType="1"/>
            </p:cNvSpPr>
            <p:nvPr/>
          </p:nvSpPr>
          <p:spPr bwMode="auto">
            <a:xfrm>
              <a:off x="3059113" y="5803900"/>
              <a:ext cx="504825" cy="0"/>
            </a:xfrm>
            <a:prstGeom prst="line">
              <a:avLst/>
            </a:prstGeom>
            <a:noFill/>
            <a:ln w="3175">
              <a:solidFill>
                <a:srgbClr val="808080"/>
              </a:solidFill>
              <a:round/>
              <a:headEnd/>
              <a:tailEnd type="triangle" w="med" len="med"/>
            </a:ln>
            <a:effectLst/>
          </p:spPr>
          <p:txBody>
            <a:bodyPr/>
            <a:lstStyle/>
            <a:p>
              <a:endParaRPr lang="es-AR"/>
            </a:p>
          </p:txBody>
        </p:sp>
        <p:graphicFrame>
          <p:nvGraphicFramePr>
            <p:cNvPr id="33" name="Object 16"/>
            <p:cNvGraphicFramePr>
              <a:graphicFrameLocks noChangeAspect="1"/>
            </p:cNvGraphicFramePr>
            <p:nvPr/>
          </p:nvGraphicFramePr>
          <p:xfrm>
            <a:off x="2771775" y="5678488"/>
            <a:ext cx="188913" cy="198437"/>
          </p:xfrm>
          <a:graphic>
            <a:graphicData uri="http://schemas.openxmlformats.org/presentationml/2006/ole">
              <mc:AlternateContent xmlns:mc="http://schemas.openxmlformats.org/markup-compatibility/2006">
                <mc:Choice xmlns:v="urn:schemas-microsoft-com:vml" Requires="v">
                  <p:oleObj spid="_x0000_s25644" name="Ecuación" r:id="rId3" imgW="241200" imgH="253800" progId="Equation.3">
                    <p:embed/>
                  </p:oleObj>
                </mc:Choice>
                <mc:Fallback>
                  <p:oleObj name="Ecuación" r:id="rId3" imgW="241200" imgH="253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5678488"/>
                          <a:ext cx="188913" cy="19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17"/>
            <p:cNvGraphicFramePr>
              <a:graphicFrameLocks noChangeAspect="1"/>
            </p:cNvGraphicFramePr>
            <p:nvPr/>
          </p:nvGraphicFramePr>
          <p:xfrm>
            <a:off x="1739900" y="5678488"/>
            <a:ext cx="168275" cy="198437"/>
          </p:xfrm>
          <a:graphic>
            <a:graphicData uri="http://schemas.openxmlformats.org/presentationml/2006/ole">
              <mc:AlternateContent xmlns:mc="http://schemas.openxmlformats.org/markup-compatibility/2006">
                <mc:Choice xmlns:v="urn:schemas-microsoft-com:vml" Requires="v">
                  <p:oleObj spid="_x0000_s25645" name="Ecuación" r:id="rId5" imgW="215640" imgH="253800" progId="Equation.3">
                    <p:embed/>
                  </p:oleObj>
                </mc:Choice>
                <mc:Fallback>
                  <p:oleObj name="Ecuación" r:id="rId5" imgW="215640" imgH="2538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9900" y="5678488"/>
                          <a:ext cx="168275" cy="19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18"/>
            <p:cNvGraphicFramePr>
              <a:graphicFrameLocks noChangeAspect="1"/>
            </p:cNvGraphicFramePr>
            <p:nvPr/>
          </p:nvGraphicFramePr>
          <p:xfrm>
            <a:off x="6777038" y="5449888"/>
            <a:ext cx="100012" cy="187325"/>
          </p:xfrm>
          <a:graphic>
            <a:graphicData uri="http://schemas.openxmlformats.org/presentationml/2006/ole">
              <mc:AlternateContent xmlns:mc="http://schemas.openxmlformats.org/markup-compatibility/2006">
                <mc:Choice xmlns:v="urn:schemas-microsoft-com:vml" Requires="v">
                  <p:oleObj spid="_x0000_s25646" name="Ecuación" r:id="rId7" imgW="126720" imgH="241200" progId="Equation.3">
                    <p:embed/>
                  </p:oleObj>
                </mc:Choice>
                <mc:Fallback>
                  <p:oleObj name="Ecuación" r:id="rId7" imgW="126720" imgH="2412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77038" y="5449888"/>
                          <a:ext cx="100012" cy="187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Object 19"/>
            <p:cNvGraphicFramePr>
              <a:graphicFrameLocks noChangeAspect="1"/>
            </p:cNvGraphicFramePr>
            <p:nvPr/>
          </p:nvGraphicFramePr>
          <p:xfrm>
            <a:off x="1160463" y="2871788"/>
            <a:ext cx="387350" cy="268287"/>
          </p:xfrm>
          <a:graphic>
            <a:graphicData uri="http://schemas.openxmlformats.org/presentationml/2006/ole">
              <mc:AlternateContent xmlns:mc="http://schemas.openxmlformats.org/markup-compatibility/2006">
                <mc:Choice xmlns:v="urn:schemas-microsoft-com:vml" Requires="v">
                  <p:oleObj spid="_x0000_s25647" name="Ecuación" r:id="rId9" imgW="495000" imgH="342720" progId="Equation.3">
                    <p:embed/>
                  </p:oleObj>
                </mc:Choice>
                <mc:Fallback>
                  <p:oleObj name="Ecuación" r:id="rId9" imgW="495000" imgH="34272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0463" y="2871788"/>
                          <a:ext cx="387350" cy="268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Line 20"/>
            <p:cNvSpPr>
              <a:spLocks noChangeShapeType="1"/>
            </p:cNvSpPr>
            <p:nvPr/>
          </p:nvSpPr>
          <p:spPr bwMode="auto">
            <a:xfrm flipH="1" flipV="1">
              <a:off x="3419475" y="3787775"/>
              <a:ext cx="504825" cy="504825"/>
            </a:xfrm>
            <a:prstGeom prst="line">
              <a:avLst/>
            </a:prstGeom>
            <a:noFill/>
            <a:ln w="3175">
              <a:solidFill>
                <a:srgbClr val="808080"/>
              </a:solidFill>
              <a:round/>
              <a:headEnd/>
              <a:tailEnd type="triangle" w="med" len="med"/>
            </a:ln>
            <a:effectLst/>
          </p:spPr>
          <p:txBody>
            <a:bodyPr/>
            <a:lstStyle/>
            <a:p>
              <a:endParaRPr lang="es-AR"/>
            </a:p>
          </p:txBody>
        </p:sp>
        <p:graphicFrame>
          <p:nvGraphicFramePr>
            <p:cNvPr id="38" name="Object 22"/>
            <p:cNvGraphicFramePr>
              <a:graphicFrameLocks noChangeAspect="1"/>
            </p:cNvGraphicFramePr>
            <p:nvPr/>
          </p:nvGraphicFramePr>
          <p:xfrm>
            <a:off x="3924300" y="4108450"/>
            <a:ext cx="2519363" cy="636588"/>
          </p:xfrm>
          <a:graphic>
            <a:graphicData uri="http://schemas.openxmlformats.org/presentationml/2006/ole">
              <mc:AlternateContent xmlns:mc="http://schemas.openxmlformats.org/markup-compatibility/2006">
                <mc:Choice xmlns:v="urn:schemas-microsoft-com:vml" Requires="v">
                  <p:oleObj spid="_x0000_s25648" name="Ecuación" r:id="rId11" imgW="2971800" imgH="812520" progId="Equation.3">
                    <p:embed/>
                  </p:oleObj>
                </mc:Choice>
                <mc:Fallback>
                  <p:oleObj name="Ecuación" r:id="rId11" imgW="2971800" imgH="81252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4300" y="4108450"/>
                          <a:ext cx="2519363"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22"/>
            <p:cNvGraphicFramePr>
              <a:graphicFrameLocks noChangeAspect="1"/>
            </p:cNvGraphicFramePr>
            <p:nvPr/>
          </p:nvGraphicFramePr>
          <p:xfrm>
            <a:off x="1691680" y="3789041"/>
            <a:ext cx="990722" cy="647313"/>
          </p:xfrm>
          <a:graphic>
            <a:graphicData uri="http://schemas.openxmlformats.org/presentationml/2006/ole">
              <mc:AlternateContent xmlns:mc="http://schemas.openxmlformats.org/markup-compatibility/2006">
                <mc:Choice xmlns:v="urn:schemas-microsoft-com:vml" Requires="v">
                  <p:oleObj spid="_x0000_s25649" name="Ecuación" r:id="rId13" imgW="609480" imgH="431640" progId="Equation.3">
                    <p:embed/>
                  </p:oleObj>
                </mc:Choice>
                <mc:Fallback>
                  <p:oleObj name="Ecuación" r:id="rId13" imgW="609480" imgH="43164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1680" y="3789041"/>
                          <a:ext cx="990722" cy="647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Line 20"/>
            <p:cNvSpPr>
              <a:spLocks noChangeShapeType="1"/>
            </p:cNvSpPr>
            <p:nvPr/>
          </p:nvSpPr>
          <p:spPr bwMode="auto">
            <a:xfrm flipH="1" flipV="1">
              <a:off x="2195735" y="4437111"/>
              <a:ext cx="360809" cy="288801"/>
            </a:xfrm>
            <a:prstGeom prst="line">
              <a:avLst/>
            </a:prstGeom>
            <a:noFill/>
            <a:ln w="3175">
              <a:solidFill>
                <a:srgbClr val="808080"/>
              </a:solidFill>
              <a:round/>
              <a:headEnd type="triangle"/>
              <a:tailEnd type="none" w="med" len="med"/>
            </a:ln>
            <a:effectLst/>
          </p:spPr>
          <p:txBody>
            <a:bodyPr/>
            <a:lstStyle/>
            <a:p>
              <a:endParaRPr lang="es-AR"/>
            </a:p>
          </p:txBody>
        </p:sp>
      </p:grpSp>
      <p:sp>
        <p:nvSpPr>
          <p:cNvPr id="42"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467544" y="1844824"/>
            <a:ext cx="8208912" cy="1938992"/>
          </a:xfrm>
          <a:prstGeom prst="rect">
            <a:avLst/>
          </a:prstGeom>
          <a:noFill/>
        </p:spPr>
        <p:txBody>
          <a:bodyPr wrap="square" rtlCol="0">
            <a:spAutoFit/>
          </a:bodyPr>
          <a:lstStyle/>
          <a:p>
            <a:pPr>
              <a:buFontTx/>
              <a:buNone/>
            </a:pPr>
            <a:r>
              <a:rPr lang="es-ES_tradnl" sz="2400" dirty="0">
                <a:latin typeface="Times New Roman" pitchFamily="18" charset="0"/>
                <a:cs typeface="Times New Roman" pitchFamily="18" charset="0"/>
              </a:rPr>
              <a:t>La curva con forma de S se caracteriza por el tiempo de retardo L y la constante de tiempo T.</a:t>
            </a:r>
          </a:p>
          <a:p>
            <a:pPr>
              <a:buFontTx/>
              <a:buNone/>
            </a:pPr>
            <a:endParaRPr lang="es-ES_tradnl" sz="2400" dirty="0">
              <a:latin typeface="Times New Roman" pitchFamily="18" charset="0"/>
              <a:cs typeface="Times New Roman" pitchFamily="18" charset="0"/>
            </a:endParaRPr>
          </a:p>
          <a:p>
            <a:pPr>
              <a:buFontTx/>
              <a:buNone/>
            </a:pPr>
            <a:r>
              <a:rPr lang="es-ES_tradnl" sz="2400" dirty="0">
                <a:latin typeface="Times New Roman" pitchFamily="18" charset="0"/>
                <a:cs typeface="Times New Roman" pitchFamily="18" charset="0"/>
              </a:rPr>
              <a:t>S</a:t>
            </a:r>
            <a:r>
              <a:rPr lang="es-MX" sz="2400" dirty="0">
                <a:latin typeface="Times New Roman" pitchFamily="18" charset="0"/>
                <a:cs typeface="Times New Roman" pitchFamily="18" charset="0"/>
              </a:rPr>
              <a:t>e puede aproximar por un sistema de primer orden con atraso de transporte.</a:t>
            </a:r>
          </a:p>
        </p:txBody>
      </p:sp>
      <p:sp>
        <p:nvSpPr>
          <p:cNvPr id="7"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graphicFrame>
        <p:nvGraphicFramePr>
          <p:cNvPr id="50177" name="Object 1"/>
          <p:cNvGraphicFramePr>
            <a:graphicFrameLocks noChangeAspect="1"/>
          </p:cNvGraphicFramePr>
          <p:nvPr/>
        </p:nvGraphicFramePr>
        <p:xfrm>
          <a:off x="3707904" y="4293096"/>
          <a:ext cx="1689100" cy="838200"/>
        </p:xfrm>
        <a:graphic>
          <a:graphicData uri="http://schemas.openxmlformats.org/presentationml/2006/ole">
            <mc:AlternateContent xmlns:mc="http://schemas.openxmlformats.org/markup-compatibility/2006">
              <mc:Choice xmlns:v="urn:schemas-microsoft-com:vml" Requires="v">
                <p:oleObj spid="_x0000_s50184" name="Ecuación" r:id="rId3" imgW="1688760" imgH="838080" progId="Equation.3">
                  <p:embed/>
                </p:oleObj>
              </mc:Choice>
              <mc:Fallback>
                <p:oleObj name="Ecuación" r:id="rId3" imgW="1688760" imgH="83808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4293096"/>
                        <a:ext cx="16891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sp>
        <p:nvSpPr>
          <p:cNvPr id="5" name="4 CuadroTexto"/>
          <p:cNvSpPr txBox="1"/>
          <p:nvPr/>
        </p:nvSpPr>
        <p:spPr>
          <a:xfrm>
            <a:off x="395536" y="1556792"/>
            <a:ext cx="8352928" cy="4154984"/>
          </a:xfrm>
          <a:prstGeom prst="rect">
            <a:avLst/>
          </a:prstGeom>
          <a:noFill/>
        </p:spPr>
        <p:txBody>
          <a:bodyPr wrap="square" rtlCol="0">
            <a:spAutoFit/>
          </a:bodyPr>
          <a:lstStyle/>
          <a:p>
            <a:r>
              <a:rPr lang="es-AR" sz="2400" dirty="0">
                <a:latin typeface="Times New Roman" pitchFamily="18" charset="0"/>
                <a:cs typeface="Times New Roman" pitchFamily="18" charset="0"/>
              </a:rPr>
              <a:t>K es la ganancia estática DC o amplificación del sistema para una entrada constante.</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L es el tiempo muerto que transcurre desde que se provoca un cambio en la entrada hasta que aparece algún cambio en la salida.</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T es el tiempo característico del sistema de primer orden. Es el tiempo que toma a la salida cambiar un 63% de su cambio total, cuando se aplica un cambio en la entrada. </a:t>
            </a:r>
          </a:p>
          <a:p>
            <a:r>
              <a:rPr lang="es-AR" sz="2400" dirty="0">
                <a:latin typeface="Times New Roman" pitchFamily="18" charset="0"/>
                <a:cs typeface="Times New Roman" pitchFamily="18" charset="0"/>
              </a:rPr>
              <a:t>Esto corresponde a la constante RC de un filtro pasa bajo o la inercia térmica de un horno.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p:txBody>
          <a:bodyPr/>
          <a:lstStyle/>
          <a:p>
            <a:pPr>
              <a:buFontTx/>
              <a:buNone/>
            </a:pPr>
            <a:r>
              <a:rPr lang="es-ES_tradnl"/>
              <a:t>	</a:t>
            </a:r>
            <a:endParaRPr lang="es-ES_tradnl">
              <a:solidFill>
                <a:srgbClr val="CCECFF"/>
              </a:solidFill>
            </a:endParaRPr>
          </a:p>
        </p:txBody>
      </p:sp>
      <p:sp>
        <p:nvSpPr>
          <p:cNvPr id="6"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grpSp>
        <p:nvGrpSpPr>
          <p:cNvPr id="32" name="31 Grupo"/>
          <p:cNvGrpSpPr/>
          <p:nvPr/>
        </p:nvGrpSpPr>
        <p:grpSpPr>
          <a:xfrm>
            <a:off x="1403648" y="2636912"/>
            <a:ext cx="6120680" cy="3672407"/>
            <a:chOff x="2195513" y="3284538"/>
            <a:chExt cx="4968875" cy="2592387"/>
          </a:xfrm>
        </p:grpSpPr>
        <p:sp>
          <p:nvSpPr>
            <p:cNvPr id="9" name="Text Box 35"/>
            <p:cNvSpPr txBox="1">
              <a:spLocks noChangeArrowheads="1"/>
            </p:cNvSpPr>
            <p:nvPr/>
          </p:nvSpPr>
          <p:spPr bwMode="auto">
            <a:xfrm>
              <a:off x="2195513" y="3357563"/>
              <a:ext cx="2149460" cy="325894"/>
            </a:xfrm>
            <a:prstGeom prst="rect">
              <a:avLst/>
            </a:prstGeom>
            <a:noFill/>
            <a:ln w="3175">
              <a:noFill/>
              <a:miter lim="800000"/>
              <a:headEnd/>
              <a:tailEnd/>
            </a:ln>
            <a:effectLst/>
          </p:spPr>
          <p:txBody>
            <a:bodyPr wrap="none">
              <a:spAutoFit/>
            </a:bodyPr>
            <a:lstStyle/>
            <a:p>
              <a:r>
                <a:rPr lang="es-ES" sz="2400" dirty="0">
                  <a:latin typeface="Times New Roman" pitchFamily="18" charset="0"/>
                  <a:cs typeface="Times New Roman" pitchFamily="18" charset="0"/>
                </a:rPr>
                <a:t>Tipo de controlador</a:t>
              </a:r>
            </a:p>
          </p:txBody>
        </p:sp>
        <p:graphicFrame>
          <p:nvGraphicFramePr>
            <p:cNvPr id="10" name="Object 36"/>
            <p:cNvGraphicFramePr>
              <a:graphicFrameLocks noChangeAspect="1"/>
            </p:cNvGraphicFramePr>
            <p:nvPr/>
          </p:nvGraphicFramePr>
          <p:xfrm>
            <a:off x="4787900" y="3357563"/>
            <a:ext cx="406400" cy="419100"/>
          </p:xfrm>
          <a:graphic>
            <a:graphicData uri="http://schemas.openxmlformats.org/presentationml/2006/ole">
              <mc:AlternateContent xmlns:mc="http://schemas.openxmlformats.org/markup-compatibility/2006">
                <mc:Choice xmlns:v="urn:schemas-microsoft-com:vml" Requires="v">
                  <p:oleObj spid="_x0000_s3187" name="Ecuación" r:id="rId3" imgW="406080" imgH="419040" progId="Equation.3">
                    <p:embed/>
                  </p:oleObj>
                </mc:Choice>
                <mc:Fallback>
                  <p:oleObj name="Ecuación" r:id="rId3" imgW="406080" imgH="4190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3357563"/>
                          <a:ext cx="4064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37"/>
            <p:cNvGraphicFramePr>
              <a:graphicFrameLocks/>
            </p:cNvGraphicFramePr>
            <p:nvPr/>
          </p:nvGraphicFramePr>
          <p:xfrm>
            <a:off x="5702954" y="3335370"/>
            <a:ext cx="405960" cy="421357"/>
          </p:xfrm>
          <a:graphic>
            <a:graphicData uri="http://schemas.openxmlformats.org/presentationml/2006/ole">
              <mc:AlternateContent xmlns:mc="http://schemas.openxmlformats.org/markup-compatibility/2006">
                <mc:Choice xmlns:v="urn:schemas-microsoft-com:vml" Requires="v">
                  <p:oleObj spid="_x0000_s3188" name="Ecuación" r:id="rId5" imgW="152280" imgH="228600" progId="Equation.3">
                    <p:embed/>
                  </p:oleObj>
                </mc:Choice>
                <mc:Fallback>
                  <p:oleObj name="Ecuación" r:id="rId5" imgW="152280" imgH="228600" progId="Equation.3">
                    <p:embed/>
                    <p:pic>
                      <p:nvPicPr>
                        <p:cNvPr id="0" name="Picture 4"/>
                        <p:cNvPicPr preferRelativeResize="0">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2954" y="3335370"/>
                          <a:ext cx="405960" cy="4213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8"/>
            <p:cNvGraphicFramePr>
              <a:graphicFrameLocks/>
            </p:cNvGraphicFramePr>
            <p:nvPr/>
          </p:nvGraphicFramePr>
          <p:xfrm>
            <a:off x="6638272" y="3335370"/>
            <a:ext cx="405959" cy="421357"/>
          </p:xfrm>
          <a:graphic>
            <a:graphicData uri="http://schemas.openxmlformats.org/presentationml/2006/ole">
              <mc:AlternateContent xmlns:mc="http://schemas.openxmlformats.org/markup-compatibility/2006">
                <mc:Choice xmlns:v="urn:schemas-microsoft-com:vml" Requires="v">
                  <p:oleObj spid="_x0000_s3189" name="Ecuación" r:id="rId7" imgW="177480" imgH="228600" progId="Equation.3">
                    <p:embed/>
                  </p:oleObj>
                </mc:Choice>
                <mc:Fallback>
                  <p:oleObj name="Ecuación" r:id="rId7" imgW="177480" imgH="228600" progId="Equation.3">
                    <p:embed/>
                    <p:pic>
                      <p:nvPicPr>
                        <p:cNvPr id="0" name="Picture 5"/>
                        <p:cNvPicPr preferRelativeResize="0">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8272" y="3335370"/>
                          <a:ext cx="405959" cy="4213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Line 39"/>
            <p:cNvSpPr>
              <a:spLocks noChangeShapeType="1"/>
            </p:cNvSpPr>
            <p:nvPr/>
          </p:nvSpPr>
          <p:spPr bwMode="auto">
            <a:xfrm>
              <a:off x="2195513" y="3789363"/>
              <a:ext cx="4968875" cy="0"/>
            </a:xfrm>
            <a:prstGeom prst="line">
              <a:avLst/>
            </a:prstGeom>
            <a:noFill/>
            <a:ln w="15875">
              <a:solidFill>
                <a:srgbClr val="808080"/>
              </a:solidFill>
              <a:round/>
              <a:headEnd/>
              <a:tailEnd/>
            </a:ln>
            <a:effectLst/>
          </p:spPr>
          <p:txBody>
            <a:bodyPr/>
            <a:lstStyle/>
            <a:p>
              <a:endParaRPr lang="es-AR"/>
            </a:p>
          </p:txBody>
        </p:sp>
        <p:graphicFrame>
          <p:nvGraphicFramePr>
            <p:cNvPr id="14" name="Object 40"/>
            <p:cNvGraphicFramePr>
              <a:graphicFrameLocks noChangeAspect="1"/>
            </p:cNvGraphicFramePr>
            <p:nvPr/>
          </p:nvGraphicFramePr>
          <p:xfrm>
            <a:off x="4709180" y="3871853"/>
            <a:ext cx="544660" cy="581800"/>
          </p:xfrm>
          <a:graphic>
            <a:graphicData uri="http://schemas.openxmlformats.org/presentationml/2006/ole">
              <mc:AlternateContent xmlns:mc="http://schemas.openxmlformats.org/markup-compatibility/2006">
                <mc:Choice xmlns:v="urn:schemas-microsoft-com:vml" Requires="v">
                  <p:oleObj spid="_x0000_s3190" name="Ecuación" r:id="rId9" imgW="368280" imgH="393480" progId="Equation.3">
                    <p:embed/>
                  </p:oleObj>
                </mc:Choice>
                <mc:Fallback>
                  <p:oleObj name="Ecuación" r:id="rId9" imgW="368280" imgH="393480" progId="Equation.3">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09180" y="3871853"/>
                          <a:ext cx="544660" cy="58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41"/>
            <p:cNvGraphicFramePr>
              <a:graphicFrameLocks noChangeAspect="1"/>
            </p:cNvGraphicFramePr>
            <p:nvPr/>
          </p:nvGraphicFramePr>
          <p:xfrm>
            <a:off x="5757863" y="4005263"/>
            <a:ext cx="254000" cy="190500"/>
          </p:xfrm>
          <a:graphic>
            <a:graphicData uri="http://schemas.openxmlformats.org/presentationml/2006/ole">
              <mc:AlternateContent xmlns:mc="http://schemas.openxmlformats.org/markup-compatibility/2006">
                <mc:Choice xmlns:v="urn:schemas-microsoft-com:vml" Requires="v">
                  <p:oleObj spid="_x0000_s3191" name="Ecuación" r:id="rId11" imgW="253800" imgH="190440" progId="Equation.3">
                    <p:embed/>
                  </p:oleObj>
                </mc:Choice>
                <mc:Fallback>
                  <p:oleObj name="Ecuación" r:id="rId11" imgW="253800" imgH="190440" progId="Equation.3">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57863" y="4005263"/>
                          <a:ext cx="2540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42"/>
            <p:cNvGraphicFramePr>
              <a:graphicFrameLocks noChangeAspect="1"/>
            </p:cNvGraphicFramePr>
            <p:nvPr/>
          </p:nvGraphicFramePr>
          <p:xfrm>
            <a:off x="4558201" y="4600085"/>
            <a:ext cx="826381" cy="571592"/>
          </p:xfrm>
          <a:graphic>
            <a:graphicData uri="http://schemas.openxmlformats.org/presentationml/2006/ole">
              <mc:AlternateContent xmlns:mc="http://schemas.openxmlformats.org/markup-compatibility/2006">
                <mc:Choice xmlns:v="urn:schemas-microsoft-com:vml" Requires="v">
                  <p:oleObj spid="_x0000_s3192" name="Ecuación" r:id="rId13" imgW="571320" imgH="393480" progId="Equation.3">
                    <p:embed/>
                  </p:oleObj>
                </mc:Choice>
                <mc:Fallback>
                  <p:oleObj name="Ecuación" r:id="rId13" imgW="571320" imgH="393480" progId="Equation.3">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58201" y="4600085"/>
                          <a:ext cx="826381" cy="5715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43"/>
            <p:cNvGraphicFramePr>
              <a:graphicFrameLocks noChangeAspect="1"/>
            </p:cNvGraphicFramePr>
            <p:nvPr/>
          </p:nvGraphicFramePr>
          <p:xfrm>
            <a:off x="4515939" y="5246277"/>
            <a:ext cx="812294" cy="573633"/>
          </p:xfrm>
          <a:graphic>
            <a:graphicData uri="http://schemas.openxmlformats.org/presentationml/2006/ole">
              <mc:AlternateContent xmlns:mc="http://schemas.openxmlformats.org/markup-compatibility/2006">
                <mc:Choice xmlns:v="urn:schemas-microsoft-com:vml" Requires="v">
                  <p:oleObj spid="_x0000_s3193" name="Ecuación" r:id="rId15" imgW="558720" imgH="393480" progId="Equation.3">
                    <p:embed/>
                  </p:oleObj>
                </mc:Choice>
                <mc:Fallback>
                  <p:oleObj name="Ecuación" r:id="rId15" imgW="558720" imgH="393480" progId="Equation.3">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5939" y="5246277"/>
                          <a:ext cx="812294" cy="5736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Line 44"/>
            <p:cNvSpPr>
              <a:spLocks noChangeShapeType="1"/>
            </p:cNvSpPr>
            <p:nvPr/>
          </p:nvSpPr>
          <p:spPr bwMode="auto">
            <a:xfrm>
              <a:off x="2195513" y="4508500"/>
              <a:ext cx="4968875" cy="0"/>
            </a:xfrm>
            <a:prstGeom prst="line">
              <a:avLst/>
            </a:prstGeom>
            <a:noFill/>
            <a:ln w="15875">
              <a:solidFill>
                <a:srgbClr val="808080"/>
              </a:solidFill>
              <a:round/>
              <a:headEnd/>
              <a:tailEnd/>
            </a:ln>
            <a:effectLst/>
          </p:spPr>
          <p:txBody>
            <a:bodyPr/>
            <a:lstStyle/>
            <a:p>
              <a:endParaRPr lang="es-AR"/>
            </a:p>
          </p:txBody>
        </p:sp>
        <p:sp>
          <p:nvSpPr>
            <p:cNvPr id="19" name="Line 45"/>
            <p:cNvSpPr>
              <a:spLocks noChangeShapeType="1"/>
            </p:cNvSpPr>
            <p:nvPr/>
          </p:nvSpPr>
          <p:spPr bwMode="auto">
            <a:xfrm>
              <a:off x="2195513" y="5227638"/>
              <a:ext cx="4968875" cy="0"/>
            </a:xfrm>
            <a:prstGeom prst="line">
              <a:avLst/>
            </a:prstGeom>
            <a:noFill/>
            <a:ln w="15875">
              <a:solidFill>
                <a:srgbClr val="808080"/>
              </a:solidFill>
              <a:round/>
              <a:headEnd/>
              <a:tailEnd/>
            </a:ln>
            <a:effectLst/>
          </p:spPr>
          <p:txBody>
            <a:bodyPr/>
            <a:lstStyle/>
            <a:p>
              <a:endParaRPr lang="es-AR"/>
            </a:p>
          </p:txBody>
        </p:sp>
        <p:graphicFrame>
          <p:nvGraphicFramePr>
            <p:cNvPr id="20" name="Object 46"/>
            <p:cNvGraphicFramePr>
              <a:graphicFrameLocks noChangeAspect="1"/>
            </p:cNvGraphicFramePr>
            <p:nvPr/>
          </p:nvGraphicFramePr>
          <p:xfrm>
            <a:off x="5724525" y="4579938"/>
            <a:ext cx="333375" cy="566737"/>
          </p:xfrm>
          <a:graphic>
            <a:graphicData uri="http://schemas.openxmlformats.org/presentationml/2006/ole">
              <mc:AlternateContent xmlns:mc="http://schemas.openxmlformats.org/markup-compatibility/2006">
                <mc:Choice xmlns:v="urn:schemas-microsoft-com:vml" Requires="v">
                  <p:oleObj spid="_x0000_s3194" name="Ecuación" r:id="rId17" imgW="419040" imgH="711000" progId="Equation.3">
                    <p:embed/>
                  </p:oleObj>
                </mc:Choice>
                <mc:Fallback>
                  <p:oleObj name="Ecuación" r:id="rId17" imgW="419040" imgH="711000" progId="Equation.3">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24525" y="4579938"/>
                          <a:ext cx="333375" cy="566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47"/>
            <p:cNvGraphicFramePr>
              <a:graphicFrameLocks noChangeAspect="1"/>
            </p:cNvGraphicFramePr>
            <p:nvPr/>
          </p:nvGraphicFramePr>
          <p:xfrm>
            <a:off x="5724525" y="5476875"/>
            <a:ext cx="303213" cy="212725"/>
          </p:xfrm>
          <a:graphic>
            <a:graphicData uri="http://schemas.openxmlformats.org/presentationml/2006/ole">
              <mc:AlternateContent xmlns:mc="http://schemas.openxmlformats.org/markup-compatibility/2006">
                <mc:Choice xmlns:v="urn:schemas-microsoft-com:vml" Requires="v">
                  <p:oleObj spid="_x0000_s3195" name="Ecuación" r:id="rId19" imgW="380880" imgH="266400" progId="Equation.3">
                    <p:embed/>
                  </p:oleObj>
                </mc:Choice>
                <mc:Fallback>
                  <p:oleObj name="Ecuación" r:id="rId19" imgW="380880" imgH="266400" progId="Equation.3">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24525" y="5476875"/>
                          <a:ext cx="303213" cy="21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48"/>
            <p:cNvGraphicFramePr>
              <a:graphicFrameLocks noChangeAspect="1"/>
            </p:cNvGraphicFramePr>
            <p:nvPr/>
          </p:nvGraphicFramePr>
          <p:xfrm>
            <a:off x="6473825" y="5438775"/>
            <a:ext cx="474663" cy="222250"/>
          </p:xfrm>
          <a:graphic>
            <a:graphicData uri="http://schemas.openxmlformats.org/presentationml/2006/ole">
              <mc:AlternateContent xmlns:mc="http://schemas.openxmlformats.org/markup-compatibility/2006">
                <mc:Choice xmlns:v="urn:schemas-microsoft-com:vml" Requires="v">
                  <p:oleObj spid="_x0000_s3196" name="Ecuación" r:id="rId21" imgW="596880" imgH="279360" progId="Equation.3">
                    <p:embed/>
                  </p:oleObj>
                </mc:Choice>
                <mc:Fallback>
                  <p:oleObj name="Ecuación" r:id="rId21" imgW="596880" imgH="279360" progId="Equation.3">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73825" y="5438775"/>
                          <a:ext cx="474663"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49"/>
            <p:cNvGraphicFramePr>
              <a:graphicFrameLocks noChangeAspect="1"/>
            </p:cNvGraphicFramePr>
            <p:nvPr/>
          </p:nvGraphicFramePr>
          <p:xfrm>
            <a:off x="6611938" y="4724400"/>
            <a:ext cx="141287" cy="222250"/>
          </p:xfrm>
          <a:graphic>
            <a:graphicData uri="http://schemas.openxmlformats.org/presentationml/2006/ole">
              <mc:AlternateContent xmlns:mc="http://schemas.openxmlformats.org/markup-compatibility/2006">
                <mc:Choice xmlns:v="urn:schemas-microsoft-com:vml" Requires="v">
                  <p:oleObj spid="_x0000_s3197" name="Ecuación" r:id="rId23" imgW="177480" imgH="279360" progId="Equation.3">
                    <p:embed/>
                  </p:oleObj>
                </mc:Choice>
                <mc:Fallback>
                  <p:oleObj name="Ecuación" r:id="rId23" imgW="177480" imgH="279360" progId="Equation.3">
                    <p:embed/>
                    <p:pic>
                      <p:nvPicPr>
                        <p:cNvPr id="0" name="Picture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11938" y="4724400"/>
                          <a:ext cx="141287"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50"/>
            <p:cNvGraphicFramePr>
              <a:graphicFrameLocks noChangeAspect="1"/>
            </p:cNvGraphicFramePr>
            <p:nvPr/>
          </p:nvGraphicFramePr>
          <p:xfrm>
            <a:off x="6588125" y="4005263"/>
            <a:ext cx="141288" cy="222250"/>
          </p:xfrm>
          <a:graphic>
            <a:graphicData uri="http://schemas.openxmlformats.org/presentationml/2006/ole">
              <mc:AlternateContent xmlns:mc="http://schemas.openxmlformats.org/markup-compatibility/2006">
                <mc:Choice xmlns:v="urn:schemas-microsoft-com:vml" Requires="v">
                  <p:oleObj spid="_x0000_s3198" name="Ecuación" r:id="rId25" imgW="177480" imgH="279360" progId="Equation.3">
                    <p:embed/>
                  </p:oleObj>
                </mc:Choice>
                <mc:Fallback>
                  <p:oleObj name="Ecuación" r:id="rId25" imgW="177480" imgH="279360" progId="Equation.3">
                    <p:embed/>
                    <p:pic>
                      <p:nvPicPr>
                        <p:cNvPr id="0" name="Picture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588125" y="4005263"/>
                          <a:ext cx="141288"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Line 51"/>
            <p:cNvSpPr>
              <a:spLocks noChangeShapeType="1"/>
            </p:cNvSpPr>
            <p:nvPr/>
          </p:nvSpPr>
          <p:spPr bwMode="auto">
            <a:xfrm>
              <a:off x="4475350" y="3284538"/>
              <a:ext cx="0" cy="2592387"/>
            </a:xfrm>
            <a:prstGeom prst="line">
              <a:avLst/>
            </a:prstGeom>
            <a:noFill/>
            <a:ln w="3175">
              <a:solidFill>
                <a:srgbClr val="808080"/>
              </a:solidFill>
              <a:round/>
              <a:headEnd/>
              <a:tailEnd/>
            </a:ln>
            <a:effectLst/>
          </p:spPr>
          <p:txBody>
            <a:bodyPr/>
            <a:lstStyle/>
            <a:p>
              <a:endParaRPr lang="es-AR"/>
            </a:p>
          </p:txBody>
        </p:sp>
        <p:graphicFrame>
          <p:nvGraphicFramePr>
            <p:cNvPr id="26" name="Object 52"/>
            <p:cNvGraphicFramePr>
              <a:graphicFrameLocks noChangeAspect="1"/>
            </p:cNvGraphicFramePr>
            <p:nvPr/>
          </p:nvGraphicFramePr>
          <p:xfrm>
            <a:off x="3132138" y="4076700"/>
            <a:ext cx="241300" cy="254000"/>
          </p:xfrm>
          <a:graphic>
            <a:graphicData uri="http://schemas.openxmlformats.org/presentationml/2006/ole">
              <mc:AlternateContent xmlns:mc="http://schemas.openxmlformats.org/markup-compatibility/2006">
                <mc:Choice xmlns:v="urn:schemas-microsoft-com:vml" Requires="v">
                  <p:oleObj spid="_x0000_s3199" name="Ecuación" r:id="rId27" imgW="241200" imgH="253800" progId="Equation.3">
                    <p:embed/>
                  </p:oleObj>
                </mc:Choice>
                <mc:Fallback>
                  <p:oleObj name="Ecuación" r:id="rId27" imgW="241200" imgH="253800" progId="Equation.3">
                    <p:embed/>
                    <p:pic>
                      <p:nvPicPr>
                        <p:cNvPr id="0" name="Picture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132138" y="4076700"/>
                          <a:ext cx="241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53"/>
            <p:cNvGraphicFramePr>
              <a:graphicFrameLocks noChangeAspect="1"/>
            </p:cNvGraphicFramePr>
            <p:nvPr/>
          </p:nvGraphicFramePr>
          <p:xfrm>
            <a:off x="3060700" y="4724400"/>
            <a:ext cx="368300" cy="254000"/>
          </p:xfrm>
          <a:graphic>
            <a:graphicData uri="http://schemas.openxmlformats.org/presentationml/2006/ole">
              <mc:AlternateContent xmlns:mc="http://schemas.openxmlformats.org/markup-compatibility/2006">
                <mc:Choice xmlns:v="urn:schemas-microsoft-com:vml" Requires="v">
                  <p:oleObj spid="_x0000_s3200" name="Ecuación" r:id="rId29" imgW="368280" imgH="253800" progId="Equation.3">
                    <p:embed/>
                  </p:oleObj>
                </mc:Choice>
                <mc:Fallback>
                  <p:oleObj name="Ecuación" r:id="rId29" imgW="368280" imgH="253800" progId="Equation.3">
                    <p:embed/>
                    <p:pic>
                      <p:nvPicPr>
                        <p:cNvPr id="0" name="Picture 1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60700" y="4724400"/>
                          <a:ext cx="368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54"/>
            <p:cNvGraphicFramePr>
              <a:graphicFrameLocks noChangeAspect="1"/>
            </p:cNvGraphicFramePr>
            <p:nvPr/>
          </p:nvGraphicFramePr>
          <p:xfrm>
            <a:off x="2987675" y="5372101"/>
            <a:ext cx="669272" cy="254000"/>
          </p:xfrm>
          <a:graphic>
            <a:graphicData uri="http://schemas.openxmlformats.org/presentationml/2006/ole">
              <mc:AlternateContent xmlns:mc="http://schemas.openxmlformats.org/markup-compatibility/2006">
                <mc:Choice xmlns:v="urn:schemas-microsoft-com:vml" Requires="v">
                  <p:oleObj spid="_x0000_s3201" name="Ecuación" r:id="rId31" imgW="571320" imgH="253800" progId="Equation.3">
                    <p:embed/>
                  </p:oleObj>
                </mc:Choice>
                <mc:Fallback>
                  <p:oleObj name="Ecuación" r:id="rId31" imgW="571320" imgH="253800" progId="Equation.3">
                    <p:embed/>
                    <p:pic>
                      <p:nvPicPr>
                        <p:cNvPr id="0" name="Picture 1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87675" y="5372101"/>
                          <a:ext cx="669272"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Line 55"/>
            <p:cNvSpPr>
              <a:spLocks noChangeShapeType="1"/>
            </p:cNvSpPr>
            <p:nvPr/>
          </p:nvSpPr>
          <p:spPr bwMode="auto">
            <a:xfrm>
              <a:off x="5437188" y="3284538"/>
              <a:ext cx="0" cy="2592387"/>
            </a:xfrm>
            <a:prstGeom prst="line">
              <a:avLst/>
            </a:prstGeom>
            <a:noFill/>
            <a:ln w="3175">
              <a:solidFill>
                <a:srgbClr val="808080"/>
              </a:solidFill>
              <a:round/>
              <a:headEnd/>
              <a:tailEnd/>
            </a:ln>
            <a:effectLst/>
          </p:spPr>
          <p:txBody>
            <a:bodyPr/>
            <a:lstStyle/>
            <a:p>
              <a:endParaRPr lang="es-AR"/>
            </a:p>
          </p:txBody>
        </p:sp>
        <p:sp>
          <p:nvSpPr>
            <p:cNvPr id="30" name="Line 56"/>
            <p:cNvSpPr>
              <a:spLocks noChangeShapeType="1"/>
            </p:cNvSpPr>
            <p:nvPr/>
          </p:nvSpPr>
          <p:spPr bwMode="auto">
            <a:xfrm>
              <a:off x="6300788" y="3284538"/>
              <a:ext cx="0" cy="2592387"/>
            </a:xfrm>
            <a:prstGeom prst="line">
              <a:avLst/>
            </a:prstGeom>
            <a:noFill/>
            <a:ln w="3175">
              <a:solidFill>
                <a:srgbClr val="808080"/>
              </a:solidFill>
              <a:round/>
              <a:headEnd/>
              <a:tailEnd/>
            </a:ln>
            <a:effectLst/>
          </p:spPr>
          <p:txBody>
            <a:bodyPr/>
            <a:lstStyle/>
            <a:p>
              <a:endParaRPr lang="es-AR"/>
            </a:p>
          </p:txBody>
        </p:sp>
        <p:graphicFrame>
          <p:nvGraphicFramePr>
            <p:cNvPr id="31" name="Object 57"/>
            <p:cNvGraphicFramePr>
              <a:graphicFrameLocks noChangeAspect="1"/>
            </p:cNvGraphicFramePr>
            <p:nvPr/>
          </p:nvGraphicFramePr>
          <p:xfrm>
            <a:off x="5635625" y="5260975"/>
            <a:ext cx="177800" cy="368300"/>
          </p:xfrm>
          <a:graphic>
            <a:graphicData uri="http://schemas.openxmlformats.org/presentationml/2006/ole">
              <mc:AlternateContent xmlns:mc="http://schemas.openxmlformats.org/markup-compatibility/2006">
                <mc:Choice xmlns:v="urn:schemas-microsoft-com:vml" Requires="v">
                  <p:oleObj spid="_x0000_s3202" name="Ecuación" r:id="rId33" imgW="177480" imgH="368280" progId="Equation.3">
                    <p:embed/>
                  </p:oleObj>
                </mc:Choice>
                <mc:Fallback>
                  <p:oleObj name="Ecuación" r:id="rId33" imgW="177480" imgH="368280" progId="Equation.3">
                    <p:embed/>
                    <p:pic>
                      <p:nvPicPr>
                        <p:cNvPr id="0" name="Picture 1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635625" y="5260975"/>
                          <a:ext cx="1778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32 Rectángulo"/>
          <p:cNvSpPr/>
          <p:nvPr/>
        </p:nvSpPr>
        <p:spPr>
          <a:xfrm>
            <a:off x="467544" y="1412776"/>
            <a:ext cx="8136904" cy="830997"/>
          </a:xfrm>
          <a:prstGeom prst="rect">
            <a:avLst/>
          </a:prstGeom>
        </p:spPr>
        <p:txBody>
          <a:bodyPr wrap="square">
            <a:spAutoFit/>
          </a:bodyPr>
          <a:lstStyle/>
          <a:p>
            <a:pPr>
              <a:buFontTx/>
              <a:buNone/>
            </a:pPr>
            <a:r>
              <a:rPr lang="es-ES_tradnl" sz="2400" dirty="0" err="1">
                <a:latin typeface="Times New Roman" pitchFamily="18" charset="0"/>
                <a:cs typeface="Times New Roman" pitchFamily="18" charset="0"/>
              </a:rPr>
              <a:t>Ziegler</a:t>
            </a:r>
            <a:r>
              <a:rPr lang="es-ES_tradnl" sz="2400" dirty="0">
                <a:latin typeface="Times New Roman" pitchFamily="18" charset="0"/>
                <a:cs typeface="Times New Roman" pitchFamily="18" charset="0"/>
              </a:rPr>
              <a:t> y </a:t>
            </a:r>
            <a:r>
              <a:rPr lang="es-ES_tradnl" sz="2400" dirty="0" err="1">
                <a:latin typeface="Times New Roman" pitchFamily="18" charset="0"/>
                <a:cs typeface="Times New Roman" pitchFamily="18" charset="0"/>
              </a:rPr>
              <a:t>Nichols</a:t>
            </a:r>
            <a:r>
              <a:rPr lang="es-ES_tradnl" sz="2400" dirty="0">
                <a:latin typeface="Times New Roman" pitchFamily="18" charset="0"/>
                <a:cs typeface="Times New Roman" pitchFamily="18" charset="0"/>
              </a:rPr>
              <a:t> sugirieron establecer los valores de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Ti y </a:t>
            </a:r>
            <a:r>
              <a:rPr lang="es-ES_tradnl" sz="2400" dirty="0" err="1">
                <a:latin typeface="Times New Roman" pitchFamily="18" charset="0"/>
                <a:cs typeface="Times New Roman" pitchFamily="18" charset="0"/>
              </a:rPr>
              <a:t>Td</a:t>
            </a:r>
            <a:r>
              <a:rPr lang="es-ES_tradnl" sz="2400" dirty="0">
                <a:latin typeface="Times New Roman" pitchFamily="18" charset="0"/>
                <a:cs typeface="Times New Roman" pitchFamily="18" charset="0"/>
              </a:rPr>
              <a:t> de acuerdo con la formula que aparece en la siguiente tabla:</a:t>
            </a:r>
            <a:endParaRPr lang="es-AR"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7" name="Object 5"/>
          <p:cNvGraphicFramePr>
            <a:graphicFrameLocks noChangeAspect="1"/>
          </p:cNvGraphicFramePr>
          <p:nvPr/>
        </p:nvGraphicFramePr>
        <p:xfrm>
          <a:off x="2052638" y="1628775"/>
          <a:ext cx="4856162" cy="3584575"/>
        </p:xfrm>
        <a:graphic>
          <a:graphicData uri="http://schemas.openxmlformats.org/presentationml/2006/ole">
            <mc:AlternateContent xmlns:mc="http://schemas.openxmlformats.org/markup-compatibility/2006">
              <mc:Choice xmlns:v="urn:schemas-microsoft-com:vml" Requires="v">
                <p:oleObj spid="_x0000_s4105" name="Ecuación" r:id="rId3" imgW="2133360" imgH="1574640" progId="Equation.3">
                  <p:embed/>
                </p:oleObj>
              </mc:Choice>
              <mc:Fallback>
                <p:oleObj name="Ecuación" r:id="rId3" imgW="2133360" imgH="1574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638" y="1628775"/>
                        <a:ext cx="4856162" cy="3584575"/>
                      </a:xfrm>
                      <a:prstGeom prst="rect">
                        <a:avLst/>
                      </a:prstGeom>
                      <a:noFill/>
                      <a:extLst>
                        <a:ext uri="{909E8E84-426E-40DD-AFC4-6F175D3DCCD1}">
                          <a14:hiddenFill xmlns:a14="http://schemas.microsoft.com/office/drawing/2010/main">
                            <a:solidFill>
                              <a:srgbClr val="CCECFF"/>
                            </a:solidFill>
                          </a14:hiddenFill>
                        </a:ext>
                      </a:extLst>
                    </p:spPr>
                  </p:pic>
                </p:oleObj>
              </mc:Fallback>
            </mc:AlternateContent>
          </a:graphicData>
        </a:graphic>
      </p:graphicFrame>
      <p:sp>
        <p:nvSpPr>
          <p:cNvPr id="5" name="4 CuadroTexto"/>
          <p:cNvSpPr txBox="1"/>
          <p:nvPr/>
        </p:nvSpPr>
        <p:spPr>
          <a:xfrm>
            <a:off x="467544" y="5373216"/>
            <a:ext cx="8208912" cy="830997"/>
          </a:xfrm>
          <a:prstGeom prst="rect">
            <a:avLst/>
          </a:prstGeom>
          <a:noFill/>
        </p:spPr>
        <p:txBody>
          <a:bodyPr wrap="square" rtlCol="0">
            <a:spAutoFit/>
          </a:bodyPr>
          <a:lstStyle/>
          <a:p>
            <a:r>
              <a:rPr lang="es-ES_tradnl" sz="2400" dirty="0">
                <a:latin typeface="Times New Roman" pitchFamily="18" charset="0"/>
                <a:cs typeface="Times New Roman" pitchFamily="18" charset="0"/>
              </a:rPr>
              <a:t>Por tanto, el controlador PID tiene un polo en el origen y un cero doble en s=-1/L.</a:t>
            </a:r>
            <a:endParaRPr lang="es-AR" sz="2400" dirty="0">
              <a:latin typeface="Times New Roman" pitchFamily="18" charset="0"/>
              <a:cs typeface="Times New Roman" pitchFamily="18" charset="0"/>
            </a:endParaRPr>
          </a:p>
        </p:txBody>
      </p:sp>
      <p:sp>
        <p:nvSpPr>
          <p:cNvPr id="8"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467544" y="1628800"/>
            <a:ext cx="8208912" cy="2308324"/>
          </a:xfrm>
          <a:prstGeom prst="rect">
            <a:avLst/>
          </a:prstGeom>
          <a:noFill/>
        </p:spPr>
        <p:txBody>
          <a:bodyPr wrap="square" rtlCol="0">
            <a:spAutoFit/>
          </a:bodyPr>
          <a:lstStyle/>
          <a:p>
            <a:r>
              <a:rPr lang="es-ES_tradnl" sz="2400" dirty="0">
                <a:latin typeface="Times New Roman" pitchFamily="18" charset="0"/>
                <a:cs typeface="Times New Roman" pitchFamily="18" charset="0"/>
              </a:rPr>
              <a:t>En general, para aquellas plantas con una dinámica complicada y sin integradores, se han aplicado las reglas de sintonización de </a:t>
            </a:r>
            <a:r>
              <a:rPr lang="es-ES_tradnl" sz="2400" dirty="0" err="1">
                <a:latin typeface="Times New Roman" pitchFamily="18" charset="0"/>
                <a:cs typeface="Times New Roman" pitchFamily="18" charset="0"/>
              </a:rPr>
              <a:t>Ziegler-Nichols</a:t>
            </a:r>
            <a:r>
              <a:rPr lang="es-ES_tradnl" sz="2400" dirty="0">
                <a:latin typeface="Times New Roman" pitchFamily="18" charset="0"/>
                <a:cs typeface="Times New Roman" pitchFamily="18" charset="0"/>
              </a:rPr>
              <a:t>. </a:t>
            </a:r>
          </a:p>
          <a:p>
            <a:endParaRPr lang="es-ES_tradnl" sz="2400" dirty="0">
              <a:latin typeface="Times New Roman" pitchFamily="18" charset="0"/>
              <a:cs typeface="Times New Roman" pitchFamily="18" charset="0"/>
            </a:endParaRPr>
          </a:p>
          <a:p>
            <a:r>
              <a:rPr lang="es-ES_tradnl" sz="2400" dirty="0">
                <a:latin typeface="Times New Roman" pitchFamily="18" charset="0"/>
                <a:cs typeface="Times New Roman" pitchFamily="18" charset="0"/>
              </a:rPr>
              <a:t>Sin embargo, si la planta tiene un integrador, en algunos casos estas reglas no son adecuadas. Ejemplo:</a:t>
            </a:r>
            <a:endParaRPr lang="es-AR" sz="2400" dirty="0">
              <a:latin typeface="Times New Roman" pitchFamily="18" charset="0"/>
              <a:cs typeface="Times New Roman" pitchFamily="18" charset="0"/>
            </a:endParaRPr>
          </a:p>
        </p:txBody>
      </p:sp>
      <p:grpSp>
        <p:nvGrpSpPr>
          <p:cNvPr id="2" name="Group 13"/>
          <p:cNvGrpSpPr>
            <a:grpSpLocks/>
          </p:cNvGrpSpPr>
          <p:nvPr/>
        </p:nvGrpSpPr>
        <p:grpSpPr bwMode="auto">
          <a:xfrm>
            <a:off x="1043608" y="4509120"/>
            <a:ext cx="7202487" cy="1439862"/>
            <a:chOff x="430" y="573"/>
            <a:chExt cx="4537" cy="907"/>
          </a:xfrm>
        </p:grpSpPr>
        <p:sp>
          <p:nvSpPr>
            <p:cNvPr id="38" name="Rectangle 19"/>
            <p:cNvSpPr>
              <a:spLocks noChangeArrowheads="1"/>
            </p:cNvSpPr>
            <p:nvPr/>
          </p:nvSpPr>
          <p:spPr bwMode="auto">
            <a:xfrm>
              <a:off x="3106" y="573"/>
              <a:ext cx="1270" cy="544"/>
            </a:xfrm>
            <a:prstGeom prst="rect">
              <a:avLst/>
            </a:prstGeom>
            <a:solidFill>
              <a:schemeClr val="accent1"/>
            </a:solidFill>
            <a:ln w="25400">
              <a:solidFill>
                <a:schemeClr val="tx1"/>
              </a:solidFill>
              <a:miter lim="800000"/>
              <a:headEnd/>
              <a:tailEnd/>
            </a:ln>
            <a:effectLst/>
          </p:spPr>
          <p:txBody>
            <a:bodyPr wrap="none" anchor="ctr"/>
            <a:lstStyle/>
            <a:p>
              <a:endParaRPr lang="es-AR" dirty="0"/>
            </a:p>
          </p:txBody>
        </p:sp>
        <p:sp>
          <p:nvSpPr>
            <p:cNvPr id="33" name="Line 14"/>
            <p:cNvSpPr>
              <a:spLocks noChangeShapeType="1"/>
            </p:cNvSpPr>
            <p:nvPr/>
          </p:nvSpPr>
          <p:spPr bwMode="auto">
            <a:xfrm>
              <a:off x="430" y="846"/>
              <a:ext cx="499" cy="0"/>
            </a:xfrm>
            <a:prstGeom prst="line">
              <a:avLst/>
            </a:prstGeom>
            <a:noFill/>
            <a:ln w="25400">
              <a:solidFill>
                <a:schemeClr val="tx1"/>
              </a:solidFill>
              <a:round/>
              <a:headEnd/>
              <a:tailEnd type="triangle" w="med" len="med"/>
            </a:ln>
            <a:effectLst/>
          </p:spPr>
          <p:txBody>
            <a:bodyPr/>
            <a:lstStyle/>
            <a:p>
              <a:endParaRPr lang="es-AR" dirty="0"/>
            </a:p>
          </p:txBody>
        </p:sp>
        <p:sp>
          <p:nvSpPr>
            <p:cNvPr id="34" name="Line 15"/>
            <p:cNvSpPr>
              <a:spLocks noChangeShapeType="1"/>
            </p:cNvSpPr>
            <p:nvPr/>
          </p:nvSpPr>
          <p:spPr bwMode="auto">
            <a:xfrm>
              <a:off x="1429" y="845"/>
              <a:ext cx="362" cy="0"/>
            </a:xfrm>
            <a:prstGeom prst="line">
              <a:avLst/>
            </a:prstGeom>
            <a:noFill/>
            <a:ln w="25400">
              <a:solidFill>
                <a:schemeClr val="tx1"/>
              </a:solidFill>
              <a:round/>
              <a:headEnd/>
              <a:tailEnd type="triangle" w="med" len="med"/>
            </a:ln>
            <a:effectLst/>
          </p:spPr>
          <p:txBody>
            <a:bodyPr/>
            <a:lstStyle/>
            <a:p>
              <a:endParaRPr lang="es-AR" dirty="0"/>
            </a:p>
          </p:txBody>
        </p:sp>
        <p:sp>
          <p:nvSpPr>
            <p:cNvPr id="35" name="Rectangle 16"/>
            <p:cNvSpPr>
              <a:spLocks noChangeArrowheads="1"/>
            </p:cNvSpPr>
            <p:nvPr/>
          </p:nvSpPr>
          <p:spPr bwMode="auto">
            <a:xfrm>
              <a:off x="1791" y="573"/>
              <a:ext cx="1043" cy="544"/>
            </a:xfrm>
            <a:prstGeom prst="rect">
              <a:avLst/>
            </a:prstGeom>
            <a:solidFill>
              <a:schemeClr val="accent1"/>
            </a:solidFill>
            <a:ln w="25400">
              <a:solidFill>
                <a:schemeClr val="tx1"/>
              </a:solidFill>
              <a:miter lim="800000"/>
              <a:headEnd/>
              <a:tailEnd/>
            </a:ln>
            <a:effectLst/>
          </p:spPr>
          <p:txBody>
            <a:bodyPr wrap="none" anchor="ctr"/>
            <a:lstStyle/>
            <a:p>
              <a:endParaRPr lang="es-AR" dirty="0"/>
            </a:p>
          </p:txBody>
        </p:sp>
        <p:graphicFrame>
          <p:nvGraphicFramePr>
            <p:cNvPr id="36" name="Object 17"/>
            <p:cNvGraphicFramePr>
              <a:graphicFrameLocks noChangeAspect="1"/>
            </p:cNvGraphicFramePr>
            <p:nvPr/>
          </p:nvGraphicFramePr>
          <p:xfrm>
            <a:off x="3242" y="618"/>
            <a:ext cx="1002" cy="473"/>
          </p:xfrm>
          <a:graphic>
            <a:graphicData uri="http://schemas.openxmlformats.org/presentationml/2006/ole">
              <mc:AlternateContent xmlns:mc="http://schemas.openxmlformats.org/markup-compatibility/2006">
                <mc:Choice xmlns:v="urn:schemas-microsoft-com:vml" Requires="v">
                  <p:oleObj spid="_x0000_s89125" name="Ecuación" r:id="rId3" imgW="888840" imgH="419040" progId="Equation.3">
                    <p:embed/>
                  </p:oleObj>
                </mc:Choice>
                <mc:Fallback>
                  <p:oleObj name="Ecuación" r:id="rId3" imgW="888840" imgH="419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2" y="618"/>
                          <a:ext cx="1002" cy="4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Line 18"/>
            <p:cNvSpPr>
              <a:spLocks noChangeShapeType="1"/>
            </p:cNvSpPr>
            <p:nvPr/>
          </p:nvSpPr>
          <p:spPr bwMode="auto">
            <a:xfrm>
              <a:off x="2834" y="845"/>
              <a:ext cx="272" cy="0"/>
            </a:xfrm>
            <a:prstGeom prst="line">
              <a:avLst/>
            </a:prstGeom>
            <a:noFill/>
            <a:ln w="25400">
              <a:solidFill>
                <a:schemeClr val="tx1"/>
              </a:solidFill>
              <a:round/>
              <a:headEnd/>
              <a:tailEnd type="triangle" w="med" len="med"/>
            </a:ln>
            <a:effectLst/>
          </p:spPr>
          <p:txBody>
            <a:bodyPr/>
            <a:lstStyle/>
            <a:p>
              <a:endParaRPr lang="es-AR" dirty="0"/>
            </a:p>
          </p:txBody>
        </p:sp>
        <p:graphicFrame>
          <p:nvGraphicFramePr>
            <p:cNvPr id="39" name="Object 20"/>
            <p:cNvGraphicFramePr>
              <a:graphicFrameLocks noChangeAspect="1"/>
            </p:cNvGraphicFramePr>
            <p:nvPr/>
          </p:nvGraphicFramePr>
          <p:xfrm>
            <a:off x="1927" y="754"/>
            <a:ext cx="776" cy="175"/>
          </p:xfrm>
          <a:graphic>
            <a:graphicData uri="http://schemas.openxmlformats.org/presentationml/2006/ole">
              <mc:AlternateContent xmlns:mc="http://schemas.openxmlformats.org/markup-compatibility/2006">
                <mc:Choice xmlns:v="urn:schemas-microsoft-com:vml" Requires="v">
                  <p:oleObj spid="_x0000_s89126" name="Ecuación" r:id="rId5" imgW="787320" imgH="177480" progId="Equation.3">
                    <p:embed/>
                  </p:oleObj>
                </mc:Choice>
                <mc:Fallback>
                  <p:oleObj name="Ecuación" r:id="rId5" imgW="787320" imgH="177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7" y="754"/>
                          <a:ext cx="776" cy="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Line 21"/>
            <p:cNvSpPr>
              <a:spLocks noChangeShapeType="1"/>
            </p:cNvSpPr>
            <p:nvPr/>
          </p:nvSpPr>
          <p:spPr bwMode="auto">
            <a:xfrm>
              <a:off x="4377" y="845"/>
              <a:ext cx="590" cy="0"/>
            </a:xfrm>
            <a:prstGeom prst="line">
              <a:avLst/>
            </a:prstGeom>
            <a:noFill/>
            <a:ln w="25400">
              <a:solidFill>
                <a:schemeClr val="tx1"/>
              </a:solidFill>
              <a:round/>
              <a:headEnd/>
              <a:tailEnd type="triangle" w="med" len="med"/>
            </a:ln>
            <a:effectLst/>
          </p:spPr>
          <p:txBody>
            <a:bodyPr/>
            <a:lstStyle/>
            <a:p>
              <a:endParaRPr lang="es-AR" dirty="0"/>
            </a:p>
          </p:txBody>
        </p:sp>
        <p:sp>
          <p:nvSpPr>
            <p:cNvPr id="41" name="AutoShape 22"/>
            <p:cNvSpPr>
              <a:spLocks noChangeArrowheads="1"/>
            </p:cNvSpPr>
            <p:nvPr/>
          </p:nvSpPr>
          <p:spPr bwMode="auto">
            <a:xfrm>
              <a:off x="930" y="619"/>
              <a:ext cx="499" cy="453"/>
            </a:xfrm>
            <a:prstGeom prst="flowChartSummingJunction">
              <a:avLst/>
            </a:prstGeom>
            <a:solidFill>
              <a:schemeClr val="accent1"/>
            </a:solidFill>
            <a:ln w="25400">
              <a:solidFill>
                <a:schemeClr val="tx1"/>
              </a:solidFill>
              <a:round/>
              <a:headEnd/>
              <a:tailEnd/>
            </a:ln>
            <a:effectLst/>
          </p:spPr>
          <p:txBody>
            <a:bodyPr wrap="none" anchor="ctr"/>
            <a:lstStyle/>
            <a:p>
              <a:endParaRPr lang="es-AR" dirty="0"/>
            </a:p>
          </p:txBody>
        </p:sp>
        <p:graphicFrame>
          <p:nvGraphicFramePr>
            <p:cNvPr id="42" name="Object 23"/>
            <p:cNvGraphicFramePr>
              <a:graphicFrameLocks noChangeAspect="1"/>
            </p:cNvGraphicFramePr>
            <p:nvPr/>
          </p:nvGraphicFramePr>
          <p:xfrm>
            <a:off x="1111" y="936"/>
            <a:ext cx="136" cy="48"/>
          </p:xfrm>
          <a:graphic>
            <a:graphicData uri="http://schemas.openxmlformats.org/presentationml/2006/ole">
              <mc:AlternateContent xmlns:mc="http://schemas.openxmlformats.org/markup-compatibility/2006">
                <mc:Choice xmlns:v="urn:schemas-microsoft-com:vml" Requires="v">
                  <p:oleObj spid="_x0000_s89127" name="Ecuación" r:id="rId7" imgW="215640" imgH="75960" progId="Equation.3">
                    <p:embed/>
                  </p:oleObj>
                </mc:Choice>
                <mc:Fallback>
                  <p:oleObj name="Ecuación" r:id="rId7" imgW="215640" imgH="7596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1" y="936"/>
                          <a:ext cx="136" cy="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24"/>
            <p:cNvGraphicFramePr>
              <a:graphicFrameLocks noChangeAspect="1"/>
            </p:cNvGraphicFramePr>
            <p:nvPr/>
          </p:nvGraphicFramePr>
          <p:xfrm>
            <a:off x="975" y="755"/>
            <a:ext cx="136" cy="136"/>
          </p:xfrm>
          <a:graphic>
            <a:graphicData uri="http://schemas.openxmlformats.org/presentationml/2006/ole">
              <mc:AlternateContent xmlns:mc="http://schemas.openxmlformats.org/markup-compatibility/2006">
                <mc:Choice xmlns:v="urn:schemas-microsoft-com:vml" Requires="v">
                  <p:oleObj spid="_x0000_s89128" name="Ecuación" r:id="rId9" imgW="215640" imgH="215640" progId="Equation.3">
                    <p:embed/>
                  </p:oleObj>
                </mc:Choice>
                <mc:Fallback>
                  <p:oleObj name="Ecuación" r:id="rId9" imgW="215640" imgH="2156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755"/>
                          <a:ext cx="136" cy="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Line 25"/>
            <p:cNvSpPr>
              <a:spLocks noChangeShapeType="1"/>
            </p:cNvSpPr>
            <p:nvPr/>
          </p:nvSpPr>
          <p:spPr bwMode="auto">
            <a:xfrm flipV="1">
              <a:off x="1156" y="1072"/>
              <a:ext cx="0" cy="408"/>
            </a:xfrm>
            <a:prstGeom prst="line">
              <a:avLst/>
            </a:prstGeom>
            <a:noFill/>
            <a:ln w="25400">
              <a:solidFill>
                <a:schemeClr val="tx1"/>
              </a:solidFill>
              <a:round/>
              <a:headEnd/>
              <a:tailEnd type="triangle" w="med" len="med"/>
            </a:ln>
            <a:effectLst/>
          </p:spPr>
          <p:txBody>
            <a:bodyPr/>
            <a:lstStyle/>
            <a:p>
              <a:endParaRPr lang="es-AR" dirty="0"/>
            </a:p>
          </p:txBody>
        </p:sp>
        <p:sp>
          <p:nvSpPr>
            <p:cNvPr id="45" name="Line 26"/>
            <p:cNvSpPr>
              <a:spLocks noChangeShapeType="1"/>
            </p:cNvSpPr>
            <p:nvPr/>
          </p:nvSpPr>
          <p:spPr bwMode="auto">
            <a:xfrm>
              <a:off x="1156" y="1480"/>
              <a:ext cx="3493" cy="0"/>
            </a:xfrm>
            <a:prstGeom prst="line">
              <a:avLst/>
            </a:prstGeom>
            <a:noFill/>
            <a:ln w="25400">
              <a:solidFill>
                <a:schemeClr val="tx1"/>
              </a:solidFill>
              <a:round/>
              <a:headEnd/>
              <a:tailEnd/>
            </a:ln>
            <a:effectLst/>
          </p:spPr>
          <p:txBody>
            <a:bodyPr/>
            <a:lstStyle/>
            <a:p>
              <a:endParaRPr lang="es-AR" dirty="0"/>
            </a:p>
          </p:txBody>
        </p:sp>
        <p:sp>
          <p:nvSpPr>
            <p:cNvPr id="46" name="Line 27"/>
            <p:cNvSpPr>
              <a:spLocks noChangeShapeType="1"/>
            </p:cNvSpPr>
            <p:nvPr/>
          </p:nvSpPr>
          <p:spPr bwMode="auto">
            <a:xfrm>
              <a:off x="4649" y="845"/>
              <a:ext cx="0" cy="635"/>
            </a:xfrm>
            <a:prstGeom prst="line">
              <a:avLst/>
            </a:prstGeom>
            <a:noFill/>
            <a:ln w="25400">
              <a:solidFill>
                <a:schemeClr val="tx1"/>
              </a:solidFill>
              <a:round/>
              <a:headEnd/>
              <a:tailEnd/>
            </a:ln>
            <a:effectLst/>
          </p:spPr>
          <p:txBody>
            <a:bodyPr/>
            <a:lstStyle/>
            <a:p>
              <a:endParaRPr lang="es-AR" dirty="0"/>
            </a:p>
          </p:txBody>
        </p:sp>
        <p:graphicFrame>
          <p:nvGraphicFramePr>
            <p:cNvPr id="47" name="Object 20"/>
            <p:cNvGraphicFramePr>
              <a:graphicFrameLocks noChangeAspect="1"/>
            </p:cNvGraphicFramePr>
            <p:nvPr/>
          </p:nvGraphicFramePr>
          <p:xfrm>
            <a:off x="3497" y="1105"/>
            <a:ext cx="450" cy="200"/>
          </p:xfrm>
          <a:graphic>
            <a:graphicData uri="http://schemas.openxmlformats.org/presentationml/2006/ole">
              <mc:AlternateContent xmlns:mc="http://schemas.openxmlformats.org/markup-compatibility/2006">
                <mc:Choice xmlns:v="urn:schemas-microsoft-com:vml" Requires="v">
                  <p:oleObj spid="_x0000_s89129" name="Ecuación" r:id="rId11" imgW="457200" imgH="203040" progId="Equation.3">
                    <p:embed/>
                  </p:oleObj>
                </mc:Choice>
                <mc:Fallback>
                  <p:oleObj name="Ecuación" r:id="rId11" imgW="457200" imgH="20304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7" y="1105"/>
                          <a:ext cx="450"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a:ln>
                  <a:noFill/>
                </a:ln>
                <a:solidFill>
                  <a:schemeClr val="tx1"/>
                </a:solidFill>
                <a:effectLst/>
                <a:uLnTx/>
                <a:uFillTx/>
                <a:latin typeface="+mj-lt"/>
                <a:ea typeface="+mj-ea"/>
                <a:cs typeface="+mj-cs"/>
              </a:rPr>
              <a:t>Primer método de ZN</a:t>
            </a:r>
            <a:endParaRPr kumimoji="0" lang="es-ES_tradnl"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6" name="Object 6"/>
          <p:cNvGraphicFramePr>
            <a:graphicFrameLocks noChangeAspect="1"/>
          </p:cNvGraphicFramePr>
          <p:nvPr/>
        </p:nvGraphicFramePr>
        <p:xfrm>
          <a:off x="2051720" y="3140968"/>
          <a:ext cx="5491163" cy="3314700"/>
        </p:xfrm>
        <a:graphic>
          <a:graphicData uri="http://schemas.openxmlformats.org/presentationml/2006/ole">
            <mc:AlternateContent xmlns:mc="http://schemas.openxmlformats.org/markup-compatibility/2006">
              <mc:Choice xmlns:v="urn:schemas-microsoft-com:vml" Requires="v">
                <p:oleObj spid="_x0000_s90121" name="Imagen de mapa de bits" r:id="rId3" imgW="4734586" imgH="2857899" progId="PBrush">
                  <p:embed/>
                </p:oleObj>
              </mc:Choice>
              <mc:Fallback>
                <p:oleObj name="Imagen de mapa de bits" r:id="rId3" imgW="4734586" imgH="2857899"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140968"/>
                        <a:ext cx="5491163"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6 CuadroTexto"/>
          <p:cNvSpPr txBox="1"/>
          <p:nvPr/>
        </p:nvSpPr>
        <p:spPr>
          <a:xfrm>
            <a:off x="971600" y="1556792"/>
            <a:ext cx="7488832" cy="1200329"/>
          </a:xfrm>
          <a:prstGeom prst="rect">
            <a:avLst/>
          </a:prstGeom>
          <a:noFill/>
        </p:spPr>
        <p:txBody>
          <a:bodyPr wrap="square" rtlCol="0">
            <a:spAutoFit/>
          </a:bodyPr>
          <a:lstStyle/>
          <a:p>
            <a:r>
              <a:rPr lang="es-ES_tradnl" sz="2400" dirty="0">
                <a:latin typeface="Times New Roman" pitchFamily="18" charset="0"/>
                <a:cs typeface="Times New Roman" pitchFamily="18" charset="0"/>
              </a:rPr>
              <a:t>Debido a la presencia de un integrador, no se aplica el primer método, ya que la respuesta al escalón no tiene forma de S.</a:t>
            </a:r>
            <a:endParaRPr lang="es-AR" sz="2400" dirty="0">
              <a:latin typeface="Times New Roman" pitchFamily="18" charset="0"/>
              <a:cs typeface="Times New Roman" pitchFamily="18" charset="0"/>
            </a:endParaRPr>
          </a:p>
        </p:txBody>
      </p:sp>
      <p:sp>
        <p:nvSpPr>
          <p:cNvPr id="5"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9" name="Object 5"/>
          <p:cNvGraphicFramePr>
            <a:graphicFrameLocks noChangeAspect="1"/>
          </p:cNvGraphicFramePr>
          <p:nvPr/>
        </p:nvGraphicFramePr>
        <p:xfrm>
          <a:off x="1907704" y="2564904"/>
          <a:ext cx="5005388" cy="2773363"/>
        </p:xfrm>
        <a:graphic>
          <a:graphicData uri="http://schemas.openxmlformats.org/presentationml/2006/ole">
            <mc:AlternateContent xmlns:mc="http://schemas.openxmlformats.org/markup-compatibility/2006">
              <mc:Choice xmlns:v="urn:schemas-microsoft-com:vml" Requires="v">
                <p:oleObj spid="_x0000_s91145" name="Ecuación" r:id="rId3" imgW="2108160" imgH="1396800" progId="Equation.3">
                  <p:embed/>
                </p:oleObj>
              </mc:Choice>
              <mc:Fallback>
                <p:oleObj name="Ecuación" r:id="rId3" imgW="2108160" imgH="1396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564904"/>
                        <a:ext cx="5005388" cy="2773363"/>
                      </a:xfrm>
                      <a:prstGeom prst="rect">
                        <a:avLst/>
                      </a:prstGeom>
                      <a:solidFill>
                        <a:srgbClr val="CCECFF"/>
                      </a:solidFill>
                    </p:spPr>
                  </p:pic>
                </p:oleObj>
              </mc:Fallback>
            </mc:AlternateContent>
          </a:graphicData>
        </a:graphic>
      </p:graphicFrame>
      <p:sp>
        <p:nvSpPr>
          <p:cNvPr id="7" name="6 CuadroTexto"/>
          <p:cNvSpPr txBox="1"/>
          <p:nvPr/>
        </p:nvSpPr>
        <p:spPr>
          <a:xfrm>
            <a:off x="899592" y="1268760"/>
            <a:ext cx="7632848" cy="1200329"/>
          </a:xfrm>
          <a:prstGeom prst="rect">
            <a:avLst/>
          </a:prstGeom>
          <a:noFill/>
        </p:spPr>
        <p:txBody>
          <a:bodyPr wrap="square" rtlCol="0">
            <a:spAutoFit/>
          </a:bodyPr>
          <a:lstStyle/>
          <a:p>
            <a:r>
              <a:rPr lang="es-ES_tradnl" sz="2400" dirty="0">
                <a:latin typeface="Times New Roman" pitchFamily="18" charset="0"/>
                <a:cs typeface="Times New Roman" pitchFamily="18" charset="0"/>
              </a:rPr>
              <a:t>Aplicando el segundo método, el sistema en lazo cerrado con control proporcional nunca oscila para ninguna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y esto se demuestra con el método de </a:t>
            </a:r>
            <a:r>
              <a:rPr lang="es-ES_tradnl" sz="2400" dirty="0" err="1">
                <a:latin typeface="Times New Roman" pitchFamily="18" charset="0"/>
                <a:cs typeface="Times New Roman" pitchFamily="18" charset="0"/>
              </a:rPr>
              <a:t>Routh-Hourwitz</a:t>
            </a:r>
            <a:r>
              <a:rPr lang="es-ES_tradnl" sz="2400" dirty="0">
                <a:latin typeface="Times New Roman" pitchFamily="18" charset="0"/>
                <a:cs typeface="Times New Roman" pitchFamily="18" charset="0"/>
              </a:rPr>
              <a:t>.</a:t>
            </a:r>
            <a:endParaRPr lang="es-AR" sz="2400" dirty="0">
              <a:latin typeface="Times New Roman" pitchFamily="18" charset="0"/>
              <a:cs typeface="Times New Roman" pitchFamily="18" charset="0"/>
            </a:endParaRPr>
          </a:p>
        </p:txBody>
      </p:sp>
      <p:sp>
        <p:nvSpPr>
          <p:cNvPr id="9" name="8 Rectángulo"/>
          <p:cNvSpPr/>
          <p:nvPr/>
        </p:nvSpPr>
        <p:spPr>
          <a:xfrm>
            <a:off x="899592" y="5517232"/>
            <a:ext cx="7560840" cy="830997"/>
          </a:xfrm>
          <a:prstGeom prst="rect">
            <a:avLst/>
          </a:prstGeom>
        </p:spPr>
        <p:txBody>
          <a:bodyPr wrap="square">
            <a:spAutoFit/>
          </a:bodyPr>
          <a:lstStyle/>
          <a:p>
            <a:r>
              <a:rPr lang="es-ES_tradnl" sz="2400" dirty="0">
                <a:latin typeface="Times New Roman" pitchFamily="18" charset="0"/>
                <a:cs typeface="Times New Roman" pitchFamily="18" charset="0"/>
              </a:rPr>
              <a:t>Los coeficientes de la primera columna son positivos para todos los valores de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&gt;0.</a:t>
            </a:r>
            <a:endParaRPr lang="es-AR" sz="2400" dirty="0">
              <a:latin typeface="Times New Roman" pitchFamily="18" charset="0"/>
              <a:cs typeface="Times New Roman" pitchFamily="18" charset="0"/>
            </a:endParaRPr>
          </a:p>
        </p:txBody>
      </p:sp>
      <p:sp>
        <p:nvSpPr>
          <p:cNvPr id="10" name="Rectangle 2"/>
          <p:cNvSpPr>
            <a:spLocks noGrp="1" noChangeArrowheads="1"/>
          </p:cNvSpPr>
          <p:nvPr>
            <p:ph type="title"/>
          </p:nvPr>
        </p:nvSpPr>
        <p:spPr>
          <a:xfrm>
            <a:off x="457200" y="274638"/>
            <a:ext cx="8229600" cy="1143000"/>
          </a:xfrm>
        </p:spPr>
        <p:txBody>
          <a:bodyPr>
            <a:normAutofit/>
          </a:bodyPr>
          <a:lstStyle/>
          <a:p>
            <a:pPr algn="ctr"/>
            <a:r>
              <a:rPr lang="es-ES_tradnl" dirty="0"/>
              <a:t>Primer método de ZN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274638"/>
            <a:ext cx="8229600" cy="1143000"/>
          </a:xfrm>
        </p:spPr>
        <p:txBody>
          <a:bodyPr>
            <a:normAutofit/>
          </a:bodyPr>
          <a:lstStyle/>
          <a:p>
            <a:pPr algn="ctr"/>
            <a:r>
              <a:rPr lang="es-ES_tradnl" dirty="0"/>
              <a:t>Segundo método de ZN</a:t>
            </a:r>
          </a:p>
        </p:txBody>
      </p:sp>
      <p:sp>
        <p:nvSpPr>
          <p:cNvPr id="6" name="5 CuadroTexto"/>
          <p:cNvSpPr txBox="1"/>
          <p:nvPr/>
        </p:nvSpPr>
        <p:spPr>
          <a:xfrm>
            <a:off x="395536" y="1340768"/>
            <a:ext cx="8280920" cy="2308324"/>
          </a:xfrm>
          <a:prstGeom prst="rect">
            <a:avLst/>
          </a:prstGeom>
          <a:noFill/>
        </p:spPr>
        <p:txBody>
          <a:bodyPr wrap="square" rtlCol="0">
            <a:spAutoFit/>
          </a:bodyPr>
          <a:lstStyle/>
          <a:p>
            <a:r>
              <a:rPr lang="es-ES_tradnl" sz="2400" dirty="0">
                <a:latin typeface="Times New Roman" pitchFamily="18" charset="0"/>
                <a:cs typeface="Times New Roman" pitchFamily="18" charset="0"/>
              </a:rPr>
              <a:t>El segundo método, consiste sólo en usar temporalmente la parte proporcional del PID. Se varia la ganancia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desde 0 hasta un valor critico </a:t>
            </a:r>
            <a:r>
              <a:rPr lang="es-ES_tradnl" sz="2400" dirty="0" err="1">
                <a:latin typeface="Times New Roman" pitchFamily="18" charset="0"/>
                <a:cs typeface="Times New Roman" pitchFamily="18" charset="0"/>
              </a:rPr>
              <a:t>Kcr</a:t>
            </a:r>
            <a:r>
              <a:rPr lang="es-ES_tradnl" sz="2400" dirty="0">
                <a:latin typeface="Times New Roman" pitchFamily="18" charset="0"/>
                <a:cs typeface="Times New Roman" pitchFamily="18" charset="0"/>
              </a:rPr>
              <a:t> (ganancia critica) en donde la salida exhibe oscilaciones sostenidas </a:t>
            </a:r>
            <a:r>
              <a:rPr lang="es-MX" sz="2400" dirty="0">
                <a:latin typeface="Times New Roman" pitchFamily="18" charset="0"/>
                <a:cs typeface="Times New Roman" pitchFamily="18" charset="0"/>
              </a:rPr>
              <a:t>que corresponde a un periodo crítico </a:t>
            </a:r>
            <a:r>
              <a:rPr lang="es-MX" sz="2400" dirty="0" err="1">
                <a:latin typeface="Times New Roman" pitchFamily="18" charset="0"/>
                <a:cs typeface="Times New Roman" pitchFamily="18" charset="0"/>
              </a:rPr>
              <a:t>Pcr.</a:t>
            </a:r>
            <a:r>
              <a:rPr lang="es-MX" sz="2400" dirty="0">
                <a:latin typeface="Times New Roman" pitchFamily="18" charset="0"/>
                <a:cs typeface="Times New Roman" pitchFamily="18" charset="0"/>
              </a:rPr>
              <a:t> </a:t>
            </a:r>
            <a:r>
              <a:rPr lang="es-ES_tradnl" sz="2400" dirty="0">
                <a:latin typeface="Times New Roman" pitchFamily="18" charset="0"/>
                <a:cs typeface="Times New Roman" pitchFamily="18" charset="0"/>
              </a:rPr>
              <a:t>Si la salida no presenta oscilaciones sostenidas para cualquier valor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no se usa este método.</a:t>
            </a:r>
            <a:endParaRPr lang="es-AR" sz="2400" dirty="0">
              <a:latin typeface="Times New Roman" pitchFamily="18" charset="0"/>
              <a:cs typeface="Times New Roman" pitchFamily="18" charset="0"/>
            </a:endParaRPr>
          </a:p>
        </p:txBody>
      </p:sp>
      <p:grpSp>
        <p:nvGrpSpPr>
          <p:cNvPr id="9" name="8 Grupo"/>
          <p:cNvGrpSpPr/>
          <p:nvPr/>
        </p:nvGrpSpPr>
        <p:grpSpPr>
          <a:xfrm>
            <a:off x="1907704" y="3789040"/>
            <a:ext cx="5544616" cy="2736304"/>
            <a:chOff x="1876425" y="3500438"/>
            <a:chExt cx="5216525" cy="2519362"/>
          </a:xfrm>
        </p:grpSpPr>
        <p:sp>
          <p:nvSpPr>
            <p:cNvPr id="10" name="Line 78"/>
            <p:cNvSpPr>
              <a:spLocks noChangeShapeType="1"/>
            </p:cNvSpPr>
            <p:nvPr/>
          </p:nvSpPr>
          <p:spPr bwMode="auto">
            <a:xfrm flipV="1">
              <a:off x="2236788" y="3500438"/>
              <a:ext cx="0" cy="2519362"/>
            </a:xfrm>
            <a:prstGeom prst="line">
              <a:avLst/>
            </a:prstGeom>
            <a:noFill/>
            <a:ln w="25400">
              <a:solidFill>
                <a:schemeClr val="tx1"/>
              </a:solidFill>
              <a:round/>
              <a:headEnd/>
              <a:tailEnd type="triangle" w="med" len="med"/>
            </a:ln>
            <a:effectLst/>
          </p:spPr>
          <p:txBody>
            <a:bodyPr/>
            <a:lstStyle/>
            <a:p>
              <a:endParaRPr lang="es-AR"/>
            </a:p>
          </p:txBody>
        </p:sp>
        <p:sp>
          <p:nvSpPr>
            <p:cNvPr id="11" name="Line 79"/>
            <p:cNvSpPr>
              <a:spLocks noChangeShapeType="1"/>
            </p:cNvSpPr>
            <p:nvPr/>
          </p:nvSpPr>
          <p:spPr bwMode="auto">
            <a:xfrm>
              <a:off x="1876425" y="4868863"/>
              <a:ext cx="5184775" cy="0"/>
            </a:xfrm>
            <a:prstGeom prst="line">
              <a:avLst/>
            </a:prstGeom>
            <a:noFill/>
            <a:ln w="25400">
              <a:solidFill>
                <a:schemeClr val="tx1"/>
              </a:solidFill>
              <a:round/>
              <a:headEnd/>
              <a:tailEnd type="triangle" w="med" len="med"/>
            </a:ln>
            <a:effectLst/>
          </p:spPr>
          <p:txBody>
            <a:bodyPr/>
            <a:lstStyle/>
            <a:p>
              <a:endParaRPr lang="es-AR"/>
            </a:p>
          </p:txBody>
        </p:sp>
        <p:sp>
          <p:nvSpPr>
            <p:cNvPr id="12" name="Line 80"/>
            <p:cNvSpPr>
              <a:spLocks noChangeShapeType="1"/>
            </p:cNvSpPr>
            <p:nvPr/>
          </p:nvSpPr>
          <p:spPr bwMode="auto">
            <a:xfrm>
              <a:off x="4902200" y="3787775"/>
              <a:ext cx="0" cy="574675"/>
            </a:xfrm>
            <a:prstGeom prst="line">
              <a:avLst/>
            </a:prstGeom>
            <a:noFill/>
            <a:ln w="9525">
              <a:solidFill>
                <a:srgbClr val="808080"/>
              </a:solidFill>
              <a:prstDash val="dash"/>
              <a:round/>
              <a:headEnd/>
              <a:tailEnd/>
            </a:ln>
            <a:effectLst/>
          </p:spPr>
          <p:txBody>
            <a:bodyPr/>
            <a:lstStyle/>
            <a:p>
              <a:endParaRPr lang="es-AR"/>
            </a:p>
          </p:txBody>
        </p:sp>
        <p:sp>
          <p:nvSpPr>
            <p:cNvPr id="13" name="Freeform 81"/>
            <p:cNvSpPr>
              <a:spLocks/>
            </p:cNvSpPr>
            <p:nvPr/>
          </p:nvSpPr>
          <p:spPr bwMode="auto">
            <a:xfrm>
              <a:off x="2381250" y="4292600"/>
              <a:ext cx="1009650" cy="576263"/>
            </a:xfrm>
            <a:custGeom>
              <a:avLst/>
              <a:gdLst/>
              <a:ahLst/>
              <a:cxnLst>
                <a:cxn ang="0">
                  <a:pos x="0" y="522"/>
                </a:cxn>
                <a:cxn ang="0">
                  <a:pos x="136" y="159"/>
                </a:cxn>
                <a:cxn ang="0">
                  <a:pos x="318" y="23"/>
                </a:cxn>
                <a:cxn ang="0">
                  <a:pos x="499" y="23"/>
                </a:cxn>
                <a:cxn ang="0">
                  <a:pos x="635" y="114"/>
                </a:cxn>
                <a:cxn ang="0">
                  <a:pos x="771" y="386"/>
                </a:cxn>
                <a:cxn ang="0">
                  <a:pos x="817" y="522"/>
                </a:cxn>
              </a:cxnLst>
              <a:rect l="0" t="0" r="r" b="b"/>
              <a:pathLst>
                <a:path w="817" h="522">
                  <a:moveTo>
                    <a:pt x="0" y="522"/>
                  </a:moveTo>
                  <a:cubicBezTo>
                    <a:pt x="41" y="382"/>
                    <a:pt x="83" y="242"/>
                    <a:pt x="136" y="159"/>
                  </a:cubicBezTo>
                  <a:cubicBezTo>
                    <a:pt x="189" y="76"/>
                    <a:pt x="257" y="46"/>
                    <a:pt x="318" y="23"/>
                  </a:cubicBezTo>
                  <a:cubicBezTo>
                    <a:pt x="379" y="0"/>
                    <a:pt x="446" y="8"/>
                    <a:pt x="499" y="23"/>
                  </a:cubicBezTo>
                  <a:cubicBezTo>
                    <a:pt x="552" y="38"/>
                    <a:pt x="590" y="54"/>
                    <a:pt x="635" y="114"/>
                  </a:cubicBezTo>
                  <a:cubicBezTo>
                    <a:pt x="680" y="174"/>
                    <a:pt x="741" y="318"/>
                    <a:pt x="771" y="386"/>
                  </a:cubicBezTo>
                  <a:cubicBezTo>
                    <a:pt x="801" y="454"/>
                    <a:pt x="809" y="499"/>
                    <a:pt x="817" y="522"/>
                  </a:cubicBezTo>
                </a:path>
              </a:pathLst>
            </a:custGeom>
            <a:noFill/>
            <a:ln w="22225" cap="flat" cmpd="sng">
              <a:solidFill>
                <a:schemeClr val="tx1"/>
              </a:solidFill>
              <a:prstDash val="solid"/>
              <a:round/>
              <a:headEnd type="none" w="med" len="med"/>
              <a:tailEnd type="none" w="med" len="med"/>
            </a:ln>
            <a:effectLst/>
          </p:spPr>
          <p:txBody>
            <a:bodyPr/>
            <a:lstStyle/>
            <a:p>
              <a:endParaRPr lang="es-AR"/>
            </a:p>
          </p:txBody>
        </p:sp>
        <p:sp>
          <p:nvSpPr>
            <p:cNvPr id="14" name="Freeform 82"/>
            <p:cNvSpPr>
              <a:spLocks/>
            </p:cNvSpPr>
            <p:nvPr/>
          </p:nvSpPr>
          <p:spPr bwMode="auto">
            <a:xfrm flipV="1">
              <a:off x="3389313" y="4868863"/>
              <a:ext cx="1009650" cy="576262"/>
            </a:xfrm>
            <a:custGeom>
              <a:avLst/>
              <a:gdLst/>
              <a:ahLst/>
              <a:cxnLst>
                <a:cxn ang="0">
                  <a:pos x="0" y="522"/>
                </a:cxn>
                <a:cxn ang="0">
                  <a:pos x="136" y="159"/>
                </a:cxn>
                <a:cxn ang="0">
                  <a:pos x="318" y="23"/>
                </a:cxn>
                <a:cxn ang="0">
                  <a:pos x="499" y="23"/>
                </a:cxn>
                <a:cxn ang="0">
                  <a:pos x="635" y="114"/>
                </a:cxn>
                <a:cxn ang="0">
                  <a:pos x="771" y="386"/>
                </a:cxn>
                <a:cxn ang="0">
                  <a:pos x="817" y="522"/>
                </a:cxn>
              </a:cxnLst>
              <a:rect l="0" t="0" r="r" b="b"/>
              <a:pathLst>
                <a:path w="817" h="522">
                  <a:moveTo>
                    <a:pt x="0" y="522"/>
                  </a:moveTo>
                  <a:cubicBezTo>
                    <a:pt x="41" y="382"/>
                    <a:pt x="83" y="242"/>
                    <a:pt x="136" y="159"/>
                  </a:cubicBezTo>
                  <a:cubicBezTo>
                    <a:pt x="189" y="76"/>
                    <a:pt x="257" y="46"/>
                    <a:pt x="318" y="23"/>
                  </a:cubicBezTo>
                  <a:cubicBezTo>
                    <a:pt x="379" y="0"/>
                    <a:pt x="446" y="8"/>
                    <a:pt x="499" y="23"/>
                  </a:cubicBezTo>
                  <a:cubicBezTo>
                    <a:pt x="552" y="38"/>
                    <a:pt x="590" y="54"/>
                    <a:pt x="635" y="114"/>
                  </a:cubicBezTo>
                  <a:cubicBezTo>
                    <a:pt x="680" y="174"/>
                    <a:pt x="741" y="318"/>
                    <a:pt x="771" y="386"/>
                  </a:cubicBezTo>
                  <a:cubicBezTo>
                    <a:pt x="801" y="454"/>
                    <a:pt x="809" y="499"/>
                    <a:pt x="817" y="522"/>
                  </a:cubicBezTo>
                </a:path>
              </a:pathLst>
            </a:custGeom>
            <a:noFill/>
            <a:ln w="25400" cap="flat" cmpd="sng">
              <a:solidFill>
                <a:schemeClr val="tx1"/>
              </a:solidFill>
              <a:prstDash val="solid"/>
              <a:round/>
              <a:headEnd type="none" w="med" len="med"/>
              <a:tailEnd type="none" w="med" len="med"/>
            </a:ln>
            <a:effectLst/>
          </p:spPr>
          <p:txBody>
            <a:bodyPr/>
            <a:lstStyle/>
            <a:p>
              <a:endParaRPr lang="es-AR"/>
            </a:p>
          </p:txBody>
        </p:sp>
        <p:sp>
          <p:nvSpPr>
            <p:cNvPr id="15" name="Freeform 83"/>
            <p:cNvSpPr>
              <a:spLocks/>
            </p:cNvSpPr>
            <p:nvPr/>
          </p:nvSpPr>
          <p:spPr bwMode="auto">
            <a:xfrm>
              <a:off x="4397375" y="4329113"/>
              <a:ext cx="1009650" cy="576262"/>
            </a:xfrm>
            <a:custGeom>
              <a:avLst/>
              <a:gdLst/>
              <a:ahLst/>
              <a:cxnLst>
                <a:cxn ang="0">
                  <a:pos x="0" y="522"/>
                </a:cxn>
                <a:cxn ang="0">
                  <a:pos x="136" y="159"/>
                </a:cxn>
                <a:cxn ang="0">
                  <a:pos x="318" y="23"/>
                </a:cxn>
                <a:cxn ang="0">
                  <a:pos x="499" y="23"/>
                </a:cxn>
                <a:cxn ang="0">
                  <a:pos x="635" y="114"/>
                </a:cxn>
                <a:cxn ang="0">
                  <a:pos x="771" y="386"/>
                </a:cxn>
                <a:cxn ang="0">
                  <a:pos x="817" y="522"/>
                </a:cxn>
              </a:cxnLst>
              <a:rect l="0" t="0" r="r" b="b"/>
              <a:pathLst>
                <a:path w="817" h="522">
                  <a:moveTo>
                    <a:pt x="0" y="522"/>
                  </a:moveTo>
                  <a:cubicBezTo>
                    <a:pt x="41" y="382"/>
                    <a:pt x="83" y="242"/>
                    <a:pt x="136" y="159"/>
                  </a:cubicBezTo>
                  <a:cubicBezTo>
                    <a:pt x="189" y="76"/>
                    <a:pt x="257" y="46"/>
                    <a:pt x="318" y="23"/>
                  </a:cubicBezTo>
                  <a:cubicBezTo>
                    <a:pt x="379" y="0"/>
                    <a:pt x="446" y="8"/>
                    <a:pt x="499" y="23"/>
                  </a:cubicBezTo>
                  <a:cubicBezTo>
                    <a:pt x="552" y="38"/>
                    <a:pt x="590" y="54"/>
                    <a:pt x="635" y="114"/>
                  </a:cubicBezTo>
                  <a:cubicBezTo>
                    <a:pt x="680" y="174"/>
                    <a:pt x="741" y="318"/>
                    <a:pt x="771" y="386"/>
                  </a:cubicBezTo>
                  <a:cubicBezTo>
                    <a:pt x="801" y="454"/>
                    <a:pt x="809" y="499"/>
                    <a:pt x="817" y="522"/>
                  </a:cubicBezTo>
                </a:path>
              </a:pathLst>
            </a:custGeom>
            <a:noFill/>
            <a:ln w="22225" cap="flat" cmpd="sng">
              <a:solidFill>
                <a:schemeClr val="tx1"/>
              </a:solidFill>
              <a:prstDash val="solid"/>
              <a:round/>
              <a:headEnd type="none" w="med" len="med"/>
              <a:tailEnd type="none" w="med" len="med"/>
            </a:ln>
            <a:effectLst/>
          </p:spPr>
          <p:txBody>
            <a:bodyPr/>
            <a:lstStyle/>
            <a:p>
              <a:endParaRPr lang="es-AR"/>
            </a:p>
          </p:txBody>
        </p:sp>
        <p:sp>
          <p:nvSpPr>
            <p:cNvPr id="16" name="Freeform 84"/>
            <p:cNvSpPr>
              <a:spLocks/>
            </p:cNvSpPr>
            <p:nvPr/>
          </p:nvSpPr>
          <p:spPr bwMode="auto">
            <a:xfrm flipV="1">
              <a:off x="5405438" y="4868863"/>
              <a:ext cx="1009650" cy="576262"/>
            </a:xfrm>
            <a:custGeom>
              <a:avLst/>
              <a:gdLst/>
              <a:ahLst/>
              <a:cxnLst>
                <a:cxn ang="0">
                  <a:pos x="0" y="522"/>
                </a:cxn>
                <a:cxn ang="0">
                  <a:pos x="136" y="159"/>
                </a:cxn>
                <a:cxn ang="0">
                  <a:pos x="318" y="23"/>
                </a:cxn>
                <a:cxn ang="0">
                  <a:pos x="499" y="23"/>
                </a:cxn>
                <a:cxn ang="0">
                  <a:pos x="635" y="114"/>
                </a:cxn>
                <a:cxn ang="0">
                  <a:pos x="771" y="386"/>
                </a:cxn>
                <a:cxn ang="0">
                  <a:pos x="817" y="522"/>
                </a:cxn>
              </a:cxnLst>
              <a:rect l="0" t="0" r="r" b="b"/>
              <a:pathLst>
                <a:path w="817" h="522">
                  <a:moveTo>
                    <a:pt x="0" y="522"/>
                  </a:moveTo>
                  <a:cubicBezTo>
                    <a:pt x="41" y="382"/>
                    <a:pt x="83" y="242"/>
                    <a:pt x="136" y="159"/>
                  </a:cubicBezTo>
                  <a:cubicBezTo>
                    <a:pt x="189" y="76"/>
                    <a:pt x="257" y="46"/>
                    <a:pt x="318" y="23"/>
                  </a:cubicBezTo>
                  <a:cubicBezTo>
                    <a:pt x="379" y="0"/>
                    <a:pt x="446" y="8"/>
                    <a:pt x="499" y="23"/>
                  </a:cubicBezTo>
                  <a:cubicBezTo>
                    <a:pt x="552" y="38"/>
                    <a:pt x="590" y="54"/>
                    <a:pt x="635" y="114"/>
                  </a:cubicBezTo>
                  <a:cubicBezTo>
                    <a:pt x="680" y="174"/>
                    <a:pt x="741" y="318"/>
                    <a:pt x="771" y="386"/>
                  </a:cubicBezTo>
                  <a:cubicBezTo>
                    <a:pt x="801" y="454"/>
                    <a:pt x="809" y="499"/>
                    <a:pt x="817" y="522"/>
                  </a:cubicBezTo>
                </a:path>
              </a:pathLst>
            </a:custGeom>
            <a:noFill/>
            <a:ln w="25400" cap="flat" cmpd="sng">
              <a:solidFill>
                <a:schemeClr val="tx1"/>
              </a:solidFill>
              <a:prstDash val="solid"/>
              <a:round/>
              <a:headEnd type="none" w="med" len="med"/>
              <a:tailEnd type="none" w="med" len="med"/>
            </a:ln>
            <a:effectLst/>
          </p:spPr>
          <p:txBody>
            <a:bodyPr/>
            <a:lstStyle/>
            <a:p>
              <a:endParaRPr lang="es-AR"/>
            </a:p>
          </p:txBody>
        </p:sp>
        <p:sp>
          <p:nvSpPr>
            <p:cNvPr id="17" name="Line 85"/>
            <p:cNvSpPr>
              <a:spLocks noChangeShapeType="1"/>
            </p:cNvSpPr>
            <p:nvPr/>
          </p:nvSpPr>
          <p:spPr bwMode="auto">
            <a:xfrm>
              <a:off x="2886075" y="3716338"/>
              <a:ext cx="0" cy="574675"/>
            </a:xfrm>
            <a:prstGeom prst="line">
              <a:avLst/>
            </a:prstGeom>
            <a:noFill/>
            <a:ln w="9525">
              <a:solidFill>
                <a:srgbClr val="808080"/>
              </a:solidFill>
              <a:prstDash val="dash"/>
              <a:round/>
              <a:headEnd/>
              <a:tailEnd/>
            </a:ln>
            <a:effectLst/>
          </p:spPr>
          <p:txBody>
            <a:bodyPr/>
            <a:lstStyle/>
            <a:p>
              <a:endParaRPr lang="es-AR"/>
            </a:p>
          </p:txBody>
        </p:sp>
        <p:sp>
          <p:nvSpPr>
            <p:cNvPr id="18" name="Line 86"/>
            <p:cNvSpPr>
              <a:spLocks noChangeShapeType="1"/>
            </p:cNvSpPr>
            <p:nvPr/>
          </p:nvSpPr>
          <p:spPr bwMode="auto">
            <a:xfrm flipH="1">
              <a:off x="2886075" y="3932238"/>
              <a:ext cx="719138" cy="0"/>
            </a:xfrm>
            <a:prstGeom prst="line">
              <a:avLst/>
            </a:prstGeom>
            <a:noFill/>
            <a:ln w="3175">
              <a:solidFill>
                <a:srgbClr val="808080"/>
              </a:solidFill>
              <a:round/>
              <a:headEnd/>
              <a:tailEnd type="triangle" w="med" len="med"/>
            </a:ln>
            <a:effectLst/>
          </p:spPr>
          <p:txBody>
            <a:bodyPr/>
            <a:lstStyle/>
            <a:p>
              <a:endParaRPr lang="es-AR"/>
            </a:p>
          </p:txBody>
        </p:sp>
        <p:sp>
          <p:nvSpPr>
            <p:cNvPr id="19" name="Line 87"/>
            <p:cNvSpPr>
              <a:spLocks noChangeShapeType="1"/>
            </p:cNvSpPr>
            <p:nvPr/>
          </p:nvSpPr>
          <p:spPr bwMode="auto">
            <a:xfrm>
              <a:off x="4037013" y="3932238"/>
              <a:ext cx="865187" cy="0"/>
            </a:xfrm>
            <a:prstGeom prst="line">
              <a:avLst/>
            </a:prstGeom>
            <a:noFill/>
            <a:ln w="3175">
              <a:solidFill>
                <a:srgbClr val="808080"/>
              </a:solidFill>
              <a:round/>
              <a:headEnd/>
              <a:tailEnd type="triangle" w="med" len="med"/>
            </a:ln>
            <a:effectLst/>
          </p:spPr>
          <p:txBody>
            <a:bodyPr/>
            <a:lstStyle/>
            <a:p>
              <a:endParaRPr lang="es-AR"/>
            </a:p>
          </p:txBody>
        </p:sp>
        <p:graphicFrame>
          <p:nvGraphicFramePr>
            <p:cNvPr id="20" name="Object 88"/>
            <p:cNvGraphicFramePr>
              <a:graphicFrameLocks noChangeAspect="1"/>
            </p:cNvGraphicFramePr>
            <p:nvPr/>
          </p:nvGraphicFramePr>
          <p:xfrm>
            <a:off x="3678238" y="3787775"/>
            <a:ext cx="298450" cy="307975"/>
          </p:xfrm>
          <a:graphic>
            <a:graphicData uri="http://schemas.openxmlformats.org/presentationml/2006/ole">
              <mc:AlternateContent xmlns:mc="http://schemas.openxmlformats.org/markup-compatibility/2006">
                <mc:Choice xmlns:v="urn:schemas-microsoft-com:vml" Requires="v">
                  <p:oleObj spid="_x0000_s51222" name="Ecuación" r:id="rId3" imgW="368280" imgH="380880" progId="Equation.3">
                    <p:embed/>
                  </p:oleObj>
                </mc:Choice>
                <mc:Fallback>
                  <p:oleObj name="Ecuación" r:id="rId3" imgW="368280" imgH="38088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238" y="3787775"/>
                          <a:ext cx="298450"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89"/>
            <p:cNvGraphicFramePr>
              <a:graphicFrameLocks noChangeAspect="1"/>
            </p:cNvGraphicFramePr>
            <p:nvPr/>
          </p:nvGraphicFramePr>
          <p:xfrm>
            <a:off x="6989763" y="4940300"/>
            <a:ext cx="103187" cy="195263"/>
          </p:xfrm>
          <a:graphic>
            <a:graphicData uri="http://schemas.openxmlformats.org/presentationml/2006/ole">
              <mc:AlternateContent xmlns:mc="http://schemas.openxmlformats.org/markup-compatibility/2006">
                <mc:Choice xmlns:v="urn:schemas-microsoft-com:vml" Requires="v">
                  <p:oleObj spid="_x0000_s51223" name="Ecuación" r:id="rId5" imgW="126720" imgH="241200" progId="Equation.3">
                    <p:embed/>
                  </p:oleObj>
                </mc:Choice>
                <mc:Fallback>
                  <p:oleObj name="Ecuación" r:id="rId5" imgW="126720" imgH="24120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9763" y="4940300"/>
                          <a:ext cx="103187" cy="195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90"/>
            <p:cNvGraphicFramePr>
              <a:graphicFrameLocks noChangeAspect="1"/>
            </p:cNvGraphicFramePr>
            <p:nvPr/>
          </p:nvGraphicFramePr>
          <p:xfrm>
            <a:off x="4668838" y="4324350"/>
            <a:ext cx="177800" cy="368300"/>
          </p:xfrm>
          <a:graphic>
            <a:graphicData uri="http://schemas.openxmlformats.org/presentationml/2006/ole">
              <mc:AlternateContent xmlns:mc="http://schemas.openxmlformats.org/markup-compatibility/2006">
                <mc:Choice xmlns:v="urn:schemas-microsoft-com:vml" Requires="v">
                  <p:oleObj spid="_x0000_s51224" name="Ecuación" r:id="rId7" imgW="177480" imgH="368280" progId="Equation.3">
                    <p:embed/>
                  </p:oleObj>
                </mc:Choice>
                <mc:Fallback>
                  <p:oleObj name="Ecuación" r:id="rId7" imgW="177480" imgH="36828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8838" y="4324350"/>
                          <a:ext cx="177800"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Freeform 92"/>
            <p:cNvSpPr>
              <a:spLocks/>
            </p:cNvSpPr>
            <p:nvPr/>
          </p:nvSpPr>
          <p:spPr bwMode="auto">
            <a:xfrm>
              <a:off x="6413500" y="4292600"/>
              <a:ext cx="431800" cy="576263"/>
            </a:xfrm>
            <a:custGeom>
              <a:avLst/>
              <a:gdLst/>
              <a:ahLst/>
              <a:cxnLst>
                <a:cxn ang="0">
                  <a:pos x="0" y="363"/>
                </a:cxn>
                <a:cxn ang="0">
                  <a:pos x="91" y="136"/>
                </a:cxn>
                <a:cxn ang="0">
                  <a:pos x="181" y="45"/>
                </a:cxn>
                <a:cxn ang="0">
                  <a:pos x="272" y="0"/>
                </a:cxn>
              </a:cxnLst>
              <a:rect l="0" t="0" r="r" b="b"/>
              <a:pathLst>
                <a:path w="272" h="363">
                  <a:moveTo>
                    <a:pt x="0" y="363"/>
                  </a:moveTo>
                  <a:cubicBezTo>
                    <a:pt x="30" y="276"/>
                    <a:pt x="61" y="189"/>
                    <a:pt x="91" y="136"/>
                  </a:cubicBezTo>
                  <a:cubicBezTo>
                    <a:pt x="121" y="83"/>
                    <a:pt x="151" y="68"/>
                    <a:pt x="181" y="45"/>
                  </a:cubicBezTo>
                  <a:cubicBezTo>
                    <a:pt x="211" y="22"/>
                    <a:pt x="249" y="7"/>
                    <a:pt x="272" y="0"/>
                  </a:cubicBezTo>
                </a:path>
              </a:pathLst>
            </a:custGeom>
            <a:noFill/>
            <a:ln w="22225" cap="flat" cmpd="sng">
              <a:solidFill>
                <a:schemeClr val="tx1"/>
              </a:solidFill>
              <a:prstDash val="solid"/>
              <a:round/>
              <a:headEnd type="none" w="med" len="med"/>
              <a:tailEnd type="none" w="med" len="med"/>
            </a:ln>
            <a:effectLst/>
          </p:spPr>
          <p:txBody>
            <a:bodyPr/>
            <a:lstStyle/>
            <a:p>
              <a:endParaRPr lang="es-AR"/>
            </a:p>
          </p:txBody>
        </p:sp>
        <p:sp>
          <p:nvSpPr>
            <p:cNvPr id="24" name="Freeform 93"/>
            <p:cNvSpPr>
              <a:spLocks/>
            </p:cNvSpPr>
            <p:nvPr/>
          </p:nvSpPr>
          <p:spPr bwMode="auto">
            <a:xfrm>
              <a:off x="2020888" y="4868863"/>
              <a:ext cx="360362" cy="431800"/>
            </a:xfrm>
            <a:custGeom>
              <a:avLst/>
              <a:gdLst/>
              <a:ahLst/>
              <a:cxnLst>
                <a:cxn ang="0">
                  <a:pos x="227" y="0"/>
                </a:cxn>
                <a:cxn ang="0">
                  <a:pos x="181" y="136"/>
                </a:cxn>
                <a:cxn ang="0">
                  <a:pos x="91" y="226"/>
                </a:cxn>
                <a:cxn ang="0">
                  <a:pos x="0" y="272"/>
                </a:cxn>
              </a:cxnLst>
              <a:rect l="0" t="0" r="r" b="b"/>
              <a:pathLst>
                <a:path w="227" h="272">
                  <a:moveTo>
                    <a:pt x="227" y="0"/>
                  </a:moveTo>
                  <a:cubicBezTo>
                    <a:pt x="215" y="49"/>
                    <a:pt x="204" y="99"/>
                    <a:pt x="181" y="136"/>
                  </a:cubicBezTo>
                  <a:cubicBezTo>
                    <a:pt x="158" y="173"/>
                    <a:pt x="121" y="203"/>
                    <a:pt x="91" y="226"/>
                  </a:cubicBezTo>
                  <a:cubicBezTo>
                    <a:pt x="61" y="249"/>
                    <a:pt x="30" y="260"/>
                    <a:pt x="0" y="272"/>
                  </a:cubicBezTo>
                </a:path>
              </a:pathLst>
            </a:custGeom>
            <a:noFill/>
            <a:ln w="22225" cap="flat" cmpd="sng">
              <a:solidFill>
                <a:schemeClr val="tx2"/>
              </a:solidFill>
              <a:prstDash val="solid"/>
              <a:round/>
              <a:headEnd type="none" w="med" len="med"/>
              <a:tailEnd type="none" w="med" len="med"/>
            </a:ln>
            <a:effectLst/>
          </p:spPr>
          <p:txBody>
            <a:bodyPr/>
            <a:lstStyle/>
            <a:p>
              <a:endParaRPr lang="es-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274638"/>
            <a:ext cx="8229600" cy="1143000"/>
          </a:xfrm>
        </p:spPr>
        <p:txBody>
          <a:bodyPr>
            <a:normAutofit/>
          </a:bodyPr>
          <a:lstStyle/>
          <a:p>
            <a:pPr algn="ctr"/>
            <a:r>
              <a:rPr lang="es-ES_tradnl" dirty="0"/>
              <a:t>Segundo método de ZN</a:t>
            </a:r>
          </a:p>
        </p:txBody>
      </p:sp>
      <p:sp>
        <p:nvSpPr>
          <p:cNvPr id="6" name="5 CuadroTexto"/>
          <p:cNvSpPr txBox="1"/>
          <p:nvPr/>
        </p:nvSpPr>
        <p:spPr>
          <a:xfrm>
            <a:off x="539552" y="1196752"/>
            <a:ext cx="8208912" cy="1569660"/>
          </a:xfrm>
          <a:prstGeom prst="rect">
            <a:avLst/>
          </a:prstGeom>
          <a:noFill/>
        </p:spPr>
        <p:txBody>
          <a:bodyPr wrap="square" rtlCol="0">
            <a:spAutoFit/>
          </a:bodyPr>
          <a:lstStyle/>
          <a:p>
            <a:r>
              <a:rPr lang="es-ES_tradnl" sz="2400" dirty="0">
                <a:latin typeface="Times New Roman" pitchFamily="18" charset="0"/>
                <a:cs typeface="Times New Roman" pitchFamily="18" charset="0"/>
              </a:rPr>
              <a:t>La ganancia critica </a:t>
            </a:r>
            <a:r>
              <a:rPr lang="es-ES_tradnl" sz="2400" dirty="0" err="1">
                <a:latin typeface="Times New Roman" pitchFamily="18" charset="0"/>
                <a:cs typeface="Times New Roman" pitchFamily="18" charset="0"/>
              </a:rPr>
              <a:t>Kcr</a:t>
            </a:r>
            <a:r>
              <a:rPr lang="es-ES_tradnl" sz="2400" dirty="0">
                <a:latin typeface="Times New Roman" pitchFamily="18" charset="0"/>
                <a:cs typeface="Times New Roman" pitchFamily="18" charset="0"/>
              </a:rPr>
              <a:t> y el periodo critico </a:t>
            </a:r>
            <a:r>
              <a:rPr lang="es-ES_tradnl" sz="2400" dirty="0" err="1">
                <a:latin typeface="Times New Roman" pitchFamily="18" charset="0"/>
                <a:cs typeface="Times New Roman" pitchFamily="18" charset="0"/>
              </a:rPr>
              <a:t>Pcr</a:t>
            </a:r>
            <a:r>
              <a:rPr lang="es-ES_tradnl" sz="2400" dirty="0">
                <a:latin typeface="Times New Roman" pitchFamily="18" charset="0"/>
                <a:cs typeface="Times New Roman" pitchFamily="18" charset="0"/>
              </a:rPr>
              <a:t> se determinan experimentalmente, y según </a:t>
            </a:r>
            <a:r>
              <a:rPr lang="es-ES_tradnl" sz="2400" dirty="0" err="1">
                <a:latin typeface="Times New Roman" pitchFamily="18" charset="0"/>
                <a:cs typeface="Times New Roman" pitchFamily="18" charset="0"/>
              </a:rPr>
              <a:t>Ziegler</a:t>
            </a:r>
            <a:r>
              <a:rPr lang="es-ES_tradnl" sz="2400" dirty="0">
                <a:latin typeface="Times New Roman" pitchFamily="18" charset="0"/>
                <a:cs typeface="Times New Roman" pitchFamily="18" charset="0"/>
              </a:rPr>
              <a:t> y </a:t>
            </a:r>
            <a:r>
              <a:rPr lang="es-ES_tradnl" sz="2400" dirty="0" err="1">
                <a:latin typeface="Times New Roman" pitchFamily="18" charset="0"/>
                <a:cs typeface="Times New Roman" pitchFamily="18" charset="0"/>
              </a:rPr>
              <a:t>Nichols</a:t>
            </a:r>
            <a:r>
              <a:rPr lang="es-ES_tradnl" sz="2400" dirty="0">
                <a:latin typeface="Times New Roman" pitchFamily="18" charset="0"/>
                <a:cs typeface="Times New Roman" pitchFamily="18" charset="0"/>
              </a:rPr>
              <a:t> los valores de </a:t>
            </a:r>
            <a:r>
              <a:rPr lang="es-ES_tradnl" sz="2400" dirty="0" err="1">
                <a:latin typeface="Times New Roman" pitchFamily="18" charset="0"/>
                <a:cs typeface="Times New Roman" pitchFamily="18" charset="0"/>
              </a:rPr>
              <a:t>Kp</a:t>
            </a:r>
            <a:r>
              <a:rPr lang="es-ES_tradnl" sz="2400" dirty="0">
                <a:latin typeface="Times New Roman" pitchFamily="18" charset="0"/>
                <a:cs typeface="Times New Roman" pitchFamily="18" charset="0"/>
              </a:rPr>
              <a:t>, Ti y </a:t>
            </a:r>
            <a:r>
              <a:rPr lang="es-ES_tradnl" sz="2400" dirty="0" err="1">
                <a:latin typeface="Times New Roman" pitchFamily="18" charset="0"/>
                <a:cs typeface="Times New Roman" pitchFamily="18" charset="0"/>
              </a:rPr>
              <a:t>Td</a:t>
            </a:r>
            <a:r>
              <a:rPr lang="es-ES_tradnl" sz="2400" dirty="0">
                <a:latin typeface="Times New Roman" pitchFamily="18" charset="0"/>
                <a:cs typeface="Times New Roman" pitchFamily="18" charset="0"/>
              </a:rPr>
              <a:t> se establecen de acuerdo con la formula que aparece en la siguiente tabla:</a:t>
            </a:r>
            <a:endParaRPr lang="es-AR" sz="2400" dirty="0">
              <a:latin typeface="Times New Roman" pitchFamily="18" charset="0"/>
              <a:cs typeface="Times New Roman" pitchFamily="18" charset="0"/>
            </a:endParaRPr>
          </a:p>
        </p:txBody>
      </p:sp>
      <p:grpSp>
        <p:nvGrpSpPr>
          <p:cNvPr id="29" name="28 Grupo"/>
          <p:cNvGrpSpPr/>
          <p:nvPr/>
        </p:nvGrpSpPr>
        <p:grpSpPr>
          <a:xfrm>
            <a:off x="1475656" y="2924944"/>
            <a:ext cx="6236512" cy="3744008"/>
            <a:chOff x="1475656" y="2924944"/>
            <a:chExt cx="6236512" cy="3744008"/>
          </a:xfrm>
        </p:grpSpPr>
        <p:grpSp>
          <p:nvGrpSpPr>
            <p:cNvPr id="4" name="3 Grupo"/>
            <p:cNvGrpSpPr/>
            <p:nvPr/>
          </p:nvGrpSpPr>
          <p:grpSpPr>
            <a:xfrm>
              <a:off x="1475656" y="2924944"/>
              <a:ext cx="6236512" cy="3744008"/>
              <a:chOff x="1906588" y="2420938"/>
              <a:chExt cx="5063472" cy="2643224"/>
            </a:xfrm>
          </p:grpSpPr>
          <p:sp>
            <p:nvSpPr>
              <p:cNvPr id="7" name="Text Box 18"/>
              <p:cNvSpPr txBox="1">
                <a:spLocks noChangeArrowheads="1"/>
              </p:cNvSpPr>
              <p:nvPr/>
            </p:nvSpPr>
            <p:spPr bwMode="auto">
              <a:xfrm>
                <a:off x="1906588" y="2493963"/>
                <a:ext cx="2123303" cy="325930"/>
              </a:xfrm>
              <a:prstGeom prst="rect">
                <a:avLst/>
              </a:prstGeom>
              <a:noFill/>
              <a:ln w="3175">
                <a:noFill/>
                <a:miter lim="800000"/>
                <a:headEnd/>
                <a:tailEnd/>
              </a:ln>
              <a:effectLst/>
            </p:spPr>
            <p:txBody>
              <a:bodyPr wrap="none">
                <a:spAutoFit/>
              </a:bodyPr>
              <a:lstStyle/>
              <a:p>
                <a:r>
                  <a:rPr lang="es-ES" sz="2400" dirty="0">
                    <a:latin typeface="Times New Roman" pitchFamily="18" charset="0"/>
                    <a:cs typeface="Times New Roman" pitchFamily="18" charset="0"/>
                  </a:rPr>
                  <a:t>Tipo de controlador</a:t>
                </a:r>
              </a:p>
            </p:txBody>
          </p:sp>
          <p:sp>
            <p:nvSpPr>
              <p:cNvPr id="8" name="Line 22"/>
              <p:cNvSpPr>
                <a:spLocks noChangeShapeType="1"/>
              </p:cNvSpPr>
              <p:nvPr/>
            </p:nvSpPr>
            <p:spPr bwMode="auto">
              <a:xfrm>
                <a:off x="1906588" y="2925763"/>
                <a:ext cx="4968875" cy="0"/>
              </a:xfrm>
              <a:prstGeom prst="line">
                <a:avLst/>
              </a:prstGeom>
              <a:noFill/>
              <a:ln w="15875">
                <a:solidFill>
                  <a:srgbClr val="808080"/>
                </a:solidFill>
                <a:round/>
                <a:headEnd/>
                <a:tailEnd/>
              </a:ln>
              <a:effectLst/>
            </p:spPr>
            <p:txBody>
              <a:bodyPr/>
              <a:lstStyle/>
              <a:p>
                <a:endParaRPr lang="es-AR"/>
              </a:p>
            </p:txBody>
          </p:sp>
          <p:graphicFrame>
            <p:nvGraphicFramePr>
              <p:cNvPr id="9" name="Object 23"/>
              <p:cNvGraphicFramePr>
                <a:graphicFrameLocks noChangeAspect="1"/>
              </p:cNvGraphicFramePr>
              <p:nvPr/>
            </p:nvGraphicFramePr>
            <p:xfrm>
              <a:off x="4245142" y="3130550"/>
              <a:ext cx="668338" cy="309563"/>
            </p:xfrm>
            <a:graphic>
              <a:graphicData uri="http://schemas.openxmlformats.org/presentationml/2006/ole">
                <mc:AlternateContent xmlns:mc="http://schemas.openxmlformats.org/markup-compatibility/2006">
                  <mc:Choice xmlns:v="urn:schemas-microsoft-com:vml" Requires="v">
                    <p:oleObj spid="_x0000_s52330" name="Ecuación" r:id="rId3" imgW="825480" imgH="380880" progId="Equation.3">
                      <p:embed/>
                    </p:oleObj>
                  </mc:Choice>
                  <mc:Fallback>
                    <p:oleObj name="Ecuación" r:id="rId3" imgW="825480" imgH="38088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142" y="3130550"/>
                            <a:ext cx="668338"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4"/>
              <p:cNvGraphicFramePr>
                <a:graphicFrameLocks noChangeAspect="1"/>
              </p:cNvGraphicFramePr>
              <p:nvPr/>
            </p:nvGraphicFramePr>
            <p:xfrm>
              <a:off x="5468938" y="3141663"/>
              <a:ext cx="296264" cy="190500"/>
            </p:xfrm>
            <a:graphic>
              <a:graphicData uri="http://schemas.openxmlformats.org/presentationml/2006/ole">
                <mc:AlternateContent xmlns:mc="http://schemas.openxmlformats.org/markup-compatibility/2006">
                  <mc:Choice xmlns:v="urn:schemas-microsoft-com:vml" Requires="v">
                    <p:oleObj spid="_x0000_s52331" name="Ecuación" r:id="rId5" imgW="253800" imgH="190440" progId="Equation.3">
                      <p:embed/>
                    </p:oleObj>
                  </mc:Choice>
                  <mc:Fallback>
                    <p:oleObj name="Ecuación" r:id="rId5" imgW="253800" imgH="190440" progId="Equation.3">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8938" y="3141663"/>
                            <a:ext cx="296264"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Line 25"/>
              <p:cNvSpPr>
                <a:spLocks noChangeShapeType="1"/>
              </p:cNvSpPr>
              <p:nvPr/>
            </p:nvSpPr>
            <p:spPr bwMode="auto">
              <a:xfrm>
                <a:off x="1906588" y="3644900"/>
                <a:ext cx="4968875" cy="0"/>
              </a:xfrm>
              <a:prstGeom prst="line">
                <a:avLst/>
              </a:prstGeom>
              <a:noFill/>
              <a:ln w="15875">
                <a:solidFill>
                  <a:srgbClr val="808080"/>
                </a:solidFill>
                <a:round/>
                <a:headEnd/>
                <a:tailEnd/>
              </a:ln>
              <a:effectLst/>
            </p:spPr>
            <p:txBody>
              <a:bodyPr/>
              <a:lstStyle/>
              <a:p>
                <a:endParaRPr lang="es-AR"/>
              </a:p>
            </p:txBody>
          </p:sp>
          <p:sp>
            <p:nvSpPr>
              <p:cNvPr id="12" name="Line 26"/>
              <p:cNvSpPr>
                <a:spLocks noChangeShapeType="1"/>
              </p:cNvSpPr>
              <p:nvPr/>
            </p:nvSpPr>
            <p:spPr bwMode="auto">
              <a:xfrm>
                <a:off x="1906588" y="4364038"/>
                <a:ext cx="4968875" cy="0"/>
              </a:xfrm>
              <a:prstGeom prst="line">
                <a:avLst/>
              </a:prstGeom>
              <a:noFill/>
              <a:ln w="15875">
                <a:solidFill>
                  <a:srgbClr val="808080"/>
                </a:solidFill>
                <a:round/>
                <a:headEnd/>
                <a:tailEnd/>
              </a:ln>
              <a:effectLst/>
            </p:spPr>
            <p:txBody>
              <a:bodyPr/>
              <a:lstStyle/>
              <a:p>
                <a:endParaRPr lang="es-AR"/>
              </a:p>
            </p:txBody>
          </p:sp>
          <p:graphicFrame>
            <p:nvGraphicFramePr>
              <p:cNvPr id="13" name="Object 28"/>
              <p:cNvGraphicFramePr>
                <a:graphicFrameLocks noChangeAspect="1"/>
              </p:cNvGraphicFramePr>
              <p:nvPr/>
            </p:nvGraphicFramePr>
            <p:xfrm>
              <a:off x="6417610" y="3860800"/>
              <a:ext cx="141287" cy="222250"/>
            </p:xfrm>
            <a:graphic>
              <a:graphicData uri="http://schemas.openxmlformats.org/presentationml/2006/ole">
                <mc:AlternateContent xmlns:mc="http://schemas.openxmlformats.org/markup-compatibility/2006">
                  <mc:Choice xmlns:v="urn:schemas-microsoft-com:vml" Requires="v">
                    <p:oleObj spid="_x0000_s52332" name="Ecuación" r:id="rId7" imgW="177480" imgH="279360" progId="Equation.3">
                      <p:embed/>
                    </p:oleObj>
                  </mc:Choice>
                  <mc:Fallback>
                    <p:oleObj name="Ecuación" r:id="rId7" imgW="177480" imgH="27936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7610" y="3860800"/>
                            <a:ext cx="141287"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29"/>
              <p:cNvGraphicFramePr>
                <a:graphicFrameLocks noChangeAspect="1"/>
              </p:cNvGraphicFramePr>
              <p:nvPr/>
            </p:nvGraphicFramePr>
            <p:xfrm>
              <a:off x="6393797" y="3141663"/>
              <a:ext cx="141288" cy="222250"/>
            </p:xfrm>
            <a:graphic>
              <a:graphicData uri="http://schemas.openxmlformats.org/presentationml/2006/ole">
                <mc:AlternateContent xmlns:mc="http://schemas.openxmlformats.org/markup-compatibility/2006">
                  <mc:Choice xmlns:v="urn:schemas-microsoft-com:vml" Requires="v">
                    <p:oleObj spid="_x0000_s52333" name="Ecuación" r:id="rId9" imgW="177480" imgH="279360" progId="Equation.3">
                      <p:embed/>
                    </p:oleObj>
                  </mc:Choice>
                  <mc:Fallback>
                    <p:oleObj name="Ecuación" r:id="rId9" imgW="177480" imgH="279360" progId="Equation.3">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93797" y="3141663"/>
                            <a:ext cx="141288"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Line 30"/>
              <p:cNvSpPr>
                <a:spLocks noChangeShapeType="1"/>
              </p:cNvSpPr>
              <p:nvPr/>
            </p:nvSpPr>
            <p:spPr bwMode="auto">
              <a:xfrm>
                <a:off x="4069750" y="2471775"/>
                <a:ext cx="0" cy="2592387"/>
              </a:xfrm>
              <a:prstGeom prst="line">
                <a:avLst/>
              </a:prstGeom>
              <a:noFill/>
              <a:ln w="3175">
                <a:solidFill>
                  <a:srgbClr val="808080"/>
                </a:solidFill>
                <a:round/>
                <a:headEnd/>
                <a:tailEnd/>
              </a:ln>
              <a:effectLst/>
            </p:spPr>
            <p:txBody>
              <a:bodyPr/>
              <a:lstStyle/>
              <a:p>
                <a:endParaRPr lang="es-AR"/>
              </a:p>
            </p:txBody>
          </p:sp>
          <p:graphicFrame>
            <p:nvGraphicFramePr>
              <p:cNvPr id="16" name="Object 31"/>
              <p:cNvGraphicFramePr>
                <a:graphicFrameLocks noChangeAspect="1"/>
              </p:cNvGraphicFramePr>
              <p:nvPr/>
            </p:nvGraphicFramePr>
            <p:xfrm>
              <a:off x="2843213" y="3213100"/>
              <a:ext cx="241300" cy="254000"/>
            </p:xfrm>
            <a:graphic>
              <a:graphicData uri="http://schemas.openxmlformats.org/presentationml/2006/ole">
                <mc:AlternateContent xmlns:mc="http://schemas.openxmlformats.org/markup-compatibility/2006">
                  <mc:Choice xmlns:v="urn:schemas-microsoft-com:vml" Requires="v">
                    <p:oleObj spid="_x0000_s52334" name="Ecuación" r:id="rId11" imgW="241200" imgH="253800" progId="Equation.3">
                      <p:embed/>
                    </p:oleObj>
                  </mc:Choice>
                  <mc:Fallback>
                    <p:oleObj name="Ecuación" r:id="rId11" imgW="241200" imgH="253800" progId="Equation.3">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3213100"/>
                            <a:ext cx="241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32"/>
              <p:cNvGraphicFramePr>
                <a:graphicFrameLocks noChangeAspect="1"/>
              </p:cNvGraphicFramePr>
              <p:nvPr/>
            </p:nvGraphicFramePr>
            <p:xfrm>
              <a:off x="2771775" y="3860800"/>
              <a:ext cx="368300" cy="254000"/>
            </p:xfrm>
            <a:graphic>
              <a:graphicData uri="http://schemas.openxmlformats.org/presentationml/2006/ole">
                <mc:AlternateContent xmlns:mc="http://schemas.openxmlformats.org/markup-compatibility/2006">
                  <mc:Choice xmlns:v="urn:schemas-microsoft-com:vml" Requires="v">
                    <p:oleObj spid="_x0000_s52335" name="Ecuación" r:id="rId13" imgW="368280" imgH="253800" progId="Equation.3">
                      <p:embed/>
                    </p:oleObj>
                  </mc:Choice>
                  <mc:Fallback>
                    <p:oleObj name="Ecuación" r:id="rId13" imgW="368280" imgH="253800" progId="Equation.3">
                      <p:embed/>
                      <p:pic>
                        <p:nvPicPr>
                          <p:cNvPr id="0" name="Picture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1775" y="3860800"/>
                            <a:ext cx="3683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33"/>
              <p:cNvGraphicFramePr>
                <a:graphicFrameLocks noChangeAspect="1"/>
              </p:cNvGraphicFramePr>
              <p:nvPr/>
            </p:nvGraphicFramePr>
            <p:xfrm>
              <a:off x="2698750" y="4508500"/>
              <a:ext cx="669434" cy="254000"/>
            </p:xfrm>
            <a:graphic>
              <a:graphicData uri="http://schemas.openxmlformats.org/presentationml/2006/ole">
                <mc:AlternateContent xmlns:mc="http://schemas.openxmlformats.org/markup-compatibility/2006">
                  <mc:Choice xmlns:v="urn:schemas-microsoft-com:vml" Requires="v">
                    <p:oleObj spid="_x0000_s52336" name="Ecuación" r:id="rId15" imgW="571320" imgH="253800" progId="Equation.3">
                      <p:embed/>
                    </p:oleObj>
                  </mc:Choice>
                  <mc:Fallback>
                    <p:oleObj name="Ecuación" r:id="rId15" imgW="571320" imgH="253800" progId="Equation.3">
                      <p:embed/>
                      <p:pic>
                        <p:nvPicPr>
                          <p:cNvPr id="0"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8750" y="4508500"/>
                            <a:ext cx="669434"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Line 34"/>
              <p:cNvSpPr>
                <a:spLocks noChangeShapeType="1"/>
              </p:cNvSpPr>
              <p:nvPr/>
            </p:nvSpPr>
            <p:spPr bwMode="auto">
              <a:xfrm>
                <a:off x="5148263" y="2420938"/>
                <a:ext cx="0" cy="2592387"/>
              </a:xfrm>
              <a:prstGeom prst="line">
                <a:avLst/>
              </a:prstGeom>
              <a:noFill/>
              <a:ln w="3175">
                <a:solidFill>
                  <a:srgbClr val="808080"/>
                </a:solidFill>
                <a:round/>
                <a:headEnd/>
                <a:tailEnd/>
              </a:ln>
              <a:effectLst/>
            </p:spPr>
            <p:txBody>
              <a:bodyPr/>
              <a:lstStyle/>
              <a:p>
                <a:endParaRPr lang="es-AR"/>
              </a:p>
            </p:txBody>
          </p:sp>
          <p:sp>
            <p:nvSpPr>
              <p:cNvPr id="20" name="Line 35"/>
              <p:cNvSpPr>
                <a:spLocks noChangeShapeType="1"/>
              </p:cNvSpPr>
              <p:nvPr/>
            </p:nvSpPr>
            <p:spPr bwMode="auto">
              <a:xfrm>
                <a:off x="6011863" y="2420938"/>
                <a:ext cx="0" cy="2592387"/>
              </a:xfrm>
              <a:prstGeom prst="line">
                <a:avLst/>
              </a:prstGeom>
              <a:noFill/>
              <a:ln w="3175">
                <a:solidFill>
                  <a:srgbClr val="808080"/>
                </a:solidFill>
                <a:round/>
                <a:headEnd/>
                <a:tailEnd/>
              </a:ln>
              <a:effectLst/>
            </p:spPr>
            <p:txBody>
              <a:bodyPr/>
              <a:lstStyle/>
              <a:p>
                <a:endParaRPr lang="es-AR"/>
              </a:p>
            </p:txBody>
          </p:sp>
          <p:graphicFrame>
            <p:nvGraphicFramePr>
              <p:cNvPr id="21" name="Object 36"/>
              <p:cNvGraphicFramePr>
                <a:graphicFrameLocks noChangeAspect="1"/>
              </p:cNvGraphicFramePr>
              <p:nvPr/>
            </p:nvGraphicFramePr>
            <p:xfrm>
              <a:off x="4192754" y="3860800"/>
              <a:ext cx="792162" cy="309563"/>
            </p:xfrm>
            <a:graphic>
              <a:graphicData uri="http://schemas.openxmlformats.org/presentationml/2006/ole">
                <mc:AlternateContent xmlns:mc="http://schemas.openxmlformats.org/markup-compatibility/2006">
                  <mc:Choice xmlns:v="urn:schemas-microsoft-com:vml" Requires="v">
                    <p:oleObj spid="_x0000_s52337" name="Ecuación" r:id="rId17" imgW="977760" imgH="380880" progId="Equation.3">
                      <p:embed/>
                    </p:oleObj>
                  </mc:Choice>
                  <mc:Fallback>
                    <p:oleObj name="Ecuación" r:id="rId17" imgW="977760" imgH="380880" progId="Equation.3">
                      <p:embed/>
                      <p:pic>
                        <p:nvPicPr>
                          <p:cNvPr id="0" name="Picture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92754" y="3860800"/>
                            <a:ext cx="792162"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37"/>
              <p:cNvGraphicFramePr>
                <a:graphicFrameLocks noChangeAspect="1"/>
              </p:cNvGraphicFramePr>
              <p:nvPr/>
            </p:nvGraphicFramePr>
            <p:xfrm>
              <a:off x="4241967" y="4508500"/>
              <a:ext cx="669925" cy="309563"/>
            </p:xfrm>
            <a:graphic>
              <a:graphicData uri="http://schemas.openxmlformats.org/presentationml/2006/ole">
                <mc:AlternateContent xmlns:mc="http://schemas.openxmlformats.org/markup-compatibility/2006">
                  <mc:Choice xmlns:v="urn:schemas-microsoft-com:vml" Requires="v">
                    <p:oleObj spid="_x0000_s52338" name="Ecuación" r:id="rId19" imgW="825480" imgH="380880" progId="Equation.3">
                      <p:embed/>
                    </p:oleObj>
                  </mc:Choice>
                  <mc:Fallback>
                    <p:oleObj name="Ecuación" r:id="rId19" imgW="825480" imgH="380880" progId="Equation.3">
                      <p:embed/>
                      <p:pic>
                        <p:nvPicPr>
                          <p:cNvPr id="0" name="Picture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41967" y="4508500"/>
                            <a:ext cx="669925"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38"/>
              <p:cNvGraphicFramePr>
                <a:graphicFrameLocks noChangeAspect="1"/>
              </p:cNvGraphicFramePr>
              <p:nvPr/>
            </p:nvGraphicFramePr>
            <p:xfrm>
              <a:off x="5249863" y="4508500"/>
              <a:ext cx="606425" cy="309563"/>
            </p:xfrm>
            <a:graphic>
              <a:graphicData uri="http://schemas.openxmlformats.org/presentationml/2006/ole">
                <mc:AlternateContent xmlns:mc="http://schemas.openxmlformats.org/markup-compatibility/2006">
                  <mc:Choice xmlns:v="urn:schemas-microsoft-com:vml" Requires="v">
                    <p:oleObj spid="_x0000_s52339" name="Ecuación" r:id="rId21" imgW="749160" imgH="380880" progId="Equation.3">
                      <p:embed/>
                    </p:oleObj>
                  </mc:Choice>
                  <mc:Fallback>
                    <p:oleObj name="Ecuación" r:id="rId21" imgW="749160" imgH="380880" progId="Equation.3">
                      <p:embed/>
                      <p:pic>
                        <p:nvPicPr>
                          <p:cNvPr id="0" name="Picture 1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49863" y="4508500"/>
                            <a:ext cx="606425"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39"/>
              <p:cNvGraphicFramePr>
                <a:graphicFrameLocks noChangeAspect="1"/>
              </p:cNvGraphicFramePr>
              <p:nvPr/>
            </p:nvGraphicFramePr>
            <p:xfrm>
              <a:off x="6115985" y="4508500"/>
              <a:ext cx="854075" cy="309563"/>
            </p:xfrm>
            <a:graphic>
              <a:graphicData uri="http://schemas.openxmlformats.org/presentationml/2006/ole">
                <mc:AlternateContent xmlns:mc="http://schemas.openxmlformats.org/markup-compatibility/2006">
                  <mc:Choice xmlns:v="urn:schemas-microsoft-com:vml" Requires="v">
                    <p:oleObj spid="_x0000_s52340" name="Ecuación" r:id="rId23" imgW="1054080" imgH="380880" progId="Equation.3">
                      <p:embed/>
                    </p:oleObj>
                  </mc:Choice>
                  <mc:Fallback>
                    <p:oleObj name="Ecuación" r:id="rId23" imgW="1054080" imgH="380880" progId="Equation.3">
                      <p:embed/>
                      <p:pic>
                        <p:nvPicPr>
                          <p:cNvPr id="0" name="Picture 1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115985" y="4508500"/>
                            <a:ext cx="854075"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38"/>
              <p:cNvGraphicFramePr>
                <a:graphicFrameLocks/>
              </p:cNvGraphicFramePr>
              <p:nvPr/>
            </p:nvGraphicFramePr>
            <p:xfrm>
              <a:off x="5180564" y="3844368"/>
              <a:ext cx="760030" cy="355857"/>
            </p:xfrm>
            <a:graphic>
              <a:graphicData uri="http://schemas.openxmlformats.org/presentationml/2006/ole">
                <mc:AlternateContent xmlns:mc="http://schemas.openxmlformats.org/markup-compatibility/2006">
                  <mc:Choice xmlns:v="urn:schemas-microsoft-com:vml" Requires="v">
                    <p:oleObj spid="_x0000_s52341" name="Ecuación" r:id="rId25" imgW="457200" imgH="228600" progId="Equation.3">
                      <p:embed/>
                    </p:oleObj>
                  </mc:Choice>
                  <mc:Fallback>
                    <p:oleObj name="Ecuación" r:id="rId25" imgW="457200" imgH="228600" progId="Equation.3">
                      <p:embed/>
                      <p:pic>
                        <p:nvPicPr>
                          <p:cNvPr id="0" name="Object 16"/>
                          <p:cNvPicPr preferRelativeResize="0">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80564" y="3844368"/>
                            <a:ext cx="760030" cy="3558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6" name="Object 36"/>
            <p:cNvGraphicFramePr>
              <a:graphicFrameLocks noChangeAspect="1"/>
            </p:cNvGraphicFramePr>
            <p:nvPr/>
          </p:nvGraphicFramePr>
          <p:xfrm>
            <a:off x="4572000" y="2996952"/>
            <a:ext cx="500605" cy="593702"/>
          </p:xfrm>
          <a:graphic>
            <a:graphicData uri="http://schemas.openxmlformats.org/presentationml/2006/ole">
              <mc:AlternateContent xmlns:mc="http://schemas.openxmlformats.org/markup-compatibility/2006">
                <mc:Choice xmlns:v="urn:schemas-microsoft-com:vml" Requires="v">
                  <p:oleObj spid="_x0000_s52342" name="Ecuación" r:id="rId27" imgW="406080" imgH="419040" progId="Equation.3">
                    <p:embed/>
                  </p:oleObj>
                </mc:Choice>
                <mc:Fallback>
                  <p:oleObj name="Ecuación" r:id="rId27" imgW="406080" imgH="419040" progId="Equation.3">
                    <p:embed/>
                    <p:pic>
                      <p:nvPicPr>
                        <p:cNvPr id="0" name="Picture 1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572000" y="2996952"/>
                          <a:ext cx="500605" cy="5937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37"/>
            <p:cNvGraphicFramePr>
              <a:graphicFrameLocks/>
            </p:cNvGraphicFramePr>
            <p:nvPr/>
          </p:nvGraphicFramePr>
          <p:xfrm>
            <a:off x="5699167" y="2965513"/>
            <a:ext cx="500063" cy="596899"/>
          </p:xfrm>
          <a:graphic>
            <a:graphicData uri="http://schemas.openxmlformats.org/presentationml/2006/ole">
              <mc:AlternateContent xmlns:mc="http://schemas.openxmlformats.org/markup-compatibility/2006">
                <mc:Choice xmlns:v="urn:schemas-microsoft-com:vml" Requires="v">
                  <p:oleObj spid="_x0000_s52343" name="Ecuación" r:id="rId29" imgW="152280" imgH="228600" progId="Equation.3">
                    <p:embed/>
                  </p:oleObj>
                </mc:Choice>
                <mc:Fallback>
                  <p:oleObj name="Ecuación" r:id="rId29" imgW="152280" imgH="228600" progId="Equation.3">
                    <p:embed/>
                    <p:pic>
                      <p:nvPicPr>
                        <p:cNvPr id="0" name="Picture 14"/>
                        <p:cNvPicPr preferRelativeResize="0">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699167" y="2965513"/>
                          <a:ext cx="500063" cy="5968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38"/>
            <p:cNvGraphicFramePr>
              <a:graphicFrameLocks/>
            </p:cNvGraphicFramePr>
            <p:nvPr/>
          </p:nvGraphicFramePr>
          <p:xfrm>
            <a:off x="6851295" y="2965513"/>
            <a:ext cx="500062" cy="596899"/>
          </p:xfrm>
          <a:graphic>
            <a:graphicData uri="http://schemas.openxmlformats.org/presentationml/2006/ole">
              <mc:AlternateContent xmlns:mc="http://schemas.openxmlformats.org/markup-compatibility/2006">
                <mc:Choice xmlns:v="urn:schemas-microsoft-com:vml" Requires="v">
                  <p:oleObj spid="_x0000_s52344" name="Ecuación" r:id="rId31" imgW="177480" imgH="228600" progId="Equation.3">
                    <p:embed/>
                  </p:oleObj>
                </mc:Choice>
                <mc:Fallback>
                  <p:oleObj name="Ecuación" r:id="rId31" imgW="177480" imgH="228600" progId="Equation.3">
                    <p:embed/>
                    <p:pic>
                      <p:nvPicPr>
                        <p:cNvPr id="0" name="Picture 15"/>
                        <p:cNvPicPr preferRelativeResize="0">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851295" y="2965513"/>
                          <a:ext cx="500062" cy="5968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6" name="Object 4"/>
          <p:cNvGraphicFramePr>
            <a:graphicFrameLocks noChangeAspect="1"/>
          </p:cNvGraphicFramePr>
          <p:nvPr/>
        </p:nvGraphicFramePr>
        <p:xfrm>
          <a:off x="2209800" y="1643063"/>
          <a:ext cx="5464175" cy="3786187"/>
        </p:xfrm>
        <a:graphic>
          <a:graphicData uri="http://schemas.openxmlformats.org/presentationml/2006/ole">
            <mc:AlternateContent xmlns:mc="http://schemas.openxmlformats.org/markup-compatibility/2006">
              <mc:Choice xmlns:v="urn:schemas-microsoft-com:vml" Requires="v">
                <p:oleObj spid="_x0000_s7177" name="Ecuación" r:id="rId3" imgW="2400120" imgH="1663560" progId="Equation.3">
                  <p:embed/>
                </p:oleObj>
              </mc:Choice>
              <mc:Fallback>
                <p:oleObj name="Ecuación" r:id="rId3" imgW="2400120" imgH="16635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643063"/>
                        <a:ext cx="5464175" cy="3786187"/>
                      </a:xfrm>
                      <a:prstGeom prst="rect">
                        <a:avLst/>
                      </a:prstGeom>
                      <a:noFill/>
                      <a:extLst>
                        <a:ext uri="{909E8E84-426E-40DD-AFC4-6F175D3DCCD1}">
                          <a14:hiddenFill xmlns:a14="http://schemas.microsoft.com/office/drawing/2010/main">
                            <a:solidFill>
                              <a:srgbClr val="CCECFF"/>
                            </a:solidFill>
                          </a14:hiddenFill>
                        </a:ext>
                      </a:extLst>
                    </p:spPr>
                  </p:pic>
                </p:oleObj>
              </mc:Fallback>
            </mc:AlternateContent>
          </a:graphicData>
        </a:graphic>
      </p:graphicFrame>
      <p:sp>
        <p:nvSpPr>
          <p:cNvPr id="6" name="Rectangle 2"/>
          <p:cNvSpPr>
            <a:spLocks noGrp="1" noChangeArrowheads="1"/>
          </p:cNvSpPr>
          <p:nvPr>
            <p:ph type="title"/>
          </p:nvPr>
        </p:nvSpPr>
        <p:spPr>
          <a:xfrm>
            <a:off x="457200" y="274638"/>
            <a:ext cx="8229600" cy="1143000"/>
          </a:xfrm>
        </p:spPr>
        <p:txBody>
          <a:bodyPr>
            <a:normAutofit/>
          </a:bodyPr>
          <a:lstStyle/>
          <a:p>
            <a:pPr algn="ctr"/>
            <a:r>
              <a:rPr lang="es-ES_tradnl" dirty="0"/>
              <a:t>Segundo método de ZN</a:t>
            </a:r>
          </a:p>
        </p:txBody>
      </p:sp>
      <p:sp>
        <p:nvSpPr>
          <p:cNvPr id="7" name="6 CuadroTexto"/>
          <p:cNvSpPr txBox="1"/>
          <p:nvPr/>
        </p:nvSpPr>
        <p:spPr>
          <a:xfrm>
            <a:off x="899592" y="5661248"/>
            <a:ext cx="7632848" cy="830997"/>
          </a:xfrm>
          <a:prstGeom prst="rect">
            <a:avLst/>
          </a:prstGeom>
          <a:noFill/>
        </p:spPr>
        <p:txBody>
          <a:bodyPr wrap="square" rtlCol="0">
            <a:spAutoFit/>
          </a:bodyPr>
          <a:lstStyle/>
          <a:p>
            <a:r>
              <a:rPr lang="es-ES_tradnl" sz="2400" dirty="0">
                <a:latin typeface="Times New Roman" pitchFamily="18" charset="0"/>
                <a:cs typeface="Times New Roman" pitchFamily="18" charset="0"/>
              </a:rPr>
              <a:t>Por tanto, el controlador PID tiene un polo en el origen y un cero doble en s=-4/</a:t>
            </a:r>
            <a:r>
              <a:rPr lang="es-ES_tradnl" sz="2400" dirty="0" err="1">
                <a:latin typeface="Times New Roman" pitchFamily="18" charset="0"/>
                <a:cs typeface="Times New Roman" pitchFamily="18" charset="0"/>
              </a:rPr>
              <a:t>Pcr.</a:t>
            </a:r>
            <a:endParaRPr lang="es-AR"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25 Grupo"/>
          <p:cNvGrpSpPr/>
          <p:nvPr/>
        </p:nvGrpSpPr>
        <p:grpSpPr>
          <a:xfrm>
            <a:off x="251520" y="2708920"/>
            <a:ext cx="8453438" cy="1439863"/>
            <a:chOff x="185737" y="1969293"/>
            <a:chExt cx="8453438" cy="1439863"/>
          </a:xfrm>
        </p:grpSpPr>
        <p:sp>
          <p:nvSpPr>
            <p:cNvPr id="17440" name="Line 32"/>
            <p:cNvSpPr>
              <a:spLocks noChangeShapeType="1"/>
            </p:cNvSpPr>
            <p:nvPr/>
          </p:nvSpPr>
          <p:spPr bwMode="auto">
            <a:xfrm>
              <a:off x="396875" y="2401093"/>
              <a:ext cx="503237" cy="1588"/>
            </a:xfrm>
            <a:prstGeom prst="line">
              <a:avLst/>
            </a:prstGeom>
            <a:noFill/>
            <a:ln w="25400">
              <a:solidFill>
                <a:schemeClr val="tx1"/>
              </a:solidFill>
              <a:round/>
              <a:headEnd/>
              <a:tailEnd type="triangle" w="med" len="med"/>
            </a:ln>
            <a:effectLst/>
          </p:spPr>
          <p:txBody>
            <a:bodyPr/>
            <a:lstStyle/>
            <a:p>
              <a:endParaRPr lang="es-AR"/>
            </a:p>
          </p:txBody>
        </p:sp>
        <p:sp>
          <p:nvSpPr>
            <p:cNvPr id="17441" name="Line 33"/>
            <p:cNvSpPr>
              <a:spLocks noChangeShapeType="1"/>
            </p:cNvSpPr>
            <p:nvPr/>
          </p:nvSpPr>
          <p:spPr bwMode="auto">
            <a:xfrm>
              <a:off x="1693862" y="2401093"/>
              <a:ext cx="358775" cy="0"/>
            </a:xfrm>
            <a:prstGeom prst="line">
              <a:avLst/>
            </a:prstGeom>
            <a:noFill/>
            <a:ln w="25400">
              <a:solidFill>
                <a:schemeClr val="tx1"/>
              </a:solidFill>
              <a:round/>
              <a:headEnd/>
              <a:tailEnd type="triangle" w="med" len="med"/>
            </a:ln>
            <a:effectLst/>
          </p:spPr>
          <p:txBody>
            <a:bodyPr/>
            <a:lstStyle/>
            <a:p>
              <a:endParaRPr lang="es-AR"/>
            </a:p>
          </p:txBody>
        </p:sp>
        <p:sp>
          <p:nvSpPr>
            <p:cNvPr id="17442" name="Rectangle 34"/>
            <p:cNvSpPr>
              <a:spLocks noChangeArrowheads="1"/>
            </p:cNvSpPr>
            <p:nvPr/>
          </p:nvSpPr>
          <p:spPr bwMode="auto">
            <a:xfrm>
              <a:off x="2052637" y="1969293"/>
              <a:ext cx="2520950" cy="863600"/>
            </a:xfrm>
            <a:prstGeom prst="rect">
              <a:avLst/>
            </a:prstGeom>
            <a:solidFill>
              <a:schemeClr val="accent1"/>
            </a:solidFill>
            <a:ln w="25400">
              <a:solidFill>
                <a:schemeClr val="tx1"/>
              </a:solidFill>
              <a:miter lim="800000"/>
              <a:headEnd/>
              <a:tailEnd/>
            </a:ln>
            <a:effectLst/>
          </p:spPr>
          <p:txBody>
            <a:bodyPr wrap="none" anchor="ctr"/>
            <a:lstStyle/>
            <a:p>
              <a:endParaRPr lang="es-AR"/>
            </a:p>
          </p:txBody>
        </p:sp>
        <p:graphicFrame>
          <p:nvGraphicFramePr>
            <p:cNvPr id="17443" name="Object 35"/>
            <p:cNvGraphicFramePr>
              <a:graphicFrameLocks noChangeAspect="1"/>
            </p:cNvGraphicFramePr>
            <p:nvPr/>
          </p:nvGraphicFramePr>
          <p:xfrm>
            <a:off x="2288788" y="1969293"/>
            <a:ext cx="1978323" cy="864095"/>
          </p:xfrm>
          <a:graphic>
            <a:graphicData uri="http://schemas.openxmlformats.org/presentationml/2006/ole">
              <mc:AlternateContent xmlns:mc="http://schemas.openxmlformats.org/markup-compatibility/2006">
                <mc:Choice xmlns:v="urn:schemas-microsoft-com:vml" Requires="v">
                  <p:oleObj spid="_x0000_s53299" name="Ecuación" r:id="rId3" imgW="1104840" imgH="482400" progId="Equation.3">
                    <p:embed/>
                  </p:oleObj>
                </mc:Choice>
                <mc:Fallback>
                  <p:oleObj name="Ecuación" r:id="rId3" imgW="1104840" imgH="482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8788" y="1969293"/>
                          <a:ext cx="1978323" cy="8640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44" name="Line 36"/>
            <p:cNvSpPr>
              <a:spLocks noChangeShapeType="1"/>
            </p:cNvSpPr>
            <p:nvPr/>
          </p:nvSpPr>
          <p:spPr bwMode="auto">
            <a:xfrm>
              <a:off x="4572000" y="2401093"/>
              <a:ext cx="576262" cy="0"/>
            </a:xfrm>
            <a:prstGeom prst="line">
              <a:avLst/>
            </a:prstGeom>
            <a:noFill/>
            <a:ln w="25400">
              <a:solidFill>
                <a:schemeClr val="tx1"/>
              </a:solidFill>
              <a:round/>
              <a:headEnd/>
              <a:tailEnd type="triangle" w="med" len="med"/>
            </a:ln>
            <a:effectLst/>
          </p:spPr>
          <p:txBody>
            <a:bodyPr/>
            <a:lstStyle/>
            <a:p>
              <a:endParaRPr lang="es-AR"/>
            </a:p>
          </p:txBody>
        </p:sp>
        <p:sp>
          <p:nvSpPr>
            <p:cNvPr id="17445" name="Rectangle 37"/>
            <p:cNvSpPr>
              <a:spLocks noChangeArrowheads="1"/>
            </p:cNvSpPr>
            <p:nvPr/>
          </p:nvSpPr>
          <p:spPr bwMode="auto">
            <a:xfrm>
              <a:off x="5148262" y="1969293"/>
              <a:ext cx="2376488" cy="863600"/>
            </a:xfrm>
            <a:prstGeom prst="rect">
              <a:avLst/>
            </a:prstGeom>
            <a:solidFill>
              <a:schemeClr val="accent1"/>
            </a:solidFill>
            <a:ln w="25400">
              <a:solidFill>
                <a:schemeClr val="tx1"/>
              </a:solidFill>
              <a:miter lim="800000"/>
              <a:headEnd/>
              <a:tailEnd/>
            </a:ln>
            <a:effectLst/>
          </p:spPr>
          <p:txBody>
            <a:bodyPr wrap="none" anchor="ctr"/>
            <a:lstStyle/>
            <a:p>
              <a:endParaRPr lang="es-AR"/>
            </a:p>
          </p:txBody>
        </p:sp>
        <p:sp>
          <p:nvSpPr>
            <p:cNvPr id="17447" name="Line 39"/>
            <p:cNvSpPr>
              <a:spLocks noChangeShapeType="1"/>
            </p:cNvSpPr>
            <p:nvPr/>
          </p:nvSpPr>
          <p:spPr bwMode="auto">
            <a:xfrm>
              <a:off x="7524750" y="2401093"/>
              <a:ext cx="936625" cy="0"/>
            </a:xfrm>
            <a:prstGeom prst="line">
              <a:avLst/>
            </a:prstGeom>
            <a:noFill/>
            <a:ln w="25400">
              <a:solidFill>
                <a:schemeClr val="tx1"/>
              </a:solidFill>
              <a:round/>
              <a:headEnd/>
              <a:tailEnd type="triangle" w="med" len="med"/>
            </a:ln>
            <a:effectLst/>
          </p:spPr>
          <p:txBody>
            <a:bodyPr/>
            <a:lstStyle/>
            <a:p>
              <a:endParaRPr lang="es-AR"/>
            </a:p>
          </p:txBody>
        </p:sp>
        <p:sp>
          <p:nvSpPr>
            <p:cNvPr id="17448" name="AutoShape 40"/>
            <p:cNvSpPr>
              <a:spLocks noChangeArrowheads="1"/>
            </p:cNvSpPr>
            <p:nvPr/>
          </p:nvSpPr>
          <p:spPr bwMode="auto">
            <a:xfrm>
              <a:off x="901700" y="2042318"/>
              <a:ext cx="792162" cy="719138"/>
            </a:xfrm>
            <a:prstGeom prst="flowChartSummingJunction">
              <a:avLst/>
            </a:prstGeom>
            <a:solidFill>
              <a:schemeClr val="accent1"/>
            </a:solidFill>
            <a:ln w="25400">
              <a:solidFill>
                <a:schemeClr val="tx1"/>
              </a:solidFill>
              <a:round/>
              <a:headEnd/>
              <a:tailEnd/>
            </a:ln>
            <a:effectLst/>
          </p:spPr>
          <p:txBody>
            <a:bodyPr wrap="none" anchor="ctr"/>
            <a:lstStyle/>
            <a:p>
              <a:endParaRPr lang="es-AR"/>
            </a:p>
          </p:txBody>
        </p:sp>
        <p:graphicFrame>
          <p:nvGraphicFramePr>
            <p:cNvPr id="17449" name="Object 41"/>
            <p:cNvGraphicFramePr>
              <a:graphicFrameLocks noChangeAspect="1"/>
            </p:cNvGraphicFramePr>
            <p:nvPr/>
          </p:nvGraphicFramePr>
          <p:xfrm>
            <a:off x="1189037" y="2545556"/>
            <a:ext cx="215900" cy="76200"/>
          </p:xfrm>
          <a:graphic>
            <a:graphicData uri="http://schemas.openxmlformats.org/presentationml/2006/ole">
              <mc:AlternateContent xmlns:mc="http://schemas.openxmlformats.org/markup-compatibility/2006">
                <mc:Choice xmlns:v="urn:schemas-microsoft-com:vml" Requires="v">
                  <p:oleObj spid="_x0000_s53300" name="Ecuación" r:id="rId5" imgW="215640" imgH="75960" progId="Equation.3">
                    <p:embed/>
                  </p:oleObj>
                </mc:Choice>
                <mc:Fallback>
                  <p:oleObj name="Ecuación" r:id="rId5" imgW="215640" imgH="759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9037" y="2545556"/>
                          <a:ext cx="215900" cy="7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50" name="Object 42"/>
            <p:cNvGraphicFramePr>
              <a:graphicFrameLocks noChangeAspect="1"/>
            </p:cNvGraphicFramePr>
            <p:nvPr/>
          </p:nvGraphicFramePr>
          <p:xfrm>
            <a:off x="973137" y="2258218"/>
            <a:ext cx="215900" cy="215900"/>
          </p:xfrm>
          <a:graphic>
            <a:graphicData uri="http://schemas.openxmlformats.org/presentationml/2006/ole">
              <mc:AlternateContent xmlns:mc="http://schemas.openxmlformats.org/markup-compatibility/2006">
                <mc:Choice xmlns:v="urn:schemas-microsoft-com:vml" Requires="v">
                  <p:oleObj spid="_x0000_s53301" name="Ecuación" r:id="rId7" imgW="215640" imgH="215640" progId="Equation.3">
                    <p:embed/>
                  </p:oleObj>
                </mc:Choice>
                <mc:Fallback>
                  <p:oleObj name="Ecuación" r:id="rId7" imgW="215640" imgH="2156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137" y="2258218"/>
                          <a:ext cx="2159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51" name="Line 43"/>
            <p:cNvSpPr>
              <a:spLocks noChangeShapeType="1"/>
            </p:cNvSpPr>
            <p:nvPr/>
          </p:nvSpPr>
          <p:spPr bwMode="auto">
            <a:xfrm flipV="1">
              <a:off x="1331912" y="2761456"/>
              <a:ext cx="0" cy="647700"/>
            </a:xfrm>
            <a:prstGeom prst="line">
              <a:avLst/>
            </a:prstGeom>
            <a:noFill/>
            <a:ln w="25400">
              <a:solidFill>
                <a:schemeClr val="tx1"/>
              </a:solidFill>
              <a:round/>
              <a:headEnd/>
              <a:tailEnd type="triangle" w="med" len="med"/>
            </a:ln>
            <a:effectLst/>
          </p:spPr>
          <p:txBody>
            <a:bodyPr/>
            <a:lstStyle/>
            <a:p>
              <a:endParaRPr lang="es-AR"/>
            </a:p>
          </p:txBody>
        </p:sp>
        <p:sp>
          <p:nvSpPr>
            <p:cNvPr id="17452" name="Line 44"/>
            <p:cNvSpPr>
              <a:spLocks noChangeShapeType="1"/>
            </p:cNvSpPr>
            <p:nvPr/>
          </p:nvSpPr>
          <p:spPr bwMode="auto">
            <a:xfrm>
              <a:off x="1331912" y="3409156"/>
              <a:ext cx="6624638" cy="0"/>
            </a:xfrm>
            <a:prstGeom prst="line">
              <a:avLst/>
            </a:prstGeom>
            <a:noFill/>
            <a:ln w="25400">
              <a:solidFill>
                <a:schemeClr val="tx1"/>
              </a:solidFill>
              <a:round/>
              <a:headEnd/>
              <a:tailEnd/>
            </a:ln>
            <a:effectLst/>
          </p:spPr>
          <p:txBody>
            <a:bodyPr/>
            <a:lstStyle/>
            <a:p>
              <a:endParaRPr lang="es-AR"/>
            </a:p>
          </p:txBody>
        </p:sp>
        <p:sp>
          <p:nvSpPr>
            <p:cNvPr id="17453" name="Line 45"/>
            <p:cNvSpPr>
              <a:spLocks noChangeShapeType="1"/>
            </p:cNvSpPr>
            <p:nvPr/>
          </p:nvSpPr>
          <p:spPr bwMode="auto">
            <a:xfrm>
              <a:off x="7956550" y="2401093"/>
              <a:ext cx="0" cy="1008063"/>
            </a:xfrm>
            <a:prstGeom prst="line">
              <a:avLst/>
            </a:prstGeom>
            <a:noFill/>
            <a:ln w="25400">
              <a:solidFill>
                <a:schemeClr val="tx1"/>
              </a:solidFill>
              <a:round/>
              <a:headEnd/>
              <a:tailEnd/>
            </a:ln>
            <a:effectLst/>
          </p:spPr>
          <p:txBody>
            <a:bodyPr/>
            <a:lstStyle/>
            <a:p>
              <a:endParaRPr lang="es-AR"/>
            </a:p>
          </p:txBody>
        </p:sp>
        <p:graphicFrame>
          <p:nvGraphicFramePr>
            <p:cNvPr id="17458" name="Object 50"/>
            <p:cNvGraphicFramePr>
              <a:graphicFrameLocks noChangeAspect="1"/>
            </p:cNvGraphicFramePr>
            <p:nvPr/>
          </p:nvGraphicFramePr>
          <p:xfrm>
            <a:off x="5508625" y="1969293"/>
            <a:ext cx="1714500" cy="774700"/>
          </p:xfrm>
          <a:graphic>
            <a:graphicData uri="http://schemas.openxmlformats.org/presentationml/2006/ole">
              <mc:AlternateContent xmlns:mc="http://schemas.openxmlformats.org/markup-compatibility/2006">
                <mc:Choice xmlns:v="urn:schemas-microsoft-com:vml" Requires="v">
                  <p:oleObj spid="_x0000_s53302" name="Ecuación" r:id="rId9" imgW="1714320" imgH="774360" progId="Equation.3">
                    <p:embed/>
                  </p:oleObj>
                </mc:Choice>
                <mc:Fallback>
                  <p:oleObj name="Ecuación" r:id="rId9" imgW="1714320" imgH="77436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8625" y="1969293"/>
                          <a:ext cx="17145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59" name="Object 51"/>
            <p:cNvGraphicFramePr>
              <a:graphicFrameLocks noChangeAspect="1"/>
            </p:cNvGraphicFramePr>
            <p:nvPr/>
          </p:nvGraphicFramePr>
          <p:xfrm>
            <a:off x="8029575" y="1989931"/>
            <a:ext cx="609600" cy="342900"/>
          </p:xfrm>
          <a:graphic>
            <a:graphicData uri="http://schemas.openxmlformats.org/presentationml/2006/ole">
              <mc:AlternateContent xmlns:mc="http://schemas.openxmlformats.org/markup-compatibility/2006">
                <mc:Choice xmlns:v="urn:schemas-microsoft-com:vml" Requires="v">
                  <p:oleObj spid="_x0000_s53303" name="Ecuación" r:id="rId11" imgW="609480" imgH="342720" progId="Equation.3">
                    <p:embed/>
                  </p:oleObj>
                </mc:Choice>
                <mc:Fallback>
                  <p:oleObj name="Ecuación" r:id="rId11" imgW="609480" imgH="34272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29575" y="1989931"/>
                          <a:ext cx="6096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60" name="Object 52"/>
            <p:cNvGraphicFramePr>
              <a:graphicFrameLocks noChangeAspect="1"/>
            </p:cNvGraphicFramePr>
            <p:nvPr/>
          </p:nvGraphicFramePr>
          <p:xfrm>
            <a:off x="185737" y="1989931"/>
            <a:ext cx="596900" cy="342900"/>
          </p:xfrm>
          <a:graphic>
            <a:graphicData uri="http://schemas.openxmlformats.org/presentationml/2006/ole">
              <mc:AlternateContent xmlns:mc="http://schemas.openxmlformats.org/markup-compatibility/2006">
                <mc:Choice xmlns:v="urn:schemas-microsoft-com:vml" Requires="v">
                  <p:oleObj spid="_x0000_s53304" name="Ecuación" r:id="rId13" imgW="596880" imgH="342720" progId="Equation.3">
                    <p:embed/>
                  </p:oleObj>
                </mc:Choice>
                <mc:Fallback>
                  <p:oleObj name="Ecuación" r:id="rId13" imgW="596880" imgH="34272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5737" y="1989931"/>
                          <a:ext cx="5969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461" name="Object 53"/>
          <p:cNvGraphicFramePr>
            <a:graphicFrameLocks noChangeAspect="1"/>
          </p:cNvGraphicFramePr>
          <p:nvPr/>
        </p:nvGraphicFramePr>
        <p:xfrm>
          <a:off x="2844800" y="5733256"/>
          <a:ext cx="3149600" cy="889000"/>
        </p:xfrm>
        <a:graphic>
          <a:graphicData uri="http://schemas.openxmlformats.org/presentationml/2006/ole">
            <mc:AlternateContent xmlns:mc="http://schemas.openxmlformats.org/markup-compatibility/2006">
              <mc:Choice xmlns:v="urn:schemas-microsoft-com:vml" Requires="v">
                <p:oleObj spid="_x0000_s53305" name="Ecuación" r:id="rId15" imgW="3149280" imgH="888840" progId="Equation.3">
                  <p:embed/>
                </p:oleObj>
              </mc:Choice>
              <mc:Fallback>
                <p:oleObj name="Ecuación" r:id="rId15" imgW="3149280" imgH="888840" progId="Equation.3">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4800" y="5733256"/>
                        <a:ext cx="31496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sp>
        <p:nvSpPr>
          <p:cNvPr id="25" name="24 CuadroTexto"/>
          <p:cNvSpPr txBox="1"/>
          <p:nvPr/>
        </p:nvSpPr>
        <p:spPr>
          <a:xfrm>
            <a:off x="539552" y="4365104"/>
            <a:ext cx="7992888" cy="1200329"/>
          </a:xfrm>
          <a:prstGeom prst="rect">
            <a:avLst/>
          </a:prstGeom>
          <a:noFill/>
        </p:spPr>
        <p:txBody>
          <a:bodyPr wrap="square" rtlCol="0">
            <a:spAutoFit/>
          </a:bodyPr>
          <a:lstStyle/>
          <a:p>
            <a:r>
              <a:rPr lang="es-ES" sz="2400" dirty="0">
                <a:latin typeface="Times New Roman" pitchFamily="18" charset="0"/>
                <a:cs typeface="Times New Roman" pitchFamily="18" charset="0"/>
              </a:rPr>
              <a:t>Como el sistema tiene un integrador, se usa el método dos. Se cancela la parte integral y derivativa del controlador. Se obtiene la función de transferencia de lazo cerrado:</a:t>
            </a:r>
            <a:endParaRPr lang="es-AR" sz="2400" dirty="0">
              <a:latin typeface="Times New Roman" pitchFamily="18" charset="0"/>
              <a:cs typeface="Times New Roman" pitchFamily="18" charset="0"/>
            </a:endParaRPr>
          </a:p>
        </p:txBody>
      </p:sp>
      <p:sp>
        <p:nvSpPr>
          <p:cNvPr id="27" name="26 CuadroTexto"/>
          <p:cNvSpPr txBox="1"/>
          <p:nvPr/>
        </p:nvSpPr>
        <p:spPr>
          <a:xfrm>
            <a:off x="539552" y="1484784"/>
            <a:ext cx="8064896" cy="830997"/>
          </a:xfrm>
          <a:prstGeom prst="rect">
            <a:avLst/>
          </a:prstGeom>
          <a:noFill/>
        </p:spPr>
        <p:txBody>
          <a:bodyPr wrap="square" rtlCol="0">
            <a:spAutoFit/>
          </a:bodyPr>
          <a:lstStyle/>
          <a:p>
            <a:r>
              <a:rPr lang="es-ES" sz="2400" dirty="0">
                <a:latin typeface="Times New Roman" pitchFamily="18" charset="0"/>
                <a:cs typeface="Times New Roman" pitchFamily="18" charset="0"/>
              </a:rPr>
              <a:t>Utilice las reglas de </a:t>
            </a:r>
            <a:r>
              <a:rPr lang="es-ES" sz="2400" dirty="0" err="1">
                <a:latin typeface="Times New Roman" pitchFamily="18" charset="0"/>
                <a:cs typeface="Times New Roman" pitchFamily="18" charset="0"/>
              </a:rPr>
              <a:t>Ziegler-Nichols</a:t>
            </a:r>
            <a:r>
              <a:rPr lang="es-ES" sz="2400" dirty="0">
                <a:latin typeface="Times New Roman" pitchFamily="18" charset="0"/>
                <a:cs typeface="Times New Roman" pitchFamily="18" charset="0"/>
              </a:rPr>
              <a:t> para encontrar los parámetros del controlador PID del siguiente sistema de control</a:t>
            </a:r>
            <a:endParaRPr lang="es-AR"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56" name="Object 24"/>
          <p:cNvGraphicFramePr>
            <a:graphicFrameLocks noChangeAspect="1"/>
          </p:cNvGraphicFramePr>
          <p:nvPr/>
        </p:nvGraphicFramePr>
        <p:xfrm>
          <a:off x="2540000" y="2195860"/>
          <a:ext cx="2679700" cy="469900"/>
        </p:xfrm>
        <a:graphic>
          <a:graphicData uri="http://schemas.openxmlformats.org/presentationml/2006/ole">
            <mc:AlternateContent xmlns:mc="http://schemas.openxmlformats.org/markup-compatibility/2006">
              <mc:Choice xmlns:v="urn:schemas-microsoft-com:vml" Requires="v">
                <p:oleObj spid="_x0000_s54324" name="Ecuación" r:id="rId3" imgW="2679480" imgH="469800" progId="Equation.3">
                  <p:embed/>
                </p:oleObj>
              </mc:Choice>
              <mc:Fallback>
                <p:oleObj name="Ecuación" r:id="rId3" imgW="2679480" imgH="469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0" y="2195860"/>
                        <a:ext cx="26797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8" name="Object 26"/>
          <p:cNvGraphicFramePr>
            <a:graphicFrameLocks noChangeAspect="1"/>
          </p:cNvGraphicFramePr>
          <p:nvPr/>
        </p:nvGraphicFramePr>
        <p:xfrm>
          <a:off x="1795462" y="2700685"/>
          <a:ext cx="4025900" cy="469900"/>
        </p:xfrm>
        <a:graphic>
          <a:graphicData uri="http://schemas.openxmlformats.org/presentationml/2006/ole">
            <mc:AlternateContent xmlns:mc="http://schemas.openxmlformats.org/markup-compatibility/2006">
              <mc:Choice xmlns:v="urn:schemas-microsoft-com:vml" Requires="v">
                <p:oleObj spid="_x0000_s54325" name="Ecuación" r:id="rId5" imgW="4025880" imgH="469800" progId="Equation.3">
                  <p:embed/>
                </p:oleObj>
              </mc:Choice>
              <mc:Fallback>
                <p:oleObj name="Ecuación" r:id="rId5" imgW="4025880" imgH="4698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462" y="2700685"/>
                        <a:ext cx="40259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9" name="Object 27"/>
          <p:cNvGraphicFramePr>
            <a:graphicFrameLocks noChangeAspect="1"/>
          </p:cNvGraphicFramePr>
          <p:nvPr/>
        </p:nvGraphicFramePr>
        <p:xfrm>
          <a:off x="2112962" y="3348385"/>
          <a:ext cx="3441700" cy="469900"/>
        </p:xfrm>
        <a:graphic>
          <a:graphicData uri="http://schemas.openxmlformats.org/presentationml/2006/ole">
            <mc:AlternateContent xmlns:mc="http://schemas.openxmlformats.org/markup-compatibility/2006">
              <mc:Choice xmlns:v="urn:schemas-microsoft-com:vml" Requires="v">
                <p:oleObj spid="_x0000_s54326" name="Ecuación" r:id="rId7" imgW="3441600" imgH="469800" progId="Equation.3">
                  <p:embed/>
                </p:oleObj>
              </mc:Choice>
              <mc:Fallback>
                <p:oleObj name="Ecuación" r:id="rId7" imgW="3441600" imgH="4698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962" y="3348385"/>
                        <a:ext cx="34417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0" name="Object 28"/>
          <p:cNvGraphicFramePr>
            <a:graphicFrameLocks noChangeAspect="1"/>
          </p:cNvGraphicFramePr>
          <p:nvPr/>
        </p:nvGraphicFramePr>
        <p:xfrm>
          <a:off x="2324100" y="3924647"/>
          <a:ext cx="876300" cy="419100"/>
        </p:xfrm>
        <a:graphic>
          <a:graphicData uri="http://schemas.openxmlformats.org/presentationml/2006/ole">
            <mc:AlternateContent xmlns:mc="http://schemas.openxmlformats.org/markup-compatibility/2006">
              <mc:Choice xmlns:v="urn:schemas-microsoft-com:vml" Requires="v">
                <p:oleObj spid="_x0000_s54327" name="Ecuación" r:id="rId9" imgW="876240" imgH="419040" progId="Equation.3">
                  <p:embed/>
                </p:oleObj>
              </mc:Choice>
              <mc:Fallback>
                <p:oleObj name="Ecuación" r:id="rId9" imgW="876240" imgH="41904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4100" y="3924647"/>
                        <a:ext cx="8763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1" name="Object 29"/>
          <p:cNvGraphicFramePr>
            <a:graphicFrameLocks noChangeAspect="1"/>
          </p:cNvGraphicFramePr>
          <p:nvPr/>
        </p:nvGraphicFramePr>
        <p:xfrm>
          <a:off x="4268787" y="3924647"/>
          <a:ext cx="914400" cy="330200"/>
        </p:xfrm>
        <a:graphic>
          <a:graphicData uri="http://schemas.openxmlformats.org/presentationml/2006/ole">
            <mc:AlternateContent xmlns:mc="http://schemas.openxmlformats.org/markup-compatibility/2006">
              <mc:Choice xmlns:v="urn:schemas-microsoft-com:vml" Requires="v">
                <p:oleObj spid="_x0000_s54328" name="Ecuación" r:id="rId11" imgW="914400" imgH="330120" progId="Equation.3">
                  <p:embed/>
                </p:oleObj>
              </mc:Choice>
              <mc:Fallback>
                <p:oleObj name="Ecuación" r:id="rId11" imgW="914400" imgH="33012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8787" y="3924647"/>
                        <a:ext cx="9144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2" name="Text Box 30"/>
          <p:cNvSpPr txBox="1">
            <a:spLocks noChangeArrowheads="1"/>
          </p:cNvSpPr>
          <p:nvPr/>
        </p:nvSpPr>
        <p:spPr bwMode="auto">
          <a:xfrm>
            <a:off x="611560" y="4437112"/>
            <a:ext cx="5344733" cy="461665"/>
          </a:xfrm>
          <a:prstGeom prst="rect">
            <a:avLst/>
          </a:prstGeom>
          <a:noFill/>
          <a:ln w="3175">
            <a:noFill/>
            <a:miter lim="800000"/>
            <a:headEnd/>
            <a:tailEnd/>
          </a:ln>
          <a:effectLst/>
        </p:spPr>
        <p:txBody>
          <a:bodyPr wrap="none">
            <a:spAutoFit/>
          </a:bodyPr>
          <a:lstStyle/>
          <a:p>
            <a:r>
              <a:rPr lang="es-ES" sz="2400" dirty="0">
                <a:latin typeface="Times New Roman" pitchFamily="18" charset="0"/>
                <a:cs typeface="Times New Roman" pitchFamily="18" charset="0"/>
              </a:rPr>
              <a:t>El valor de ganancia es la ganancia crítica</a:t>
            </a:r>
          </a:p>
        </p:txBody>
      </p:sp>
      <p:graphicFrame>
        <p:nvGraphicFramePr>
          <p:cNvPr id="18463" name="Object 31"/>
          <p:cNvGraphicFramePr>
            <a:graphicFrameLocks noChangeAspect="1"/>
          </p:cNvGraphicFramePr>
          <p:nvPr/>
        </p:nvGraphicFramePr>
        <p:xfrm>
          <a:off x="3332162" y="4932710"/>
          <a:ext cx="927100" cy="381000"/>
        </p:xfrm>
        <a:graphic>
          <a:graphicData uri="http://schemas.openxmlformats.org/presentationml/2006/ole">
            <mc:AlternateContent xmlns:mc="http://schemas.openxmlformats.org/markup-compatibility/2006">
              <mc:Choice xmlns:v="urn:schemas-microsoft-com:vml" Requires="v">
                <p:oleObj spid="_x0000_s54329" name="Ecuación" r:id="rId13" imgW="927000" imgH="380880" progId="Equation.3">
                  <p:embed/>
                </p:oleObj>
              </mc:Choice>
              <mc:Fallback>
                <p:oleObj name="Ecuación" r:id="rId13" imgW="927000" imgH="38088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32162" y="4932710"/>
                        <a:ext cx="9271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4" name="Text Box 32"/>
          <p:cNvSpPr txBox="1">
            <a:spLocks noChangeArrowheads="1"/>
          </p:cNvSpPr>
          <p:nvPr/>
        </p:nvSpPr>
        <p:spPr bwMode="auto">
          <a:xfrm>
            <a:off x="611560" y="5445224"/>
            <a:ext cx="6506909" cy="461665"/>
          </a:xfrm>
          <a:prstGeom prst="rect">
            <a:avLst/>
          </a:prstGeom>
          <a:noFill/>
          <a:ln w="3175">
            <a:noFill/>
            <a:miter lim="800000"/>
            <a:headEnd/>
            <a:tailEnd/>
          </a:ln>
          <a:effectLst/>
        </p:spPr>
        <p:txBody>
          <a:bodyPr wrap="none">
            <a:spAutoFit/>
          </a:bodyPr>
          <a:lstStyle/>
          <a:p>
            <a:r>
              <a:rPr lang="es-ES" sz="2400" dirty="0">
                <a:latin typeface="Times New Roman" pitchFamily="18" charset="0"/>
                <a:cs typeface="Times New Roman" pitchFamily="18" charset="0"/>
              </a:rPr>
              <a:t>Mientras que el período crítico se obtiene de </a:t>
            </a:r>
            <a:r>
              <a:rPr lang="el-GR" sz="2400" dirty="0">
                <a:latin typeface="Times New Roman" pitchFamily="18" charset="0"/>
                <a:cs typeface="Times New Roman" pitchFamily="18" charset="0"/>
              </a:rPr>
              <a:t>ω</a:t>
            </a:r>
            <a:r>
              <a:rPr lang="en-US" sz="2400" dirty="0">
                <a:latin typeface="Times New Roman" pitchFamily="18" charset="0"/>
                <a:cs typeface="Times New Roman" pitchFamily="18" charset="0"/>
              </a:rPr>
              <a:t>=</a:t>
            </a:r>
            <a:r>
              <a:rPr lang="el-GR" sz="2400" dirty="0">
                <a:latin typeface="Times New Roman" pitchFamily="18" charset="0"/>
                <a:cs typeface="Times New Roman" pitchFamily="18" charset="0"/>
              </a:rPr>
              <a:t>√</a:t>
            </a:r>
            <a:r>
              <a:rPr lang="en-US" sz="2400" dirty="0">
                <a:latin typeface="Times New Roman" pitchFamily="18" charset="0"/>
                <a:cs typeface="Times New Roman" pitchFamily="18" charset="0"/>
              </a:rPr>
              <a:t>2</a:t>
            </a:r>
            <a:r>
              <a:rPr lang="es-ES" sz="2400" dirty="0">
                <a:latin typeface="Times New Roman" pitchFamily="18" charset="0"/>
                <a:cs typeface="Times New Roman" pitchFamily="18" charset="0"/>
              </a:rPr>
              <a:t> </a:t>
            </a:r>
          </a:p>
        </p:txBody>
      </p:sp>
      <p:graphicFrame>
        <p:nvGraphicFramePr>
          <p:cNvPr id="18466" name="Object 34"/>
          <p:cNvGraphicFramePr>
            <a:graphicFrameLocks noChangeAspect="1"/>
          </p:cNvGraphicFramePr>
          <p:nvPr/>
        </p:nvGraphicFramePr>
        <p:xfrm>
          <a:off x="2828925" y="5877272"/>
          <a:ext cx="2222500" cy="711200"/>
        </p:xfrm>
        <a:graphic>
          <a:graphicData uri="http://schemas.openxmlformats.org/presentationml/2006/ole">
            <mc:AlternateContent xmlns:mc="http://schemas.openxmlformats.org/markup-compatibility/2006">
              <mc:Choice xmlns:v="urn:schemas-microsoft-com:vml" Requires="v">
                <p:oleObj spid="_x0000_s54330" name="Ecuación" r:id="rId15" imgW="2222280" imgH="711000" progId="Equation.3">
                  <p:embed/>
                </p:oleObj>
              </mc:Choice>
              <mc:Fallback>
                <p:oleObj name="Ecuación" r:id="rId15" imgW="2222280" imgH="711000" progId="Equation.3">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28925" y="5877272"/>
                        <a:ext cx="22225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sp>
        <p:nvSpPr>
          <p:cNvPr id="16" name="15 CuadroTexto"/>
          <p:cNvSpPr txBox="1"/>
          <p:nvPr/>
        </p:nvSpPr>
        <p:spPr>
          <a:xfrm>
            <a:off x="539552" y="1340768"/>
            <a:ext cx="8064896" cy="830997"/>
          </a:xfrm>
          <a:prstGeom prst="rect">
            <a:avLst/>
          </a:prstGeom>
          <a:noFill/>
        </p:spPr>
        <p:txBody>
          <a:bodyPr wrap="square" rtlCol="0">
            <a:spAutoFit/>
          </a:bodyPr>
          <a:lstStyle/>
          <a:p>
            <a:r>
              <a:rPr lang="es-ES" sz="2400" dirty="0">
                <a:latin typeface="Times New Roman" pitchFamily="18" charset="0"/>
                <a:cs typeface="Times New Roman" pitchFamily="18" charset="0"/>
              </a:rPr>
              <a:t>De la ecuación característica se obtiene el valor de la ganancia  que produce oscilaciones sostenidas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63" name="Object 7"/>
          <p:cNvGraphicFramePr>
            <a:graphicFrameLocks noChangeAspect="1"/>
          </p:cNvGraphicFramePr>
          <p:nvPr/>
        </p:nvGraphicFramePr>
        <p:xfrm>
          <a:off x="1209699" y="3004939"/>
          <a:ext cx="2682195" cy="495622"/>
        </p:xfrm>
        <a:graphic>
          <a:graphicData uri="http://schemas.openxmlformats.org/presentationml/2006/ole">
            <mc:AlternateContent xmlns:mc="http://schemas.openxmlformats.org/markup-compatibility/2006">
              <mc:Choice xmlns:v="urn:schemas-microsoft-com:vml" Requires="v">
                <p:oleObj spid="_x0000_s55340" name="Ecuación" r:id="rId3" imgW="1244520" imgH="228600" progId="Equation.3">
                  <p:embed/>
                </p:oleObj>
              </mc:Choice>
              <mc:Fallback>
                <p:oleObj name="Ecuación" r:id="rId3" imgW="124452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699" y="3004939"/>
                        <a:ext cx="2682195" cy="495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4" name="Object 8"/>
          <p:cNvGraphicFramePr>
            <a:graphicFrameLocks noChangeAspect="1"/>
          </p:cNvGraphicFramePr>
          <p:nvPr/>
        </p:nvGraphicFramePr>
        <p:xfrm>
          <a:off x="1187922" y="3644701"/>
          <a:ext cx="3297671" cy="437315"/>
        </p:xfrm>
        <a:graphic>
          <a:graphicData uri="http://schemas.openxmlformats.org/presentationml/2006/ole">
            <mc:AlternateContent xmlns:mc="http://schemas.openxmlformats.org/markup-compatibility/2006">
              <mc:Choice xmlns:v="urn:schemas-microsoft-com:vml" Requires="v">
                <p:oleObj spid="_x0000_s55341" name="Ecuación" r:id="rId5" imgW="1726920" imgH="228600" progId="Equation.3">
                  <p:embed/>
                </p:oleObj>
              </mc:Choice>
              <mc:Fallback>
                <p:oleObj name="Ecuación" r:id="rId5" imgW="172692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922" y="3644701"/>
                        <a:ext cx="3297671" cy="437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5" name="Object 9"/>
          <p:cNvGraphicFramePr>
            <a:graphicFrameLocks noChangeAspect="1"/>
          </p:cNvGraphicFramePr>
          <p:nvPr/>
        </p:nvGraphicFramePr>
        <p:xfrm>
          <a:off x="1192957" y="2492424"/>
          <a:ext cx="2260600" cy="419100"/>
        </p:xfrm>
        <a:graphic>
          <a:graphicData uri="http://schemas.openxmlformats.org/presentationml/2006/ole">
            <mc:AlternateContent xmlns:mc="http://schemas.openxmlformats.org/markup-compatibility/2006">
              <mc:Choice xmlns:v="urn:schemas-microsoft-com:vml" Requires="v">
                <p:oleObj spid="_x0000_s55342" name="Ecuación" r:id="rId7" imgW="2260440" imgH="419040" progId="Equation.3">
                  <p:embed/>
                </p:oleObj>
              </mc:Choice>
              <mc:Fallback>
                <p:oleObj name="Ecuación" r:id="rId7" imgW="2260440" imgH="41904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2957" y="2492424"/>
                        <a:ext cx="22606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10"/>
          <p:cNvGraphicFramePr>
            <a:graphicFrameLocks noChangeAspect="1"/>
          </p:cNvGraphicFramePr>
          <p:nvPr/>
        </p:nvGraphicFramePr>
        <p:xfrm>
          <a:off x="467544" y="4365104"/>
          <a:ext cx="4483100" cy="762000"/>
        </p:xfrm>
        <a:graphic>
          <a:graphicData uri="http://schemas.openxmlformats.org/presentationml/2006/ole">
            <mc:AlternateContent xmlns:mc="http://schemas.openxmlformats.org/markup-compatibility/2006">
              <mc:Choice xmlns:v="urn:schemas-microsoft-com:vml" Requires="v">
                <p:oleObj spid="_x0000_s55343" name="Ecuación" r:id="rId9" imgW="4483080" imgH="761760" progId="Equation.3">
                  <p:embed/>
                </p:oleObj>
              </mc:Choice>
              <mc:Fallback>
                <p:oleObj name="Ecuación" r:id="rId9" imgW="4483080" imgH="76176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7544" y="4365104"/>
                        <a:ext cx="4483100" cy="762000"/>
                      </a:xfrm>
                      <a:prstGeom prst="rect">
                        <a:avLst/>
                      </a:prstGeom>
                      <a:noFill/>
                      <a:extLst>
                        <a:ext uri="{909E8E84-426E-40DD-AFC4-6F175D3DCCD1}">
                          <a14:hiddenFill xmlns:a14="http://schemas.microsoft.com/office/drawing/2010/main">
                            <a:solidFill>
                              <a:srgbClr val="FFFF99">
                                <a:alpha val="77000"/>
                              </a:srgbClr>
                            </a:solidFill>
                          </a14:hiddenFill>
                        </a:ext>
                      </a:extLst>
                    </p:spPr>
                  </p:pic>
                </p:oleObj>
              </mc:Fallback>
            </mc:AlternateContent>
          </a:graphicData>
        </a:graphic>
      </p:graphicFrame>
      <p:sp>
        <p:nvSpPr>
          <p:cNvPr id="10"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sp>
        <p:nvSpPr>
          <p:cNvPr id="11" name="10 CuadroTexto"/>
          <p:cNvSpPr txBox="1"/>
          <p:nvPr/>
        </p:nvSpPr>
        <p:spPr>
          <a:xfrm>
            <a:off x="539552" y="1556792"/>
            <a:ext cx="7848872" cy="461665"/>
          </a:xfrm>
          <a:prstGeom prst="rect">
            <a:avLst/>
          </a:prstGeom>
          <a:noFill/>
        </p:spPr>
        <p:txBody>
          <a:bodyPr wrap="square" rtlCol="0">
            <a:spAutoFit/>
          </a:bodyPr>
          <a:lstStyle/>
          <a:p>
            <a:r>
              <a:rPr lang="es-ES" sz="2400" dirty="0">
                <a:latin typeface="Times New Roman" pitchFamily="18" charset="0"/>
                <a:cs typeface="Times New Roman" pitchFamily="18" charset="0"/>
              </a:rPr>
              <a:t>Por último se calculan los parámetros del controlador PID:</a:t>
            </a:r>
            <a:endParaRPr lang="es-AR" sz="2400" dirty="0">
              <a:latin typeface="Times New Roman" pitchFamily="18" charset="0"/>
              <a:cs typeface="Times New Roman" pitchFamily="18" charset="0"/>
            </a:endParaRPr>
          </a:p>
        </p:txBody>
      </p:sp>
      <p:graphicFrame>
        <p:nvGraphicFramePr>
          <p:cNvPr id="55302" name="Object 6"/>
          <p:cNvGraphicFramePr>
            <a:graphicFrameLocks noChangeAspect="1"/>
          </p:cNvGraphicFramePr>
          <p:nvPr/>
        </p:nvGraphicFramePr>
        <p:xfrm>
          <a:off x="5220072" y="2276872"/>
          <a:ext cx="3624907" cy="2528352"/>
        </p:xfrm>
        <a:graphic>
          <a:graphicData uri="http://schemas.openxmlformats.org/presentationml/2006/ole">
            <mc:AlternateContent xmlns:mc="http://schemas.openxmlformats.org/markup-compatibility/2006">
              <mc:Choice xmlns:v="urn:schemas-microsoft-com:vml" Requires="v">
                <p:oleObj spid="_x0000_s55344" name="Ecuación" r:id="rId11" imgW="1892160" imgH="1320480" progId="Equation.3">
                  <p:embed/>
                </p:oleObj>
              </mc:Choice>
              <mc:Fallback>
                <p:oleObj name="Ecuación" r:id="rId11" imgW="1892160" imgH="132048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20072" y="2276872"/>
                        <a:ext cx="3624907" cy="2528352"/>
                      </a:xfrm>
                      <a:prstGeom prst="rect">
                        <a:avLst/>
                      </a:prstGeom>
                      <a:noFill/>
                      <a:extLst>
                        <a:ext uri="{909E8E84-426E-40DD-AFC4-6F175D3DCCD1}">
                          <a14:hiddenFill xmlns:a14="http://schemas.microsoft.com/office/drawing/2010/main">
                            <a:solidFill>
                              <a:srgbClr val="CCECFF"/>
                            </a:solidFill>
                          </a14:hiddenFill>
                        </a:ext>
                      </a:extLst>
                    </p:spPr>
                  </p:pic>
                </p:oleObj>
              </mc:Fallback>
            </mc:AlternateContent>
          </a:graphicData>
        </a:graphic>
      </p:graphicFrame>
      <p:graphicFrame>
        <p:nvGraphicFramePr>
          <p:cNvPr id="9" name="8 Objeto"/>
          <p:cNvGraphicFramePr>
            <a:graphicFrameLocks noChangeAspect="1"/>
          </p:cNvGraphicFramePr>
          <p:nvPr/>
        </p:nvGraphicFramePr>
        <p:xfrm>
          <a:off x="4283968" y="5589240"/>
          <a:ext cx="712787" cy="863600"/>
        </p:xfrm>
        <a:graphic>
          <a:graphicData uri="http://schemas.openxmlformats.org/presentationml/2006/ole">
            <mc:AlternateContent xmlns:mc="http://schemas.openxmlformats.org/markup-compatibility/2006">
              <mc:Choice xmlns:v="urn:schemas-microsoft-com:vml" Requires="v">
                <p:oleObj spid="_x0000_s55345" name="Package" r:id="rId13" imgW="712080" imgH="862920" progId="Package">
                  <p:embed/>
                </p:oleObj>
              </mc:Choice>
              <mc:Fallback>
                <p:oleObj name="Package" r:id="rId13" imgW="712080" imgH="862920" progId="Package">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3968" y="5589240"/>
                        <a:ext cx="71278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11 Rectángulo"/>
          <p:cNvSpPr/>
          <p:nvPr/>
        </p:nvSpPr>
        <p:spPr>
          <a:xfrm>
            <a:off x="683568" y="5517232"/>
            <a:ext cx="3312368" cy="1200329"/>
          </a:xfrm>
          <a:prstGeom prst="rect">
            <a:avLst/>
          </a:prstGeom>
        </p:spPr>
        <p:txBody>
          <a:bodyPr wrap="square">
            <a:spAutoFit/>
          </a:bodyPr>
          <a:lstStyle/>
          <a:p>
            <a:r>
              <a:rPr lang="es-AR" sz="2400" dirty="0">
                <a:latin typeface="Times New Roman" pitchFamily="18" charset="0"/>
                <a:cs typeface="Times New Roman" pitchFamily="18" charset="0"/>
              </a:rPr>
              <a:t>s = </a:t>
            </a:r>
            <a:r>
              <a:rPr lang="es-AR" sz="2400" dirty="0" err="1">
                <a:latin typeface="Times New Roman" pitchFamily="18" charset="0"/>
                <a:cs typeface="Times New Roman" pitchFamily="18" charset="0"/>
              </a:rPr>
              <a:t>tf</a:t>
            </a:r>
            <a:r>
              <a:rPr lang="es-AR" sz="2400" dirty="0">
                <a:latin typeface="Times New Roman" pitchFamily="18" charset="0"/>
                <a:cs typeface="Times New Roman" pitchFamily="18" charset="0"/>
              </a:rPr>
              <a:t>('s');</a:t>
            </a:r>
          </a:p>
          <a:p>
            <a:r>
              <a:rPr lang="es-AR" sz="2400" dirty="0" err="1">
                <a:latin typeface="Times New Roman" pitchFamily="18" charset="0"/>
                <a:cs typeface="Times New Roman" pitchFamily="18" charset="0"/>
              </a:rPr>
              <a:t>sys</a:t>
            </a:r>
            <a:r>
              <a:rPr lang="es-AR" sz="2400" dirty="0">
                <a:latin typeface="Times New Roman" pitchFamily="18" charset="0"/>
                <a:cs typeface="Times New Roman" pitchFamily="18" charset="0"/>
              </a:rPr>
              <a:t>=1/(s*(s+1)*(s+2))</a:t>
            </a:r>
          </a:p>
          <a:p>
            <a:r>
              <a:rPr lang="es-AR" sz="2400" dirty="0" err="1">
                <a:latin typeface="Times New Roman" pitchFamily="18" charset="0"/>
                <a:cs typeface="Times New Roman" pitchFamily="18" charset="0"/>
              </a:rPr>
              <a:t>sisotool</a:t>
            </a:r>
            <a:r>
              <a:rPr lang="es-AR" sz="2400" dirty="0">
                <a:latin typeface="Times New Roman" pitchFamily="18" charset="0"/>
                <a:cs typeface="Times New Roman" pitchFamily="18" charset="0"/>
              </a:rPr>
              <a:t>(</a:t>
            </a:r>
            <a:r>
              <a:rPr lang="es-AR" sz="2400" dirty="0" err="1">
                <a:latin typeface="Times New Roman" pitchFamily="18" charset="0"/>
                <a:cs typeface="Times New Roman" pitchFamily="18" charset="0"/>
              </a:rPr>
              <a:t>sys</a:t>
            </a:r>
            <a:r>
              <a:rPr lang="es-AR" sz="2400" dirty="0">
                <a:latin typeface="Times New Roman" pitchFamily="18" charset="0"/>
                <a:cs typeface="Times New Roman" pitchFamily="18"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pic>
        <p:nvPicPr>
          <p:cNvPr id="121865" name="Picture 9"/>
          <p:cNvPicPr preferRelativeResize="0">
            <a:picLocks noChangeArrowheads="1"/>
          </p:cNvPicPr>
          <p:nvPr/>
        </p:nvPicPr>
        <p:blipFill>
          <a:blip r:embed="rId2" cstate="print"/>
          <a:srcRect/>
          <a:stretch>
            <a:fillRect/>
          </a:stretch>
        </p:blipFill>
        <p:spPr bwMode="auto">
          <a:xfrm>
            <a:off x="-1" y="1196751"/>
            <a:ext cx="5760000" cy="4320000"/>
          </a:xfrm>
          <a:prstGeom prst="rect">
            <a:avLst/>
          </a:prstGeom>
          <a:noFill/>
          <a:ln w="9525">
            <a:noFill/>
            <a:miter lim="800000"/>
            <a:headEnd/>
            <a:tailEnd/>
          </a:ln>
          <a:effectLst/>
        </p:spPr>
      </p:pic>
      <p:pic>
        <p:nvPicPr>
          <p:cNvPr id="121864" name="Picture 8"/>
          <p:cNvPicPr preferRelativeResize="0">
            <a:picLocks noChangeArrowheads="1"/>
          </p:cNvPicPr>
          <p:nvPr/>
        </p:nvPicPr>
        <p:blipFill>
          <a:blip r:embed="rId3" cstate="print"/>
          <a:srcRect/>
          <a:stretch>
            <a:fillRect/>
          </a:stretch>
        </p:blipFill>
        <p:spPr bwMode="auto">
          <a:xfrm>
            <a:off x="5058952" y="3113584"/>
            <a:ext cx="4320000" cy="3960000"/>
          </a:xfrm>
          <a:prstGeom prst="rect">
            <a:avLst/>
          </a:prstGeom>
          <a:noFill/>
          <a:ln w="9525">
            <a:noFill/>
            <a:miter lim="800000"/>
            <a:headEnd/>
            <a:tailEnd/>
          </a:ln>
          <a:effectLst/>
        </p:spPr>
      </p:pic>
      <p:sp>
        <p:nvSpPr>
          <p:cNvPr id="12" name="11 CuadroTexto"/>
          <p:cNvSpPr txBox="1"/>
          <p:nvPr/>
        </p:nvSpPr>
        <p:spPr>
          <a:xfrm>
            <a:off x="6804248" y="4221088"/>
            <a:ext cx="864096" cy="369332"/>
          </a:xfrm>
          <a:prstGeom prst="rect">
            <a:avLst/>
          </a:prstGeom>
          <a:noFill/>
        </p:spPr>
        <p:txBody>
          <a:bodyPr wrap="square" rtlCol="0">
            <a:spAutoFit/>
          </a:bodyPr>
          <a:lstStyle/>
          <a:p>
            <a:r>
              <a:rPr lang="es-AR" dirty="0" err="1"/>
              <a:t>Kp</a:t>
            </a:r>
            <a:r>
              <a:rPr lang="es-AR" dirty="0"/>
              <a:t> = 1</a:t>
            </a:r>
          </a:p>
        </p:txBody>
      </p:sp>
      <p:cxnSp>
        <p:nvCxnSpPr>
          <p:cNvPr id="13" name="12 Conector recto de flecha"/>
          <p:cNvCxnSpPr/>
          <p:nvPr/>
        </p:nvCxnSpPr>
        <p:spPr>
          <a:xfrm>
            <a:off x="7596336" y="4509120"/>
            <a:ext cx="504056"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grpSp>
        <p:nvGrpSpPr>
          <p:cNvPr id="12" name="11 Grupo"/>
          <p:cNvGrpSpPr/>
          <p:nvPr/>
        </p:nvGrpSpPr>
        <p:grpSpPr>
          <a:xfrm>
            <a:off x="0" y="1268760"/>
            <a:ext cx="5760000" cy="4320000"/>
            <a:chOff x="971600" y="1268760"/>
            <a:chExt cx="7200800" cy="5307950"/>
          </a:xfrm>
        </p:grpSpPr>
        <p:pic>
          <p:nvPicPr>
            <p:cNvPr id="122882" name="Picture 2"/>
            <p:cNvPicPr>
              <a:picLocks noChangeAspect="1" noChangeArrowheads="1"/>
            </p:cNvPicPr>
            <p:nvPr/>
          </p:nvPicPr>
          <p:blipFill>
            <a:blip r:embed="rId2" cstate="print"/>
            <a:srcRect/>
            <a:stretch>
              <a:fillRect/>
            </a:stretch>
          </p:blipFill>
          <p:spPr bwMode="auto">
            <a:xfrm>
              <a:off x="971600" y="1268760"/>
              <a:ext cx="7200800" cy="5307950"/>
            </a:xfrm>
            <a:prstGeom prst="rect">
              <a:avLst/>
            </a:prstGeom>
            <a:noFill/>
            <a:ln w="9525">
              <a:noFill/>
              <a:miter lim="800000"/>
              <a:headEnd/>
              <a:tailEnd/>
            </a:ln>
            <a:effectLst/>
          </p:spPr>
        </p:pic>
        <p:sp>
          <p:nvSpPr>
            <p:cNvPr id="5" name="4 CuadroTexto"/>
            <p:cNvSpPr txBox="1"/>
            <p:nvPr/>
          </p:nvSpPr>
          <p:spPr>
            <a:xfrm>
              <a:off x="4067943" y="4693243"/>
              <a:ext cx="1392417" cy="439108"/>
            </a:xfrm>
            <a:prstGeom prst="rect">
              <a:avLst/>
            </a:prstGeom>
            <a:noFill/>
          </p:spPr>
          <p:txBody>
            <a:bodyPr wrap="square" rtlCol="0">
              <a:spAutoFit/>
            </a:bodyPr>
            <a:lstStyle/>
            <a:p>
              <a:r>
                <a:rPr lang="es-AR" dirty="0" err="1"/>
                <a:t>Pcr</a:t>
              </a:r>
              <a:r>
                <a:rPr lang="es-AR" dirty="0"/>
                <a:t> = 4.45</a:t>
              </a:r>
            </a:p>
          </p:txBody>
        </p:sp>
        <p:cxnSp>
          <p:nvCxnSpPr>
            <p:cNvPr id="7" name="6 Conector recto de flecha"/>
            <p:cNvCxnSpPr>
              <a:stCxn id="5" idx="3"/>
            </p:cNvCxnSpPr>
            <p:nvPr/>
          </p:nvCxnSpPr>
          <p:spPr>
            <a:xfrm>
              <a:off x="5460360" y="4912797"/>
              <a:ext cx="335775" cy="3884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a:stCxn id="5" idx="1"/>
            </p:cNvCxnSpPr>
            <p:nvPr/>
          </p:nvCxnSpPr>
          <p:spPr>
            <a:xfrm flipH="1">
              <a:off x="3635899" y="4912797"/>
              <a:ext cx="432044" cy="3884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pic>
        <p:nvPicPr>
          <p:cNvPr id="13" name="Picture 7"/>
          <p:cNvPicPr preferRelativeResize="0">
            <a:picLocks noChangeArrowheads="1"/>
          </p:cNvPicPr>
          <p:nvPr/>
        </p:nvPicPr>
        <p:blipFill>
          <a:blip r:embed="rId3" cstate="print"/>
          <a:srcRect/>
          <a:stretch>
            <a:fillRect/>
          </a:stretch>
        </p:blipFill>
        <p:spPr bwMode="auto">
          <a:xfrm>
            <a:off x="4788024" y="2865248"/>
            <a:ext cx="4320000" cy="3960000"/>
          </a:xfrm>
          <a:prstGeom prst="rect">
            <a:avLst/>
          </a:prstGeom>
          <a:noFill/>
          <a:ln w="9525">
            <a:noFill/>
            <a:miter lim="800000"/>
            <a:headEnd/>
            <a:tailEnd/>
          </a:ln>
          <a:effectLst/>
        </p:spPr>
      </p:pic>
      <p:sp>
        <p:nvSpPr>
          <p:cNvPr id="18" name="17 CuadroTexto"/>
          <p:cNvSpPr txBox="1"/>
          <p:nvPr/>
        </p:nvSpPr>
        <p:spPr>
          <a:xfrm>
            <a:off x="6300192" y="3717032"/>
            <a:ext cx="1368152" cy="369332"/>
          </a:xfrm>
          <a:prstGeom prst="rect">
            <a:avLst/>
          </a:prstGeom>
          <a:noFill/>
        </p:spPr>
        <p:txBody>
          <a:bodyPr wrap="square" rtlCol="0">
            <a:spAutoFit/>
          </a:bodyPr>
          <a:lstStyle/>
          <a:p>
            <a:r>
              <a:rPr lang="es-AR" dirty="0" err="1"/>
              <a:t>Kp</a:t>
            </a:r>
            <a:r>
              <a:rPr lang="es-AR" dirty="0"/>
              <a:t> = </a:t>
            </a:r>
            <a:r>
              <a:rPr lang="es-AR" dirty="0" err="1"/>
              <a:t>Kcr</a:t>
            </a:r>
            <a:r>
              <a:rPr lang="es-AR" dirty="0"/>
              <a:t> = 6</a:t>
            </a:r>
          </a:p>
        </p:txBody>
      </p:sp>
      <p:cxnSp>
        <p:nvCxnSpPr>
          <p:cNvPr id="20" name="19 Conector recto de flecha"/>
          <p:cNvCxnSpPr/>
          <p:nvPr/>
        </p:nvCxnSpPr>
        <p:spPr>
          <a:xfrm>
            <a:off x="7596336" y="4005064"/>
            <a:ext cx="504056"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1</a:t>
            </a:r>
          </a:p>
        </p:txBody>
      </p:sp>
      <p:pic>
        <p:nvPicPr>
          <p:cNvPr id="123907" name="Picture 3"/>
          <p:cNvPicPr preferRelativeResize="0">
            <a:picLocks noChangeArrowheads="1"/>
          </p:cNvPicPr>
          <p:nvPr/>
        </p:nvPicPr>
        <p:blipFill>
          <a:blip r:embed="rId2" cstate="print"/>
          <a:srcRect/>
          <a:stretch>
            <a:fillRect/>
          </a:stretch>
        </p:blipFill>
        <p:spPr bwMode="auto">
          <a:xfrm>
            <a:off x="-1" y="1124743"/>
            <a:ext cx="5760000" cy="4320000"/>
          </a:xfrm>
          <a:prstGeom prst="rect">
            <a:avLst/>
          </a:prstGeom>
          <a:noFill/>
          <a:ln w="9525">
            <a:noFill/>
            <a:miter lim="800000"/>
            <a:headEnd/>
            <a:tailEnd/>
          </a:ln>
          <a:effectLst/>
        </p:spPr>
      </p:pic>
      <p:pic>
        <p:nvPicPr>
          <p:cNvPr id="123906" name="Picture 2"/>
          <p:cNvPicPr preferRelativeResize="0">
            <a:picLocks noChangeArrowheads="1"/>
          </p:cNvPicPr>
          <p:nvPr/>
        </p:nvPicPr>
        <p:blipFill>
          <a:blip r:embed="rId3" cstate="print"/>
          <a:srcRect/>
          <a:stretch>
            <a:fillRect/>
          </a:stretch>
        </p:blipFill>
        <p:spPr bwMode="auto">
          <a:xfrm>
            <a:off x="4824000" y="2898000"/>
            <a:ext cx="4320000" cy="3960000"/>
          </a:xfrm>
          <a:prstGeom prst="rect">
            <a:avLst/>
          </a:prstGeom>
          <a:noFill/>
          <a:ln w="9525">
            <a:noFill/>
            <a:miter lim="800000"/>
            <a:headEnd/>
            <a:tailEnd/>
          </a:ln>
          <a:effectLst/>
        </p:spPr>
      </p:pic>
      <p:sp>
        <p:nvSpPr>
          <p:cNvPr id="14" name="13 CuadroTexto"/>
          <p:cNvSpPr txBox="1"/>
          <p:nvPr/>
        </p:nvSpPr>
        <p:spPr>
          <a:xfrm>
            <a:off x="6300192" y="3717032"/>
            <a:ext cx="1368152" cy="369332"/>
          </a:xfrm>
          <a:prstGeom prst="rect">
            <a:avLst/>
          </a:prstGeom>
          <a:noFill/>
        </p:spPr>
        <p:txBody>
          <a:bodyPr wrap="square" rtlCol="0">
            <a:spAutoFit/>
          </a:bodyPr>
          <a:lstStyle/>
          <a:p>
            <a:r>
              <a:rPr lang="es-AR" dirty="0"/>
              <a:t>PID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539552" y="1916832"/>
            <a:ext cx="8280920" cy="3785652"/>
          </a:xfrm>
          <a:prstGeom prst="rect">
            <a:avLst/>
          </a:prstGeom>
          <a:noFill/>
        </p:spPr>
        <p:txBody>
          <a:bodyPr wrap="square" rtlCol="0">
            <a:spAutoFit/>
          </a:bodyPr>
          <a:lstStyle/>
          <a:p>
            <a:r>
              <a:rPr lang="es-AR" sz="2400" dirty="0">
                <a:latin typeface="Times New Roman" pitchFamily="18" charset="0"/>
                <a:cs typeface="Times New Roman" pitchFamily="18" charset="0"/>
              </a:rPr>
              <a:t>Llevar manualmente la planta a lazo abierto a un punto de operación normal manipulando U(t). Supongamos que la planta se estabiliza en C(t) = C(t)</a:t>
            </a:r>
            <a:r>
              <a:rPr lang="es-AR" sz="2400" baseline="-25000" dirty="0">
                <a:latin typeface="Times New Roman" pitchFamily="18" charset="0"/>
                <a:cs typeface="Times New Roman" pitchFamily="18" charset="0"/>
              </a:rPr>
              <a:t>inicial</a:t>
            </a:r>
            <a:r>
              <a:rPr lang="es-AR" sz="2400" dirty="0">
                <a:latin typeface="Times New Roman" pitchFamily="18" charset="0"/>
                <a:cs typeface="Times New Roman" pitchFamily="18" charset="0"/>
              </a:rPr>
              <a:t> para U(t) = </a:t>
            </a:r>
            <a:r>
              <a:rPr lang="es-AR" sz="2400" dirty="0" err="1">
                <a:latin typeface="Times New Roman" pitchFamily="18" charset="0"/>
                <a:cs typeface="Times New Roman" pitchFamily="18" charset="0"/>
              </a:rPr>
              <a:t>U</a:t>
            </a:r>
            <a:r>
              <a:rPr lang="es-AR" sz="2400" baseline="-25000" dirty="0" err="1">
                <a:latin typeface="Times New Roman" pitchFamily="18" charset="0"/>
                <a:cs typeface="Times New Roman" pitchFamily="18" charset="0"/>
              </a:rPr>
              <a:t>inicial</a:t>
            </a:r>
            <a:r>
              <a:rPr lang="es-AR" sz="2400" dirty="0">
                <a:latin typeface="Times New Roman" pitchFamily="18" charset="0"/>
                <a:cs typeface="Times New Roman" pitchFamily="18" charset="0"/>
              </a:rPr>
              <a:t>.</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En un instante inicial t</a:t>
            </a:r>
            <a:r>
              <a:rPr lang="es-AR" sz="2400" baseline="-25000" dirty="0">
                <a:latin typeface="Times New Roman" pitchFamily="18" charset="0"/>
                <a:cs typeface="Times New Roman" pitchFamily="18" charset="0"/>
              </a:rPr>
              <a:t>0</a:t>
            </a:r>
            <a:r>
              <a:rPr lang="es-AR" sz="2400" dirty="0">
                <a:latin typeface="Times New Roman" pitchFamily="18" charset="0"/>
                <a:cs typeface="Times New Roman" pitchFamily="18" charset="0"/>
              </a:rPr>
              <a:t> aplicar un cambio escalón en la entrada de </a:t>
            </a:r>
            <a:r>
              <a:rPr lang="es-AR" sz="2400" dirty="0" err="1">
                <a:latin typeface="Times New Roman" pitchFamily="18" charset="0"/>
                <a:cs typeface="Times New Roman" pitchFamily="18" charset="0"/>
              </a:rPr>
              <a:t>U</a:t>
            </a:r>
            <a:r>
              <a:rPr lang="es-AR" sz="2400" baseline="-25000" dirty="0" err="1">
                <a:latin typeface="Times New Roman" pitchFamily="18" charset="0"/>
                <a:cs typeface="Times New Roman" pitchFamily="18" charset="0"/>
              </a:rPr>
              <a:t>inicial</a:t>
            </a:r>
            <a:r>
              <a:rPr lang="es-AR" sz="2400" dirty="0">
                <a:latin typeface="Times New Roman" pitchFamily="18" charset="0"/>
                <a:cs typeface="Times New Roman" pitchFamily="18" charset="0"/>
              </a:rPr>
              <a:t> a </a:t>
            </a:r>
            <a:r>
              <a:rPr lang="es-AR" sz="2400" dirty="0" err="1">
                <a:latin typeface="Times New Roman" pitchFamily="18" charset="0"/>
                <a:cs typeface="Times New Roman" pitchFamily="18" charset="0"/>
              </a:rPr>
              <a:t>U</a:t>
            </a:r>
            <a:r>
              <a:rPr lang="es-AR" sz="2400" baseline="-25000" dirty="0" err="1">
                <a:latin typeface="Times New Roman" pitchFamily="18" charset="0"/>
                <a:cs typeface="Times New Roman" pitchFamily="18" charset="0"/>
              </a:rPr>
              <a:t>final</a:t>
            </a:r>
            <a:r>
              <a:rPr lang="es-AR" sz="2400" dirty="0">
                <a:latin typeface="Times New Roman" pitchFamily="18" charset="0"/>
                <a:cs typeface="Times New Roman" pitchFamily="18" charset="0"/>
              </a:rPr>
              <a:t>, el salto debe estar entre un 10% a 20% del valor nominal.</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Registrar la respuesta de la salida hasta que se estabilice en el nuevo punto de operación.</a:t>
            </a:r>
          </a:p>
        </p:txBody>
      </p:sp>
      <p:sp>
        <p:nvSpPr>
          <p:cNvPr id="6"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400" b="0" i="0" u="none" strike="noStrike" kern="1200" cap="none" spc="0" normalizeH="0" baseline="0" noProof="0" dirty="0">
                <a:ln>
                  <a:noFill/>
                </a:ln>
                <a:solidFill>
                  <a:schemeClr val="tx1"/>
                </a:solidFill>
                <a:effectLst/>
                <a:uLnTx/>
                <a:uFillTx/>
                <a:latin typeface="+mj-lt"/>
                <a:ea typeface="+mj-ea"/>
                <a:cs typeface="+mj-cs"/>
              </a:rPr>
              <a:t>Ejemplo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graphicFrame>
        <p:nvGraphicFramePr>
          <p:cNvPr id="5" name="Object 35"/>
          <p:cNvGraphicFramePr>
            <a:graphicFrameLocks noChangeAspect="1"/>
          </p:cNvGraphicFramePr>
          <p:nvPr/>
        </p:nvGraphicFramePr>
        <p:xfrm>
          <a:off x="3707904" y="1484784"/>
          <a:ext cx="2636838" cy="817562"/>
        </p:xfrm>
        <a:graphic>
          <a:graphicData uri="http://schemas.openxmlformats.org/presentationml/2006/ole">
            <mc:AlternateContent xmlns:mc="http://schemas.openxmlformats.org/markup-compatibility/2006">
              <mc:Choice xmlns:v="urn:schemas-microsoft-com:vml" Requires="v">
                <p:oleObj spid="_x0000_s81942" name="Ecuación" r:id="rId3" imgW="1473120" imgH="457200" progId="Equation.3">
                  <p:embed/>
                </p:oleObj>
              </mc:Choice>
              <mc:Fallback>
                <p:oleObj name="Ecuación" r:id="rId3" imgW="1473120" imgH="45720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1484784"/>
                        <a:ext cx="2636838" cy="81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5"/>
          <p:cNvGraphicFramePr>
            <a:graphicFrameLocks noChangeAspect="1"/>
          </p:cNvGraphicFramePr>
          <p:nvPr/>
        </p:nvGraphicFramePr>
        <p:xfrm>
          <a:off x="7164288" y="1484784"/>
          <a:ext cx="1114425" cy="817563"/>
        </p:xfrm>
        <a:graphic>
          <a:graphicData uri="http://schemas.openxmlformats.org/presentationml/2006/ole">
            <mc:AlternateContent xmlns:mc="http://schemas.openxmlformats.org/markup-compatibility/2006">
              <mc:Choice xmlns:v="urn:schemas-microsoft-com:vml" Requires="v">
                <p:oleObj spid="_x0000_s81943" name="Ecuación" r:id="rId5" imgW="622080" imgH="457200" progId="Equation.3">
                  <p:embed/>
                </p:oleObj>
              </mc:Choice>
              <mc:Fallback>
                <p:oleObj name="Ecuación" r:id="rId5" imgW="622080" imgH="4572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288" y="1484784"/>
                        <a:ext cx="1114425"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23" name="Object 3"/>
          <p:cNvGraphicFramePr>
            <a:graphicFrameLocks noChangeAspect="1"/>
          </p:cNvGraphicFramePr>
          <p:nvPr/>
        </p:nvGraphicFramePr>
        <p:xfrm>
          <a:off x="1259632" y="1484784"/>
          <a:ext cx="1689100" cy="838200"/>
        </p:xfrm>
        <a:graphic>
          <a:graphicData uri="http://schemas.openxmlformats.org/presentationml/2006/ole">
            <mc:AlternateContent xmlns:mc="http://schemas.openxmlformats.org/markup-compatibility/2006">
              <mc:Choice xmlns:v="urn:schemas-microsoft-com:vml" Requires="v">
                <p:oleObj spid="_x0000_s81944" name="Ecuación" r:id="rId7" imgW="1688760" imgH="838080" progId="Equation.3">
                  <p:embed/>
                </p:oleObj>
              </mc:Choice>
              <mc:Fallback>
                <p:oleObj name="Ecuación" r:id="rId7" imgW="1688760" imgH="83808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2" y="1484784"/>
                        <a:ext cx="16891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4" name="33 Grupo"/>
          <p:cNvGrpSpPr/>
          <p:nvPr/>
        </p:nvGrpSpPr>
        <p:grpSpPr>
          <a:xfrm>
            <a:off x="1115616" y="2420888"/>
            <a:ext cx="6946555" cy="4298994"/>
            <a:chOff x="755576" y="2420888"/>
            <a:chExt cx="6946555" cy="4298994"/>
          </a:xfrm>
        </p:grpSpPr>
        <p:grpSp>
          <p:nvGrpSpPr>
            <p:cNvPr id="16" name="15 Grupo"/>
            <p:cNvGrpSpPr/>
            <p:nvPr/>
          </p:nvGrpSpPr>
          <p:grpSpPr>
            <a:xfrm>
              <a:off x="755576" y="2420888"/>
              <a:ext cx="6946555" cy="4298994"/>
              <a:chOff x="755576" y="2420888"/>
              <a:chExt cx="6946555" cy="4298994"/>
            </a:xfrm>
          </p:grpSpPr>
          <p:sp>
            <p:nvSpPr>
              <p:cNvPr id="7" name="6 CuadroTexto"/>
              <p:cNvSpPr txBox="1"/>
              <p:nvPr/>
            </p:nvSpPr>
            <p:spPr>
              <a:xfrm>
                <a:off x="899592" y="2420888"/>
                <a:ext cx="936104" cy="830997"/>
              </a:xfrm>
              <a:prstGeom prst="rect">
                <a:avLst/>
              </a:prstGeom>
              <a:noFill/>
            </p:spPr>
            <p:txBody>
              <a:bodyPr wrap="square" rtlCol="0">
                <a:spAutoFit/>
              </a:bodyPr>
              <a:lstStyle/>
              <a:p>
                <a:pPr algn="r"/>
                <a:r>
                  <a:rPr lang="es-AR" sz="1600" dirty="0"/>
                  <a:t>C(t)</a:t>
                </a:r>
              </a:p>
              <a:p>
                <a:endParaRPr lang="es-AR" sz="1600" dirty="0"/>
              </a:p>
              <a:p>
                <a:pPr algn="r"/>
                <a:r>
                  <a:rPr lang="es-AR" sz="1600" dirty="0"/>
                  <a:t>C(t) final</a:t>
                </a:r>
              </a:p>
            </p:txBody>
          </p:sp>
          <p:pic>
            <p:nvPicPr>
              <p:cNvPr id="81924" name="Picture 4"/>
              <p:cNvPicPr>
                <a:picLocks noChangeAspect="1" noChangeArrowheads="1"/>
              </p:cNvPicPr>
              <p:nvPr/>
            </p:nvPicPr>
            <p:blipFill>
              <a:blip r:embed="rId9" cstate="print"/>
              <a:srcRect/>
              <a:stretch>
                <a:fillRect/>
              </a:stretch>
            </p:blipFill>
            <p:spPr bwMode="auto">
              <a:xfrm>
                <a:off x="1763688" y="2636912"/>
                <a:ext cx="5938443" cy="3794745"/>
              </a:xfrm>
              <a:prstGeom prst="rect">
                <a:avLst/>
              </a:prstGeom>
              <a:noFill/>
              <a:ln w="9525">
                <a:noFill/>
                <a:miter lim="800000"/>
                <a:headEnd/>
                <a:tailEnd/>
              </a:ln>
            </p:spPr>
          </p:pic>
          <p:sp>
            <p:nvSpPr>
              <p:cNvPr id="9" name="8 CuadroTexto"/>
              <p:cNvSpPr txBox="1"/>
              <p:nvPr/>
            </p:nvSpPr>
            <p:spPr>
              <a:xfrm>
                <a:off x="827584" y="5517232"/>
                <a:ext cx="1008112" cy="338554"/>
              </a:xfrm>
              <a:prstGeom prst="rect">
                <a:avLst/>
              </a:prstGeom>
              <a:noFill/>
            </p:spPr>
            <p:txBody>
              <a:bodyPr wrap="square" rtlCol="0">
                <a:spAutoFit/>
              </a:bodyPr>
              <a:lstStyle/>
              <a:p>
                <a:pPr algn="r"/>
                <a:r>
                  <a:rPr lang="es-AR" sz="1600" dirty="0"/>
                  <a:t>C(t) inicial</a:t>
                </a:r>
              </a:p>
            </p:txBody>
          </p:sp>
          <p:sp>
            <p:nvSpPr>
              <p:cNvPr id="10" name="9 CuadroTexto"/>
              <p:cNvSpPr txBox="1"/>
              <p:nvPr/>
            </p:nvSpPr>
            <p:spPr>
              <a:xfrm>
                <a:off x="2267744" y="6381328"/>
                <a:ext cx="2736304" cy="338554"/>
              </a:xfrm>
              <a:prstGeom prst="rect">
                <a:avLst/>
              </a:prstGeom>
              <a:noFill/>
            </p:spPr>
            <p:txBody>
              <a:bodyPr wrap="square" rtlCol="0">
                <a:spAutoFit/>
              </a:bodyPr>
              <a:lstStyle/>
              <a:p>
                <a:r>
                  <a:rPr lang="es-AR" sz="1600" dirty="0"/>
                  <a:t>t</a:t>
                </a:r>
                <a:r>
                  <a:rPr lang="es-AR" sz="1600" baseline="-25000" dirty="0"/>
                  <a:t>0</a:t>
                </a:r>
                <a:r>
                  <a:rPr lang="es-AR" sz="1600" dirty="0"/>
                  <a:t>           t</a:t>
                </a:r>
                <a:r>
                  <a:rPr lang="es-AR" sz="1600" baseline="-25000" dirty="0"/>
                  <a:t>1</a:t>
                </a:r>
                <a:r>
                  <a:rPr lang="es-AR" sz="1600" dirty="0"/>
                  <a:t>                             t</a:t>
                </a:r>
                <a:r>
                  <a:rPr lang="es-AR" sz="1600" baseline="-25000" dirty="0"/>
                  <a:t>2</a:t>
                </a:r>
              </a:p>
            </p:txBody>
          </p:sp>
          <p:sp>
            <p:nvSpPr>
              <p:cNvPr id="11" name="10 Rectángulo"/>
              <p:cNvSpPr/>
              <p:nvPr/>
            </p:nvSpPr>
            <p:spPr>
              <a:xfrm>
                <a:off x="1907704" y="2708920"/>
                <a:ext cx="360040"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11 Rectángulo"/>
              <p:cNvSpPr/>
              <p:nvPr/>
            </p:nvSpPr>
            <p:spPr>
              <a:xfrm>
                <a:off x="1907704" y="5301208"/>
                <a:ext cx="360040"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12 CuadroTexto"/>
              <p:cNvSpPr txBox="1"/>
              <p:nvPr/>
            </p:nvSpPr>
            <p:spPr>
              <a:xfrm>
                <a:off x="5220072" y="3645024"/>
                <a:ext cx="2088232" cy="338554"/>
              </a:xfrm>
              <a:prstGeom prst="rect">
                <a:avLst/>
              </a:prstGeom>
              <a:solidFill>
                <a:schemeClr val="bg1"/>
              </a:solidFill>
            </p:spPr>
            <p:txBody>
              <a:bodyPr wrap="square" rtlCol="0">
                <a:spAutoFit/>
              </a:bodyPr>
              <a:lstStyle/>
              <a:p>
                <a:r>
                  <a:rPr lang="es-AR" sz="1600" dirty="0">
                    <a:solidFill>
                      <a:srgbClr val="00B050"/>
                    </a:solidFill>
                  </a:rPr>
                  <a:t>Recta tangente</a:t>
                </a:r>
              </a:p>
            </p:txBody>
          </p:sp>
          <p:sp>
            <p:nvSpPr>
              <p:cNvPr id="15" name="14 CuadroTexto"/>
              <p:cNvSpPr txBox="1"/>
              <p:nvPr/>
            </p:nvSpPr>
            <p:spPr>
              <a:xfrm>
                <a:off x="7020272" y="5949280"/>
                <a:ext cx="540568" cy="338554"/>
              </a:xfrm>
              <a:prstGeom prst="rect">
                <a:avLst/>
              </a:prstGeom>
              <a:solidFill>
                <a:schemeClr val="bg1"/>
              </a:solidFill>
            </p:spPr>
            <p:txBody>
              <a:bodyPr wrap="square" rtlCol="0">
                <a:spAutoFit/>
              </a:bodyPr>
              <a:lstStyle/>
              <a:p>
                <a:r>
                  <a:rPr lang="es-AR" sz="1600" dirty="0"/>
                  <a:t>t(s)</a:t>
                </a:r>
              </a:p>
            </p:txBody>
          </p:sp>
          <p:sp>
            <p:nvSpPr>
              <p:cNvPr id="29" name="28 CuadroTexto"/>
              <p:cNvSpPr txBox="1"/>
              <p:nvPr/>
            </p:nvSpPr>
            <p:spPr>
              <a:xfrm>
                <a:off x="755576" y="5805264"/>
                <a:ext cx="1080120" cy="338554"/>
              </a:xfrm>
              <a:prstGeom prst="rect">
                <a:avLst/>
              </a:prstGeom>
              <a:noFill/>
            </p:spPr>
            <p:txBody>
              <a:bodyPr wrap="square" rtlCol="0">
                <a:spAutoFit/>
              </a:bodyPr>
              <a:lstStyle/>
              <a:p>
                <a:pPr algn="r"/>
                <a:r>
                  <a:rPr lang="es-AR" sz="1600" dirty="0">
                    <a:solidFill>
                      <a:srgbClr val="FF0000"/>
                    </a:solidFill>
                  </a:rPr>
                  <a:t>U(t) inicial</a:t>
                </a:r>
              </a:p>
            </p:txBody>
          </p:sp>
          <p:sp>
            <p:nvSpPr>
              <p:cNvPr id="30" name="29 CuadroTexto"/>
              <p:cNvSpPr txBox="1"/>
              <p:nvPr/>
            </p:nvSpPr>
            <p:spPr>
              <a:xfrm>
                <a:off x="755576" y="4797152"/>
                <a:ext cx="1080120" cy="338554"/>
              </a:xfrm>
              <a:prstGeom prst="rect">
                <a:avLst/>
              </a:prstGeom>
              <a:noFill/>
            </p:spPr>
            <p:txBody>
              <a:bodyPr wrap="square" rtlCol="0">
                <a:spAutoFit/>
              </a:bodyPr>
              <a:lstStyle/>
              <a:p>
                <a:pPr algn="r"/>
                <a:r>
                  <a:rPr lang="es-AR" sz="1600" dirty="0">
                    <a:solidFill>
                      <a:srgbClr val="FF0000"/>
                    </a:solidFill>
                  </a:rPr>
                  <a:t>U(t) final</a:t>
                </a:r>
              </a:p>
            </p:txBody>
          </p:sp>
        </p:grpSp>
        <p:cxnSp>
          <p:nvCxnSpPr>
            <p:cNvPr id="18" name="17 Conector recto"/>
            <p:cNvCxnSpPr/>
            <p:nvPr/>
          </p:nvCxnSpPr>
          <p:spPr>
            <a:xfrm>
              <a:off x="1872000" y="5949280"/>
              <a:ext cx="53976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flipV="1">
              <a:off x="2401200" y="4941168"/>
              <a:ext cx="0" cy="10081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a:off x="2401200" y="4941168"/>
              <a:ext cx="302433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flipV="1">
              <a:off x="3059832" y="3068960"/>
              <a:ext cx="1512168" cy="2664296"/>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2" name="31 Conector recto de flecha"/>
            <p:cNvCxnSpPr/>
            <p:nvPr/>
          </p:nvCxnSpPr>
          <p:spPr>
            <a:xfrm flipH="1" flipV="1">
              <a:off x="4355976" y="3474000"/>
              <a:ext cx="792088" cy="36004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grpSp>
        <p:nvGrpSpPr>
          <p:cNvPr id="7" name="6 Grupo"/>
          <p:cNvGrpSpPr/>
          <p:nvPr/>
        </p:nvGrpSpPr>
        <p:grpSpPr>
          <a:xfrm>
            <a:off x="176095" y="1484784"/>
            <a:ext cx="8954620" cy="4968552"/>
            <a:chOff x="176095" y="1484784"/>
            <a:chExt cx="8954620" cy="4968552"/>
          </a:xfrm>
        </p:grpSpPr>
        <p:pic>
          <p:nvPicPr>
            <p:cNvPr id="80897" name="Picture 1"/>
            <p:cNvPicPr>
              <a:picLocks noChangeAspect="1" noChangeArrowheads="1"/>
            </p:cNvPicPr>
            <p:nvPr/>
          </p:nvPicPr>
          <p:blipFill>
            <a:blip r:embed="rId2" cstate="print"/>
            <a:srcRect/>
            <a:stretch>
              <a:fillRect/>
            </a:stretch>
          </p:blipFill>
          <p:spPr bwMode="auto">
            <a:xfrm>
              <a:off x="176095" y="1484784"/>
              <a:ext cx="8954620" cy="4896544"/>
            </a:xfrm>
            <a:prstGeom prst="rect">
              <a:avLst/>
            </a:prstGeom>
            <a:noFill/>
            <a:ln w="9525">
              <a:noFill/>
              <a:miter lim="800000"/>
              <a:headEnd/>
              <a:tailEnd/>
            </a:ln>
          </p:spPr>
        </p:pic>
        <p:sp>
          <p:nvSpPr>
            <p:cNvPr id="5" name="4 Rectángulo"/>
            <p:cNvSpPr/>
            <p:nvPr/>
          </p:nvSpPr>
          <p:spPr>
            <a:xfrm>
              <a:off x="1043608" y="6309320"/>
              <a:ext cx="7920880"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CuadroTexto"/>
            <p:cNvSpPr txBox="1"/>
            <p:nvPr/>
          </p:nvSpPr>
          <p:spPr>
            <a:xfrm>
              <a:off x="5364088" y="3068960"/>
              <a:ext cx="3240360" cy="1477328"/>
            </a:xfrm>
            <a:prstGeom prst="rect">
              <a:avLst/>
            </a:prstGeom>
            <a:solidFill>
              <a:schemeClr val="bg1"/>
            </a:solidFill>
          </p:spPr>
          <p:txBody>
            <a:bodyPr wrap="square" rtlCol="0">
              <a:spAutoFit/>
            </a:bodyPr>
            <a:lstStyle/>
            <a:p>
              <a:r>
                <a:rPr lang="es-AR" dirty="0">
                  <a:latin typeface="Times New Roman" pitchFamily="18" charset="0"/>
                  <a:cs typeface="Times New Roman" pitchFamily="18" charset="0"/>
                </a:rPr>
                <a:t>L = t</a:t>
              </a:r>
              <a:r>
                <a:rPr lang="es-AR" baseline="-25000" dirty="0">
                  <a:latin typeface="Times New Roman" pitchFamily="18" charset="0"/>
                  <a:cs typeface="Times New Roman" pitchFamily="18" charset="0"/>
                </a:rPr>
                <a:t>1 </a:t>
              </a:r>
              <a:r>
                <a:rPr lang="es-AR" dirty="0">
                  <a:latin typeface="Times New Roman" pitchFamily="18" charset="0"/>
                  <a:cs typeface="Times New Roman" pitchFamily="18" charset="0"/>
                </a:rPr>
                <a:t>- t</a:t>
              </a:r>
              <a:r>
                <a:rPr lang="es-AR" baseline="-25000" dirty="0">
                  <a:latin typeface="Times New Roman" pitchFamily="18" charset="0"/>
                  <a:cs typeface="Times New Roman" pitchFamily="18" charset="0"/>
                </a:rPr>
                <a:t>0</a:t>
              </a:r>
              <a:r>
                <a:rPr lang="es-AR" dirty="0">
                  <a:latin typeface="Times New Roman" pitchFamily="18" charset="0"/>
                  <a:cs typeface="Times New Roman" pitchFamily="18" charset="0"/>
                </a:rPr>
                <a:t> = 4 - 3 = 1</a:t>
              </a:r>
            </a:p>
            <a:p>
              <a:r>
                <a:rPr lang="es-AR" dirty="0">
                  <a:latin typeface="Times New Roman" pitchFamily="18" charset="0"/>
                  <a:cs typeface="Times New Roman" pitchFamily="18" charset="0"/>
                </a:rPr>
                <a:t>T = t</a:t>
              </a:r>
              <a:r>
                <a:rPr lang="es-AR" baseline="-25000" dirty="0">
                  <a:latin typeface="Times New Roman" pitchFamily="18" charset="0"/>
                  <a:cs typeface="Times New Roman" pitchFamily="18" charset="0"/>
                </a:rPr>
                <a:t>2 </a:t>
              </a:r>
              <a:r>
                <a:rPr lang="es-AR" dirty="0">
                  <a:latin typeface="Times New Roman" pitchFamily="18" charset="0"/>
                  <a:cs typeface="Times New Roman" pitchFamily="18" charset="0"/>
                </a:rPr>
                <a:t>- t</a:t>
              </a:r>
              <a:r>
                <a:rPr lang="es-AR" baseline="-25000" dirty="0">
                  <a:latin typeface="Times New Roman" pitchFamily="18" charset="0"/>
                  <a:cs typeface="Times New Roman" pitchFamily="18" charset="0"/>
                </a:rPr>
                <a:t>1</a:t>
              </a:r>
              <a:r>
                <a:rPr lang="es-AR" dirty="0">
                  <a:latin typeface="Times New Roman" pitchFamily="18" charset="0"/>
                  <a:cs typeface="Times New Roman" pitchFamily="18" charset="0"/>
                </a:rPr>
                <a:t> = 17.5 - 4 = 12.5</a:t>
              </a:r>
            </a:p>
            <a:p>
              <a:endParaRPr lang="es-AR" dirty="0">
                <a:latin typeface="Times New Roman" pitchFamily="18" charset="0"/>
                <a:cs typeface="Times New Roman" pitchFamily="18" charset="0"/>
              </a:endParaRPr>
            </a:p>
            <a:p>
              <a:r>
                <a:rPr lang="es-AR" dirty="0">
                  <a:latin typeface="Times New Roman" pitchFamily="18" charset="0"/>
                  <a:cs typeface="Times New Roman" pitchFamily="18" charset="0"/>
                </a:rPr>
                <a:t>K = </a:t>
              </a:r>
              <a:r>
                <a:rPr lang="es-AR" u="sng" dirty="0">
                  <a:latin typeface="Times New Roman" pitchFamily="18" charset="0"/>
                  <a:cs typeface="Times New Roman" pitchFamily="18" charset="0"/>
                </a:rPr>
                <a:t>C</a:t>
              </a:r>
              <a:r>
                <a:rPr lang="es-AR" u="sng" baseline="-25000" dirty="0">
                  <a:latin typeface="Times New Roman" pitchFamily="18" charset="0"/>
                  <a:cs typeface="Times New Roman" pitchFamily="18" charset="0"/>
                </a:rPr>
                <a:t>f</a:t>
              </a:r>
              <a:r>
                <a:rPr lang="es-AR" u="sng" dirty="0">
                  <a:latin typeface="Times New Roman" pitchFamily="18" charset="0"/>
                  <a:cs typeface="Times New Roman" pitchFamily="18" charset="0"/>
                </a:rPr>
                <a:t> - C</a:t>
              </a:r>
              <a:r>
                <a:rPr lang="es-AR" u="sng" baseline="-25000" dirty="0">
                  <a:latin typeface="Times New Roman" pitchFamily="18" charset="0"/>
                  <a:cs typeface="Times New Roman" pitchFamily="18" charset="0"/>
                </a:rPr>
                <a:t>i</a:t>
              </a:r>
              <a:r>
                <a:rPr lang="es-AR" u="sng" dirty="0">
                  <a:latin typeface="Times New Roman" pitchFamily="18" charset="0"/>
                  <a:cs typeface="Times New Roman" pitchFamily="18" charset="0"/>
                </a:rPr>
                <a:t> </a:t>
              </a:r>
              <a:r>
                <a:rPr lang="es-AR" dirty="0">
                  <a:latin typeface="Times New Roman" pitchFamily="18" charset="0"/>
                  <a:cs typeface="Times New Roman" pitchFamily="18" charset="0"/>
                </a:rPr>
                <a:t>= </a:t>
              </a:r>
              <a:r>
                <a:rPr lang="es-AR" u="sng" dirty="0">
                  <a:latin typeface="Times New Roman" pitchFamily="18" charset="0"/>
                  <a:cs typeface="Times New Roman" pitchFamily="18" charset="0"/>
                </a:rPr>
                <a:t>276 - 25</a:t>
              </a:r>
              <a:r>
                <a:rPr lang="es-AR" dirty="0">
                  <a:latin typeface="Times New Roman" pitchFamily="18" charset="0"/>
                  <a:cs typeface="Times New Roman" pitchFamily="18" charset="0"/>
                </a:rPr>
                <a:t> = 125.5</a:t>
              </a:r>
            </a:p>
            <a:p>
              <a:r>
                <a:rPr lang="es-AR" dirty="0">
                  <a:latin typeface="Times New Roman" pitchFamily="18" charset="0"/>
                  <a:cs typeface="Times New Roman" pitchFamily="18" charset="0"/>
                </a:rPr>
                <a:t>       U</a:t>
              </a:r>
              <a:r>
                <a:rPr lang="es-AR" baseline="-25000" dirty="0">
                  <a:latin typeface="Times New Roman" pitchFamily="18" charset="0"/>
                  <a:cs typeface="Times New Roman" pitchFamily="18" charset="0"/>
                </a:rPr>
                <a:t>f</a:t>
              </a:r>
              <a:r>
                <a:rPr lang="es-AR" dirty="0">
                  <a:latin typeface="Times New Roman" pitchFamily="18" charset="0"/>
                  <a:cs typeface="Times New Roman" pitchFamily="18" charset="0"/>
                </a:rPr>
                <a:t> - </a:t>
              </a:r>
              <a:r>
                <a:rPr lang="es-AR" dirty="0" err="1">
                  <a:latin typeface="Times New Roman" pitchFamily="18" charset="0"/>
                  <a:cs typeface="Times New Roman" pitchFamily="18" charset="0"/>
                </a:rPr>
                <a:t>U</a:t>
              </a:r>
              <a:r>
                <a:rPr lang="es-AR" baseline="-25000" dirty="0" err="1">
                  <a:latin typeface="Times New Roman" pitchFamily="18" charset="0"/>
                  <a:cs typeface="Times New Roman" pitchFamily="18" charset="0"/>
                </a:rPr>
                <a:t>i</a:t>
              </a:r>
              <a:r>
                <a:rPr lang="es-AR" dirty="0">
                  <a:latin typeface="Times New Roman" pitchFamily="18" charset="0"/>
                  <a:cs typeface="Times New Roman" pitchFamily="18" charset="0"/>
                </a:rPr>
                <a:t>       2 - 0</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graphicFrame>
        <p:nvGraphicFramePr>
          <p:cNvPr id="79873" name="Object 1"/>
          <p:cNvGraphicFramePr>
            <a:graphicFrameLocks noChangeAspect="1"/>
          </p:cNvGraphicFramePr>
          <p:nvPr>
            <p:extLst>
              <p:ext uri="{D42A27DB-BD31-4B8C-83A1-F6EECF244321}">
                <p14:modId xmlns:p14="http://schemas.microsoft.com/office/powerpoint/2010/main" val="4148566992"/>
              </p:ext>
            </p:extLst>
          </p:nvPr>
        </p:nvGraphicFramePr>
        <p:xfrm>
          <a:off x="612775" y="3899957"/>
          <a:ext cx="4608513" cy="792162"/>
        </p:xfrm>
        <a:graphic>
          <a:graphicData uri="http://schemas.openxmlformats.org/presentationml/2006/ole">
            <mc:AlternateContent xmlns:mc="http://schemas.openxmlformats.org/markup-compatibility/2006">
              <mc:Choice xmlns:v="urn:schemas-microsoft-com:vml" Requires="v">
                <p:oleObj spid="_x0000_s79914" name="Ecuación" r:id="rId3" imgW="2286000" imgH="393480" progId="Equation.3">
                  <p:embed/>
                </p:oleObj>
              </mc:Choice>
              <mc:Fallback>
                <p:oleObj name="Ecuación" r:id="rId3" imgW="2286000" imgH="393480" progId="Equation.3">
                  <p:embed/>
                  <p:pic>
                    <p:nvPicPr>
                      <p:cNvPr id="0" name="Picture 1"/>
                      <p:cNvPicPr>
                        <a:picLocks noChangeAspect="1" noChangeArrowheads="1"/>
                      </p:cNvPicPr>
                      <p:nvPr/>
                    </p:nvPicPr>
                    <p:blipFill>
                      <a:blip r:embed="rId4"/>
                      <a:srcRect/>
                      <a:stretch>
                        <a:fillRect/>
                      </a:stretch>
                    </p:blipFill>
                    <p:spPr bwMode="auto">
                      <a:xfrm>
                        <a:off x="612775" y="3899957"/>
                        <a:ext cx="4608513" cy="792162"/>
                      </a:xfrm>
                      <a:prstGeom prst="rect">
                        <a:avLst/>
                      </a:prstGeom>
                      <a:noFill/>
                    </p:spPr>
                  </p:pic>
                </p:oleObj>
              </mc:Fallback>
            </mc:AlternateContent>
          </a:graphicData>
        </a:graphic>
      </p:graphicFrame>
      <p:graphicFrame>
        <p:nvGraphicFramePr>
          <p:cNvPr id="79874" name="Object 1"/>
          <p:cNvGraphicFramePr>
            <a:graphicFrameLocks noChangeAspect="1"/>
          </p:cNvGraphicFramePr>
          <p:nvPr/>
        </p:nvGraphicFramePr>
        <p:xfrm>
          <a:off x="611560" y="5013176"/>
          <a:ext cx="3479233" cy="1600919"/>
        </p:xfrm>
        <a:graphic>
          <a:graphicData uri="http://schemas.openxmlformats.org/presentationml/2006/ole">
            <mc:AlternateContent xmlns:mc="http://schemas.openxmlformats.org/markup-compatibility/2006">
              <mc:Choice xmlns:v="urn:schemas-microsoft-com:vml" Requires="v">
                <p:oleObj spid="_x0000_s79915" name="Ecuación" r:id="rId5" imgW="1485720" imgH="685800" progId="Equation.3">
                  <p:embed/>
                </p:oleObj>
              </mc:Choice>
              <mc:Fallback>
                <p:oleObj name="Ecuación" r:id="rId5" imgW="1485720" imgH="685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5013176"/>
                        <a:ext cx="3479233" cy="16009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875" name="Object 3"/>
          <p:cNvGraphicFramePr>
            <a:graphicFrameLocks noChangeAspect="1"/>
          </p:cNvGraphicFramePr>
          <p:nvPr/>
        </p:nvGraphicFramePr>
        <p:xfrm>
          <a:off x="2123727" y="1844824"/>
          <a:ext cx="4038619" cy="936104"/>
        </p:xfrm>
        <a:graphic>
          <a:graphicData uri="http://schemas.openxmlformats.org/presentationml/2006/ole">
            <mc:AlternateContent xmlns:mc="http://schemas.openxmlformats.org/markup-compatibility/2006">
              <mc:Choice xmlns:v="urn:schemas-microsoft-com:vml" Requires="v">
                <p:oleObj spid="_x0000_s79916" name="Ecuación" r:id="rId7" imgW="1917360" imgH="444240" progId="Equation.3">
                  <p:embed/>
                </p:oleObj>
              </mc:Choice>
              <mc:Fallback>
                <p:oleObj name="Ecuación" r:id="rId7" imgW="1917360" imgH="444240" progId="Equation.3">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3727" y="1844824"/>
                        <a:ext cx="4038619"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6 CuadroTexto"/>
          <p:cNvSpPr txBox="1"/>
          <p:nvPr/>
        </p:nvSpPr>
        <p:spPr>
          <a:xfrm>
            <a:off x="539552" y="1340768"/>
            <a:ext cx="7920880" cy="461665"/>
          </a:xfrm>
          <a:prstGeom prst="rect">
            <a:avLst/>
          </a:prstGeom>
          <a:noFill/>
        </p:spPr>
        <p:txBody>
          <a:bodyPr wrap="square" rtlCol="0">
            <a:spAutoFit/>
          </a:bodyPr>
          <a:lstStyle/>
          <a:p>
            <a:r>
              <a:rPr lang="es-AR" sz="2400" dirty="0">
                <a:latin typeface="Times New Roman" pitchFamily="18" charset="0"/>
                <a:cs typeface="Times New Roman" pitchFamily="18" charset="0"/>
              </a:rPr>
              <a:t>El modelo del sistema de calefacción queda definido:</a:t>
            </a:r>
          </a:p>
        </p:txBody>
      </p:sp>
      <p:sp>
        <p:nvSpPr>
          <p:cNvPr id="8" name="7 CuadroTexto"/>
          <p:cNvSpPr txBox="1"/>
          <p:nvPr/>
        </p:nvSpPr>
        <p:spPr>
          <a:xfrm>
            <a:off x="467544" y="2924944"/>
            <a:ext cx="8064896" cy="830997"/>
          </a:xfrm>
          <a:prstGeom prst="rect">
            <a:avLst/>
          </a:prstGeom>
          <a:noFill/>
        </p:spPr>
        <p:txBody>
          <a:bodyPr wrap="square" rtlCol="0">
            <a:spAutoFit/>
          </a:bodyPr>
          <a:lstStyle/>
          <a:p>
            <a:r>
              <a:rPr lang="es-AR" sz="2400" dirty="0">
                <a:latin typeface="Times New Roman" pitchFamily="18" charset="0"/>
                <a:cs typeface="Times New Roman" pitchFamily="18" charset="0"/>
              </a:rPr>
              <a:t>Los parámetros </a:t>
            </a:r>
            <a:r>
              <a:rPr lang="es-AR" sz="2400" dirty="0" err="1">
                <a:latin typeface="Times New Roman" pitchFamily="18" charset="0"/>
                <a:cs typeface="Times New Roman" pitchFamily="18" charset="0"/>
              </a:rPr>
              <a:t>Kp</a:t>
            </a:r>
            <a:r>
              <a:rPr lang="es-AR" sz="2400" dirty="0">
                <a:latin typeface="Times New Roman" pitchFamily="18" charset="0"/>
                <a:cs typeface="Times New Roman" pitchFamily="18" charset="0"/>
              </a:rPr>
              <a:t>, Ti y </a:t>
            </a:r>
            <a:r>
              <a:rPr lang="es-AR" sz="2400" dirty="0" err="1">
                <a:latin typeface="Times New Roman" pitchFamily="18" charset="0"/>
                <a:cs typeface="Times New Roman" pitchFamily="18" charset="0"/>
              </a:rPr>
              <a:t>Td</a:t>
            </a:r>
            <a:r>
              <a:rPr lang="es-AR" sz="2400" dirty="0">
                <a:latin typeface="Times New Roman" pitchFamily="18" charset="0"/>
                <a:cs typeface="Times New Roman" pitchFamily="18" charset="0"/>
              </a:rPr>
              <a:t> se calculan según las reglas de sintonización de ZN basada en la respuesta al escalón: </a:t>
            </a:r>
          </a:p>
        </p:txBody>
      </p:sp>
      <p:graphicFrame>
        <p:nvGraphicFramePr>
          <p:cNvPr id="79876" name="Object 4"/>
          <p:cNvGraphicFramePr>
            <a:graphicFrameLocks noChangeAspect="1"/>
          </p:cNvGraphicFramePr>
          <p:nvPr>
            <p:extLst>
              <p:ext uri="{D42A27DB-BD31-4B8C-83A1-F6EECF244321}">
                <p14:modId xmlns:p14="http://schemas.microsoft.com/office/powerpoint/2010/main" val="982439498"/>
              </p:ext>
            </p:extLst>
          </p:nvPr>
        </p:nvGraphicFramePr>
        <p:xfrm>
          <a:off x="5251376" y="4185220"/>
          <a:ext cx="3295650" cy="2428875"/>
        </p:xfrm>
        <a:graphic>
          <a:graphicData uri="http://schemas.openxmlformats.org/presentationml/2006/ole">
            <mc:AlternateContent xmlns:mc="http://schemas.openxmlformats.org/markup-compatibility/2006">
              <mc:Choice xmlns:v="urn:schemas-microsoft-com:vml" Requires="v">
                <p:oleObj spid="_x0000_s79917" name="Ecuación" r:id="rId9" imgW="1447560" imgH="1066680" progId="Equation.3">
                  <p:embed/>
                </p:oleObj>
              </mc:Choice>
              <mc:Fallback>
                <p:oleObj name="Ecuación" r:id="rId9" imgW="1447560" imgH="1066680" progId="Equation.3">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1376" y="4185220"/>
                        <a:ext cx="3295650" cy="2428875"/>
                      </a:xfrm>
                      <a:prstGeom prst="rect">
                        <a:avLst/>
                      </a:prstGeom>
                      <a:noFill/>
                      <a:extLst>
                        <a:ext uri="{909E8E84-426E-40DD-AFC4-6F175D3DCCD1}">
                          <a14:hiddenFill xmlns:a14="http://schemas.microsoft.com/office/drawing/2010/main">
                            <a:solidFill>
                              <a:srgbClr val="CCECFF"/>
                            </a:solidFill>
                          </a14:hiddenFill>
                        </a:ext>
                      </a:extLst>
                    </p:spPr>
                  </p:pic>
                </p:oleObj>
              </mc:Fallback>
            </mc:AlternateContent>
          </a:graphicData>
        </a:graphic>
      </p:graphicFrame>
      <p:graphicFrame>
        <p:nvGraphicFramePr>
          <p:cNvPr id="10" name="9 Objeto"/>
          <p:cNvGraphicFramePr>
            <a:graphicFrameLocks noChangeAspect="1"/>
          </p:cNvGraphicFramePr>
          <p:nvPr/>
        </p:nvGraphicFramePr>
        <p:xfrm>
          <a:off x="7668344" y="548680"/>
          <a:ext cx="712787" cy="863600"/>
        </p:xfrm>
        <a:graphic>
          <a:graphicData uri="http://schemas.openxmlformats.org/presentationml/2006/ole">
            <mc:AlternateContent xmlns:mc="http://schemas.openxmlformats.org/markup-compatibility/2006">
              <mc:Choice xmlns:v="urn:schemas-microsoft-com:vml" Requires="v">
                <p:oleObj spid="_x0000_s79918" name="Package" r:id="rId11" imgW="712080" imgH="862920" progId="Package">
                  <p:embed/>
                </p:oleObj>
              </mc:Choice>
              <mc:Fallback>
                <p:oleObj name="Package" r:id="rId11" imgW="712080" imgH="862920" progId="Package">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68344" y="548680"/>
                        <a:ext cx="71278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5" name="Object 1"/>
          <p:cNvGraphicFramePr>
            <a:graphicFrameLocks noChangeAspect="1"/>
          </p:cNvGraphicFramePr>
          <p:nvPr>
            <p:extLst>
              <p:ext uri="{D42A27DB-BD31-4B8C-83A1-F6EECF244321}">
                <p14:modId xmlns:p14="http://schemas.microsoft.com/office/powerpoint/2010/main" val="1902389039"/>
              </p:ext>
            </p:extLst>
          </p:nvPr>
        </p:nvGraphicFramePr>
        <p:xfrm>
          <a:off x="2503488" y="1989138"/>
          <a:ext cx="5391150" cy="1008062"/>
        </p:xfrm>
        <a:graphic>
          <a:graphicData uri="http://schemas.openxmlformats.org/presentationml/2006/ole">
            <mc:AlternateContent xmlns:mc="http://schemas.openxmlformats.org/markup-compatibility/2006">
              <mc:Choice xmlns:v="urn:schemas-microsoft-com:vml" Requires="v">
                <p:oleObj spid="_x0000_s103441" name="Ecuación" r:id="rId3" imgW="2577960" imgH="482400" progId="Equation.3">
                  <p:embed/>
                </p:oleObj>
              </mc:Choice>
              <mc:Fallback>
                <p:oleObj name="Ecuación" r:id="rId3" imgW="2577960" imgH="482400" progId="Equation.3">
                  <p:embed/>
                  <p:pic>
                    <p:nvPicPr>
                      <p:cNvPr id="0" name="Picture 1"/>
                      <p:cNvPicPr>
                        <a:picLocks noChangeAspect="1" noChangeArrowheads="1"/>
                      </p:cNvPicPr>
                      <p:nvPr/>
                    </p:nvPicPr>
                    <p:blipFill>
                      <a:blip r:embed="rId4"/>
                      <a:srcRect/>
                      <a:stretch>
                        <a:fillRect/>
                      </a:stretch>
                    </p:blipFill>
                    <p:spPr bwMode="auto">
                      <a:xfrm>
                        <a:off x="2503488" y="1989138"/>
                        <a:ext cx="53911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
          <p:cNvGraphicFramePr>
            <a:graphicFrameLocks noChangeAspect="1"/>
          </p:cNvGraphicFramePr>
          <p:nvPr/>
        </p:nvGraphicFramePr>
        <p:xfrm>
          <a:off x="2483768" y="3429000"/>
          <a:ext cx="4752528" cy="972766"/>
        </p:xfrm>
        <a:graphic>
          <a:graphicData uri="http://schemas.openxmlformats.org/presentationml/2006/ole">
            <mc:AlternateContent xmlns:mc="http://schemas.openxmlformats.org/markup-compatibility/2006">
              <mc:Choice xmlns:v="urn:schemas-microsoft-com:vml" Requires="v">
                <p:oleObj spid="_x0000_s103442" name="Ecuación" r:id="rId5" imgW="1917360" imgH="393480" progId="Equation.3">
                  <p:embed/>
                </p:oleObj>
              </mc:Choice>
              <mc:Fallback>
                <p:oleObj name="Ecuación" r:id="rId5" imgW="1917360" imgH="39348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3768" y="3429000"/>
                        <a:ext cx="4752528" cy="9727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5 CuadroTexto"/>
          <p:cNvSpPr txBox="1"/>
          <p:nvPr/>
        </p:nvSpPr>
        <p:spPr>
          <a:xfrm>
            <a:off x="539552" y="1556792"/>
            <a:ext cx="7704856" cy="830997"/>
          </a:xfrm>
          <a:prstGeom prst="rect">
            <a:avLst/>
          </a:prstGeom>
          <a:noFill/>
        </p:spPr>
        <p:txBody>
          <a:bodyPr wrap="square" rtlCol="0">
            <a:spAutoFit/>
          </a:bodyPr>
          <a:lstStyle/>
          <a:p>
            <a:r>
              <a:rPr lang="es-AR" sz="2400" dirty="0">
                <a:latin typeface="Times New Roman" pitchFamily="18" charset="0"/>
                <a:cs typeface="Times New Roman" pitchFamily="18" charset="0"/>
              </a:rPr>
              <a:t>La función de transferencia para el controlador </a:t>
            </a:r>
            <a:r>
              <a:rPr lang="es-AR" sz="2400" dirty="0" err="1">
                <a:latin typeface="Times New Roman" pitchFamily="18" charset="0"/>
                <a:cs typeface="Times New Roman" pitchFamily="18" charset="0"/>
              </a:rPr>
              <a:t>Pid</a:t>
            </a:r>
            <a:r>
              <a:rPr lang="es-AR" sz="2400" dirty="0">
                <a:latin typeface="Times New Roman" pitchFamily="18" charset="0"/>
                <a:cs typeface="Times New Roman" pitchFamily="18" charset="0"/>
              </a:rPr>
              <a:t> digital se convierte en:</a:t>
            </a:r>
          </a:p>
        </p:txBody>
      </p:sp>
      <p:sp>
        <p:nvSpPr>
          <p:cNvPr id="7" name="6 CuadroTexto"/>
          <p:cNvSpPr txBox="1"/>
          <p:nvPr/>
        </p:nvSpPr>
        <p:spPr>
          <a:xfrm>
            <a:off x="539552" y="2996952"/>
            <a:ext cx="8280920" cy="461665"/>
          </a:xfrm>
          <a:prstGeom prst="rect">
            <a:avLst/>
          </a:prstGeom>
          <a:noFill/>
        </p:spPr>
        <p:txBody>
          <a:bodyPr wrap="square" rtlCol="0">
            <a:spAutoFit/>
          </a:bodyPr>
          <a:lstStyle/>
          <a:p>
            <a:r>
              <a:rPr lang="es-AR" sz="2400" dirty="0">
                <a:latin typeface="Times New Roman" pitchFamily="18" charset="0"/>
                <a:cs typeface="Times New Roman" pitchFamily="18" charset="0"/>
              </a:rPr>
              <a:t>La función de transferencia discreta puede ser representada como:</a:t>
            </a:r>
          </a:p>
        </p:txBody>
      </p:sp>
      <p:sp>
        <p:nvSpPr>
          <p:cNvPr id="8" name="7 CuadroTexto"/>
          <p:cNvSpPr txBox="1"/>
          <p:nvPr/>
        </p:nvSpPr>
        <p:spPr>
          <a:xfrm>
            <a:off x="539552" y="4437112"/>
            <a:ext cx="8352928" cy="1938992"/>
          </a:xfrm>
          <a:prstGeom prst="rect">
            <a:avLst/>
          </a:prstGeom>
          <a:noFill/>
        </p:spPr>
        <p:txBody>
          <a:bodyPr wrap="square" rtlCol="0">
            <a:spAutoFit/>
          </a:bodyPr>
          <a:lstStyle/>
          <a:p>
            <a:r>
              <a:rPr lang="es-AR" sz="2400" dirty="0">
                <a:latin typeface="Times New Roman" pitchFamily="18" charset="0"/>
                <a:cs typeface="Times New Roman" pitchFamily="18" charset="0"/>
              </a:rPr>
              <a:t>Reemplazando los valores </a:t>
            </a:r>
            <a:r>
              <a:rPr lang="es-AR" sz="2400" dirty="0" err="1">
                <a:latin typeface="Times New Roman" pitchFamily="18" charset="0"/>
                <a:cs typeface="Times New Roman" pitchFamily="18" charset="0"/>
              </a:rPr>
              <a:t>Kp</a:t>
            </a:r>
            <a:r>
              <a:rPr lang="es-AR" sz="2400" dirty="0">
                <a:latin typeface="Times New Roman" pitchFamily="18" charset="0"/>
                <a:cs typeface="Times New Roman" pitchFamily="18" charset="0"/>
              </a:rPr>
              <a:t>, Ti y </a:t>
            </a:r>
            <a:r>
              <a:rPr lang="es-AR" sz="2400" dirty="0" err="1">
                <a:latin typeface="Times New Roman" pitchFamily="18" charset="0"/>
                <a:cs typeface="Times New Roman" pitchFamily="18" charset="0"/>
              </a:rPr>
              <a:t>Td</a:t>
            </a:r>
            <a:r>
              <a:rPr lang="es-AR" sz="2400" dirty="0">
                <a:latin typeface="Times New Roman" pitchFamily="18" charset="0"/>
                <a:cs typeface="Times New Roman" pitchFamily="18" charset="0"/>
              </a:rPr>
              <a:t> en las ecuaciones del control digital y estableciendo un periodo de muestreo </a:t>
            </a:r>
            <a:r>
              <a:rPr lang="es-AR" sz="2400" dirty="0" err="1">
                <a:latin typeface="Times New Roman" pitchFamily="18" charset="0"/>
                <a:cs typeface="Times New Roman" pitchFamily="18" charset="0"/>
              </a:rPr>
              <a:t>Ts</a:t>
            </a:r>
            <a:r>
              <a:rPr lang="es-AR" sz="2400" dirty="0">
                <a:latin typeface="Times New Roman" pitchFamily="18" charset="0"/>
                <a:cs typeface="Times New Roman" pitchFamily="18" charset="0"/>
              </a:rPr>
              <a:t>=0.1 </a:t>
            </a:r>
            <a:r>
              <a:rPr lang="es-AR" sz="2400" dirty="0" err="1">
                <a:latin typeface="Times New Roman" pitchFamily="18" charset="0"/>
                <a:cs typeface="Times New Roman" pitchFamily="18" charset="0"/>
              </a:rPr>
              <a:t>seg</a:t>
            </a:r>
            <a:r>
              <a:rPr lang="es-AR" sz="2400" dirty="0">
                <a:latin typeface="Times New Roman" pitchFamily="18" charset="0"/>
                <a:cs typeface="Times New Roman" pitchFamily="18" charset="0"/>
              </a:rPr>
              <a:t>., según criterio T &lt; L/4, los parámetros del controlador discreto son:</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a = </a:t>
            </a:r>
            <a:r>
              <a:rPr lang="es-AR" sz="2400" dirty="0" err="1">
                <a:latin typeface="Times New Roman" pitchFamily="18" charset="0"/>
                <a:cs typeface="Times New Roman" pitchFamily="18" charset="0"/>
              </a:rPr>
              <a:t>K</a:t>
            </a:r>
            <a:r>
              <a:rPr lang="es-AR" sz="2400" baseline="-25000" dirty="0" err="1">
                <a:latin typeface="Times New Roman" pitchFamily="18" charset="0"/>
                <a:cs typeface="Times New Roman" pitchFamily="18" charset="0"/>
              </a:rPr>
              <a:t>p</a:t>
            </a:r>
            <a:r>
              <a:rPr lang="es-AR" sz="2400" dirty="0">
                <a:latin typeface="Times New Roman" pitchFamily="18" charset="0"/>
                <a:cs typeface="Times New Roman" pitchFamily="18" charset="0"/>
              </a:rPr>
              <a:t> = 0.1195;   b = </a:t>
            </a:r>
            <a:r>
              <a:rPr lang="es-AR" sz="2400" dirty="0" err="1">
                <a:latin typeface="Times New Roman" pitchFamily="18" charset="0"/>
                <a:cs typeface="Times New Roman" pitchFamily="18" charset="0"/>
              </a:rPr>
              <a:t>K</a:t>
            </a:r>
            <a:r>
              <a:rPr lang="es-AR" sz="2400" baseline="-25000" dirty="0" err="1">
                <a:latin typeface="Times New Roman" pitchFamily="18" charset="0"/>
                <a:cs typeface="Times New Roman" pitchFamily="18" charset="0"/>
              </a:rPr>
              <a:t>p</a:t>
            </a:r>
            <a:r>
              <a:rPr lang="es-AR" sz="2400" dirty="0" err="1">
                <a:latin typeface="Times New Roman" pitchFamily="18" charset="0"/>
                <a:cs typeface="Times New Roman" pitchFamily="18" charset="0"/>
              </a:rPr>
              <a:t>.Ts</a:t>
            </a:r>
            <a:r>
              <a:rPr lang="es-AR" sz="2400" dirty="0">
                <a:latin typeface="Times New Roman" pitchFamily="18" charset="0"/>
                <a:cs typeface="Times New Roman" pitchFamily="18" charset="0"/>
              </a:rPr>
              <a:t>/2/T</a:t>
            </a:r>
            <a:r>
              <a:rPr lang="es-AR" sz="2400" baseline="-25000" dirty="0">
                <a:latin typeface="Times New Roman" pitchFamily="18" charset="0"/>
                <a:cs typeface="Times New Roman" pitchFamily="18" charset="0"/>
              </a:rPr>
              <a:t>i</a:t>
            </a:r>
            <a:r>
              <a:rPr lang="es-AR" sz="2400" dirty="0">
                <a:latin typeface="Times New Roman" pitchFamily="18" charset="0"/>
                <a:cs typeface="Times New Roman" pitchFamily="18" charset="0"/>
              </a:rPr>
              <a:t>= 0.003;    c = </a:t>
            </a:r>
            <a:r>
              <a:rPr lang="es-AR" sz="2400" dirty="0" err="1">
                <a:latin typeface="Times New Roman" pitchFamily="18" charset="0"/>
                <a:cs typeface="Times New Roman" pitchFamily="18" charset="0"/>
              </a:rPr>
              <a:t>K</a:t>
            </a:r>
            <a:r>
              <a:rPr lang="es-AR" sz="2400" baseline="-25000" dirty="0" err="1">
                <a:latin typeface="Times New Roman" pitchFamily="18" charset="0"/>
                <a:cs typeface="Times New Roman" pitchFamily="18" charset="0"/>
              </a:rPr>
              <a:t>p</a:t>
            </a:r>
            <a:r>
              <a:rPr lang="es-AR" sz="2400" dirty="0" err="1">
                <a:latin typeface="Times New Roman" pitchFamily="18" charset="0"/>
                <a:cs typeface="Times New Roman" pitchFamily="18" charset="0"/>
              </a:rPr>
              <a:t>.T</a:t>
            </a:r>
            <a:r>
              <a:rPr lang="es-AR" sz="2400" baseline="-25000" dirty="0" err="1">
                <a:latin typeface="Times New Roman" pitchFamily="18" charset="0"/>
                <a:cs typeface="Times New Roman" pitchFamily="18" charset="0"/>
              </a:rPr>
              <a:t>d</a:t>
            </a:r>
            <a:r>
              <a:rPr lang="es-AR" sz="2400" dirty="0">
                <a:latin typeface="Times New Roman" pitchFamily="18" charset="0"/>
                <a:cs typeface="Times New Roman" pitchFamily="18" charset="0"/>
              </a:rPr>
              <a:t>/</a:t>
            </a:r>
            <a:r>
              <a:rPr lang="es-AR" sz="2400" dirty="0" err="1">
                <a:latin typeface="Times New Roman" pitchFamily="18" charset="0"/>
                <a:cs typeface="Times New Roman" pitchFamily="18" charset="0"/>
              </a:rPr>
              <a:t>Ts</a:t>
            </a:r>
            <a:r>
              <a:rPr lang="es-AR" sz="2400" dirty="0">
                <a:latin typeface="Times New Roman" pitchFamily="18" charset="0"/>
                <a:cs typeface="Times New Roman" pitchFamily="18" charset="0"/>
              </a:rPr>
              <a:t> = 0.5976 </a:t>
            </a:r>
          </a:p>
        </p:txBody>
      </p:sp>
      <p:sp>
        <p:nvSpPr>
          <p:cNvPr id="9" name="Rectangle 2"/>
          <p:cNvSpPr txBox="1">
            <a:spLocks noChangeArrowheads="1"/>
          </p:cNvSpPr>
          <p:nvPr/>
        </p:nvSpPr>
        <p:spPr>
          <a:xfrm>
            <a:off x="609600" y="427038"/>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83568" y="0"/>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sp>
        <p:nvSpPr>
          <p:cNvPr id="2" name="Rectángulo 1"/>
          <p:cNvSpPr/>
          <p:nvPr/>
        </p:nvSpPr>
        <p:spPr>
          <a:xfrm>
            <a:off x="467544" y="188640"/>
            <a:ext cx="8208912" cy="6555641"/>
          </a:xfrm>
          <a:prstGeom prst="rect">
            <a:avLst/>
          </a:prstGeom>
        </p:spPr>
        <p:txBody>
          <a:bodyPr wrap="square">
            <a:spAutoFit/>
          </a:bodyPr>
          <a:lstStyle/>
          <a:p>
            <a:r>
              <a:rPr lang="es-AR" sz="1400" dirty="0">
                <a:latin typeface="Times New Roman" panose="02020603050405020304" pitchFamily="18" charset="0"/>
                <a:cs typeface="Times New Roman" panose="02020603050405020304" pitchFamily="18" charset="0"/>
              </a:rPr>
              <a:t>#INCLUDE &lt;16F877.h&gt;</a:t>
            </a:r>
          </a:p>
          <a:p>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device</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adc</a:t>
            </a:r>
            <a:r>
              <a:rPr lang="es-AR" sz="1400" dirty="0">
                <a:latin typeface="Times New Roman" panose="02020603050405020304" pitchFamily="18" charset="0"/>
                <a:cs typeface="Times New Roman" panose="02020603050405020304" pitchFamily="18" charset="0"/>
              </a:rPr>
              <a:t>=10</a:t>
            </a:r>
          </a:p>
          <a:p>
            <a:r>
              <a:rPr lang="es-AR" sz="1400" dirty="0">
                <a:latin typeface="Times New Roman" panose="02020603050405020304" pitchFamily="18" charset="0"/>
                <a:cs typeface="Times New Roman" panose="02020603050405020304" pitchFamily="18" charset="0"/>
              </a:rPr>
              <a:t>#use </a:t>
            </a:r>
            <a:r>
              <a:rPr lang="es-AR" sz="1400" dirty="0" err="1">
                <a:latin typeface="Times New Roman" panose="02020603050405020304" pitchFamily="18" charset="0"/>
                <a:cs typeface="Times New Roman" panose="02020603050405020304" pitchFamily="18" charset="0"/>
              </a:rPr>
              <a:t>delay</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clock</a:t>
            </a:r>
            <a:r>
              <a:rPr lang="es-AR" sz="1400" dirty="0">
                <a:latin typeface="Times New Roman" panose="02020603050405020304" pitchFamily="18" charset="0"/>
                <a:cs typeface="Times New Roman" panose="02020603050405020304" pitchFamily="18" charset="0"/>
              </a:rPr>
              <a:t>=4000000)        </a:t>
            </a:r>
          </a:p>
          <a:p>
            <a:r>
              <a:rPr lang="es-AR" sz="1400" dirty="0">
                <a:latin typeface="Times New Roman" panose="02020603050405020304" pitchFamily="18" charset="0"/>
                <a:cs typeface="Times New Roman" panose="02020603050405020304" pitchFamily="18" charset="0"/>
              </a:rPr>
              <a:t>#fuses XT,NOWDT</a:t>
            </a:r>
          </a:p>
          <a:p>
            <a:r>
              <a:rPr lang="es-AR" sz="1400" dirty="0">
                <a:latin typeface="Times New Roman" panose="02020603050405020304" pitchFamily="18" charset="0"/>
                <a:cs typeface="Times New Roman" panose="02020603050405020304" pitchFamily="18" charset="0"/>
              </a:rPr>
              <a:t>//#BYTE TRISC = 0x87                   </a:t>
            </a:r>
          </a:p>
          <a:p>
            <a:r>
              <a:rPr lang="es-AR" sz="1400" dirty="0">
                <a:latin typeface="Times New Roman" panose="02020603050405020304" pitchFamily="18" charset="0"/>
                <a:cs typeface="Times New Roman" panose="02020603050405020304" pitchFamily="18" charset="0"/>
              </a:rPr>
              <a:t>                                      </a:t>
            </a:r>
          </a:p>
          <a:p>
            <a:r>
              <a:rPr lang="es-AR" sz="1400" dirty="0" err="1">
                <a:latin typeface="Times New Roman" panose="02020603050405020304" pitchFamily="18" charset="0"/>
                <a:cs typeface="Times New Roman" panose="02020603050405020304" pitchFamily="18" charset="0"/>
              </a:rPr>
              <a:t>void</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main</a:t>
            </a:r>
            <a:r>
              <a:rPr lang="es-AR" sz="1400" dirty="0">
                <a:latin typeface="Times New Roman" panose="02020603050405020304" pitchFamily="18" charset="0"/>
                <a:cs typeface="Times New Roman" panose="02020603050405020304" pitchFamily="18" charset="0"/>
              </a:rPr>
              <a:t>(){</a:t>
            </a:r>
          </a:p>
          <a:p>
            <a:r>
              <a:rPr lang="es-AR" sz="1400" dirty="0">
                <a:latin typeface="Times New Roman" panose="02020603050405020304" pitchFamily="18" charset="0"/>
                <a:cs typeface="Times New Roman" panose="02020603050405020304" pitchFamily="18" charset="0"/>
              </a:rPr>
              <a:t>int16 valor;                       		 //lectura de temperatura</a:t>
            </a:r>
          </a:p>
          <a:p>
            <a:r>
              <a:rPr lang="es-AR" sz="1400" dirty="0">
                <a:latin typeface="Times New Roman" panose="02020603050405020304" pitchFamily="18" charset="0"/>
                <a:cs typeface="Times New Roman" panose="02020603050405020304" pitchFamily="18" charset="0"/>
              </a:rPr>
              <a:t>int16 control;                     		 //valor del PWM</a:t>
            </a:r>
          </a:p>
          <a:p>
            <a:r>
              <a:rPr lang="es-AR" sz="1400" dirty="0" err="1">
                <a:latin typeface="Times New Roman" panose="02020603050405020304" pitchFamily="18" charset="0"/>
                <a:cs typeface="Times New Roman" panose="02020603050405020304" pitchFamily="18" charset="0"/>
              </a:rPr>
              <a:t>float</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a,b,c</a:t>
            </a:r>
            <a:r>
              <a:rPr lang="es-AR" sz="1400" dirty="0">
                <a:latin typeface="Times New Roman" panose="02020603050405020304" pitchFamily="18" charset="0"/>
                <a:cs typeface="Times New Roman" panose="02020603050405020304" pitchFamily="18" charset="0"/>
              </a:rPr>
              <a:t>;                        			//constantes del PID</a:t>
            </a:r>
          </a:p>
          <a:p>
            <a:r>
              <a:rPr lang="es-AR" sz="1400" dirty="0" err="1">
                <a:latin typeface="Times New Roman" panose="02020603050405020304" pitchFamily="18" charset="0"/>
                <a:cs typeface="Times New Roman" panose="02020603050405020304" pitchFamily="18" charset="0"/>
              </a:rPr>
              <a:t>float</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temp_limit</a:t>
            </a:r>
            <a:r>
              <a:rPr lang="es-AR" sz="1400" dirty="0">
                <a:latin typeface="Times New Roman" panose="02020603050405020304" pitchFamily="18" charset="0"/>
                <a:cs typeface="Times New Roman" panose="02020603050405020304" pitchFamily="18" charset="0"/>
              </a:rPr>
              <a:t>;                   		//temperatura a alcanzar</a:t>
            </a:r>
          </a:p>
          <a:p>
            <a:r>
              <a:rPr lang="es-AR" sz="1400" dirty="0" err="1">
                <a:latin typeface="Times New Roman" panose="02020603050405020304" pitchFamily="18" charset="0"/>
                <a:cs typeface="Times New Roman" panose="02020603050405020304" pitchFamily="18" charset="0"/>
              </a:rPr>
              <a:t>float</a:t>
            </a:r>
            <a:r>
              <a:rPr lang="es-AR" sz="1400" dirty="0">
                <a:latin typeface="Times New Roman" panose="02020603050405020304" pitchFamily="18" charset="0"/>
                <a:cs typeface="Times New Roman" panose="02020603050405020304" pitchFamily="18" charset="0"/>
              </a:rPr>
              <a:t> rT,eT,iT,dT,yT,uT,iT0,eT0;    		//variables de ecuaciones            </a:t>
            </a:r>
          </a:p>
          <a:p>
            <a:r>
              <a:rPr lang="es-AR" sz="1400" dirty="0" err="1">
                <a:latin typeface="Times New Roman" panose="02020603050405020304" pitchFamily="18" charset="0"/>
                <a:cs typeface="Times New Roman" panose="02020603050405020304" pitchFamily="18" charset="0"/>
              </a:rPr>
              <a:t>float</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max,min</a:t>
            </a:r>
            <a:r>
              <a:rPr lang="es-AR" sz="1400" dirty="0">
                <a:latin typeface="Times New Roman" panose="02020603050405020304" pitchFamily="18" charset="0"/>
                <a:cs typeface="Times New Roman" panose="02020603050405020304" pitchFamily="18" charset="0"/>
              </a:rPr>
              <a:t>;                     		 //límites máximo y mínimo de control.</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min=0.0;                           		 //inicialización variables </a:t>
            </a:r>
          </a:p>
          <a:p>
            <a:r>
              <a:rPr lang="es-AR" sz="1400" dirty="0" err="1">
                <a:latin typeface="Times New Roman" panose="02020603050405020304" pitchFamily="18" charset="0"/>
                <a:cs typeface="Times New Roman" panose="02020603050405020304" pitchFamily="18" charset="0"/>
              </a:rPr>
              <a:t>max</a:t>
            </a:r>
            <a:r>
              <a:rPr lang="es-AR" sz="1400" dirty="0">
                <a:latin typeface="Times New Roman" panose="02020603050405020304" pitchFamily="18" charset="0"/>
                <a:cs typeface="Times New Roman" panose="02020603050405020304" pitchFamily="18" charset="0"/>
              </a:rPr>
              <a:t>=1000.0;                        		 //con 1000 </a:t>
            </a:r>
            <a:r>
              <a:rPr lang="es-AR" sz="1400" dirty="0" err="1">
                <a:latin typeface="Times New Roman" panose="02020603050405020304" pitchFamily="18" charset="0"/>
                <a:cs typeface="Times New Roman" panose="02020603050405020304" pitchFamily="18" charset="0"/>
              </a:rPr>
              <a:t>tendriamos</a:t>
            </a:r>
            <a:r>
              <a:rPr lang="es-AR" sz="1400" dirty="0">
                <a:latin typeface="Times New Roman" panose="02020603050405020304" pitchFamily="18" charset="0"/>
                <a:cs typeface="Times New Roman" panose="02020603050405020304" pitchFamily="18" charset="0"/>
              </a:rPr>
              <a:t> un 100% de </a:t>
            </a:r>
            <a:r>
              <a:rPr lang="es-AR" sz="1400" dirty="0" err="1">
                <a:latin typeface="Times New Roman" panose="02020603050405020304" pitchFamily="18" charset="0"/>
                <a:cs typeface="Times New Roman" panose="02020603050405020304" pitchFamily="18" charset="0"/>
              </a:rPr>
              <a:t>pwm</a:t>
            </a:r>
            <a:endParaRPr lang="es-AR" sz="1400" dirty="0">
              <a:latin typeface="Times New Roman" panose="02020603050405020304" pitchFamily="18" charset="0"/>
              <a:cs typeface="Times New Roman" panose="02020603050405020304" pitchFamily="18" charset="0"/>
            </a:endParaRPr>
          </a:p>
          <a:p>
            <a:r>
              <a:rPr lang="es-AR" sz="1400" dirty="0">
                <a:latin typeface="Times New Roman" panose="02020603050405020304" pitchFamily="18" charset="0"/>
                <a:cs typeface="Times New Roman" panose="02020603050405020304" pitchFamily="18" charset="0"/>
              </a:rPr>
              <a:t>iT0=0.0;</a:t>
            </a:r>
          </a:p>
          <a:p>
            <a:r>
              <a:rPr lang="es-AR" sz="1400" dirty="0">
                <a:latin typeface="Times New Roman" panose="02020603050405020304" pitchFamily="18" charset="0"/>
                <a:cs typeface="Times New Roman" panose="02020603050405020304" pitchFamily="18" charset="0"/>
              </a:rPr>
              <a:t>eT0=0.0;</a:t>
            </a:r>
          </a:p>
          <a:p>
            <a:endParaRPr lang="es-AR" sz="1400" dirty="0">
              <a:latin typeface="Times New Roman" panose="02020603050405020304" pitchFamily="18" charset="0"/>
              <a:cs typeface="Times New Roman" panose="02020603050405020304" pitchFamily="18" charset="0"/>
            </a:endParaRPr>
          </a:p>
          <a:p>
            <a:r>
              <a:rPr lang="es-AR" sz="1400" dirty="0">
                <a:latin typeface="Times New Roman" panose="02020603050405020304" pitchFamily="18" charset="0"/>
                <a:cs typeface="Times New Roman" panose="02020603050405020304" pitchFamily="18" charset="0"/>
              </a:rPr>
              <a:t>a=0.1195;                           		//constantes del PID</a:t>
            </a:r>
          </a:p>
          <a:p>
            <a:r>
              <a:rPr lang="es-AR" sz="1400" dirty="0">
                <a:latin typeface="Times New Roman" panose="02020603050405020304" pitchFamily="18" charset="0"/>
                <a:cs typeface="Times New Roman" panose="02020603050405020304" pitchFamily="18" charset="0"/>
              </a:rPr>
              <a:t>b=0.003;</a:t>
            </a:r>
          </a:p>
          <a:p>
            <a:r>
              <a:rPr lang="es-AR" sz="1400" dirty="0">
                <a:latin typeface="Times New Roman" panose="02020603050405020304" pitchFamily="18" charset="0"/>
                <a:cs typeface="Times New Roman" panose="02020603050405020304" pitchFamily="18" charset="0"/>
              </a:rPr>
              <a:t>c=0.5976;</a:t>
            </a:r>
          </a:p>
          <a:p>
            <a:r>
              <a:rPr lang="es-AR" sz="1400" dirty="0" err="1">
                <a:latin typeface="Times New Roman" panose="02020603050405020304" pitchFamily="18" charset="0"/>
                <a:cs typeface="Times New Roman" panose="02020603050405020304" pitchFamily="18" charset="0"/>
              </a:rPr>
              <a:t>temp_limit</a:t>
            </a:r>
            <a:r>
              <a:rPr lang="es-AR" sz="1400" dirty="0">
                <a:latin typeface="Times New Roman" panose="02020603050405020304" pitchFamily="18" charset="0"/>
                <a:cs typeface="Times New Roman" panose="02020603050405020304" pitchFamily="18" charset="0"/>
              </a:rPr>
              <a:t>=1000.0;                 		 //Temperatura a alcanzar escalado x10</a:t>
            </a:r>
          </a:p>
          <a:p>
            <a:r>
              <a:rPr lang="es-AR" sz="1400" dirty="0">
                <a:latin typeface="Times New Roman" panose="02020603050405020304" pitchFamily="18" charset="0"/>
                <a:cs typeface="Times New Roman" panose="02020603050405020304" pitchFamily="18" charset="0"/>
              </a:rPr>
              <a:t>                                    			//por </a:t>
            </a:r>
            <a:r>
              <a:rPr lang="es-AR" sz="1400" dirty="0" err="1">
                <a:latin typeface="Times New Roman" panose="02020603050405020304" pitchFamily="18" charset="0"/>
                <a:cs typeface="Times New Roman" panose="02020603050405020304" pitchFamily="18" charset="0"/>
              </a:rPr>
              <a:t>ej</a:t>
            </a:r>
            <a:r>
              <a:rPr lang="es-AR" sz="1400" dirty="0">
                <a:latin typeface="Times New Roman" panose="02020603050405020304" pitchFamily="18" charset="0"/>
                <a:cs typeface="Times New Roman" panose="02020603050405020304" pitchFamily="18" charset="0"/>
              </a:rPr>
              <a:t> 1000 significa 100 grados</a:t>
            </a:r>
          </a:p>
          <a:p>
            <a:endParaRPr lang="es-AR" sz="1400" dirty="0">
              <a:latin typeface="Times New Roman" panose="02020603050405020304" pitchFamily="18" charset="0"/>
              <a:cs typeface="Times New Roman" panose="02020603050405020304" pitchFamily="18" charset="0"/>
            </a:endParaRPr>
          </a:p>
          <a:p>
            <a:r>
              <a:rPr lang="es-AR" sz="1400" dirty="0">
                <a:latin typeface="Times New Roman" panose="02020603050405020304" pitchFamily="18" charset="0"/>
                <a:cs typeface="Times New Roman" panose="02020603050405020304" pitchFamily="18" charset="0"/>
              </a:rPr>
              <a:t>setup_timer_2(t2_div_by_4,249,1);  	 	//periodo de la señal PWM a 1ms</a:t>
            </a:r>
          </a:p>
          <a:p>
            <a:r>
              <a:rPr lang="es-AR" sz="1400" dirty="0">
                <a:latin typeface="Times New Roman" panose="02020603050405020304" pitchFamily="18" charset="0"/>
                <a:cs typeface="Times New Roman" panose="02020603050405020304" pitchFamily="18" charset="0"/>
              </a:rPr>
              <a:t>setup_ccp2(</a:t>
            </a:r>
            <a:r>
              <a:rPr lang="es-AR" sz="1400" dirty="0" err="1">
                <a:latin typeface="Times New Roman" panose="02020603050405020304" pitchFamily="18" charset="0"/>
                <a:cs typeface="Times New Roman" panose="02020603050405020304" pitchFamily="18" charset="0"/>
              </a:rPr>
              <a:t>ccp_pwm</a:t>
            </a:r>
            <a:r>
              <a:rPr lang="es-AR" sz="1400" dirty="0">
                <a:latin typeface="Times New Roman" panose="02020603050405020304" pitchFamily="18" charset="0"/>
                <a:cs typeface="Times New Roman" panose="02020603050405020304" pitchFamily="18" charset="0"/>
              </a:rPr>
              <a:t>);               	 	//Módulo CCP a modo PWM</a:t>
            </a:r>
          </a:p>
          <a:p>
            <a:r>
              <a:rPr lang="es-AR" sz="1400" dirty="0" err="1">
                <a:latin typeface="Times New Roman" panose="02020603050405020304" pitchFamily="18" charset="0"/>
                <a:cs typeface="Times New Roman" panose="02020603050405020304" pitchFamily="18" charset="0"/>
              </a:rPr>
              <a:t>setup_adc_ports</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all_analog</a:t>
            </a:r>
            <a:r>
              <a:rPr lang="es-AR" sz="1400" dirty="0">
                <a:latin typeface="Times New Roman" panose="02020603050405020304" pitchFamily="18" charset="0"/>
                <a:cs typeface="Times New Roman" panose="02020603050405020304" pitchFamily="18" charset="0"/>
              </a:rPr>
              <a:t>);       	 	//Puerto A analógico</a:t>
            </a:r>
          </a:p>
          <a:p>
            <a:r>
              <a:rPr lang="es-AR" sz="1400" dirty="0" err="1">
                <a:latin typeface="Times New Roman" panose="02020603050405020304" pitchFamily="18" charset="0"/>
                <a:cs typeface="Times New Roman" panose="02020603050405020304" pitchFamily="18" charset="0"/>
              </a:rPr>
              <a:t>setup_adc</a:t>
            </a:r>
            <a:r>
              <a:rPr lang="es-AR" sz="1400" dirty="0">
                <a:latin typeface="Times New Roman" panose="02020603050405020304" pitchFamily="18" charset="0"/>
                <a:cs typeface="Times New Roman" panose="02020603050405020304" pitchFamily="18" charset="0"/>
              </a:rPr>
              <a:t>(ADC_CLOCK_INTERNAL);      	//reloj convertidor AD interno</a:t>
            </a:r>
          </a:p>
          <a:p>
            <a:r>
              <a:rPr lang="es-AR" sz="1400" dirty="0" err="1">
                <a:latin typeface="Times New Roman" panose="02020603050405020304" pitchFamily="18" charset="0"/>
                <a:cs typeface="Times New Roman" panose="02020603050405020304" pitchFamily="18" charset="0"/>
              </a:rPr>
              <a:t>set_adc_channel</a:t>
            </a:r>
            <a:r>
              <a:rPr lang="es-AR" sz="1400" dirty="0">
                <a:latin typeface="Times New Roman" panose="02020603050405020304" pitchFamily="18" charset="0"/>
                <a:cs typeface="Times New Roman" panose="02020603050405020304" pitchFamily="18" charset="0"/>
              </a:rPr>
              <a:t>(0);                		 //Lectura por el canal 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sp>
        <p:nvSpPr>
          <p:cNvPr id="2" name="Rectángulo 1"/>
          <p:cNvSpPr/>
          <p:nvPr/>
        </p:nvSpPr>
        <p:spPr>
          <a:xfrm>
            <a:off x="467544" y="476672"/>
            <a:ext cx="8136904" cy="6555641"/>
          </a:xfrm>
          <a:prstGeom prst="rect">
            <a:avLst/>
          </a:prstGeom>
        </p:spPr>
        <p:txBody>
          <a:bodyPr wrap="square">
            <a:spAutoFit/>
          </a:bodyPr>
          <a:lstStyle/>
          <a:p>
            <a:r>
              <a:rPr lang="es-AR" sz="1400" dirty="0" err="1">
                <a:latin typeface="Times New Roman" panose="02020603050405020304" pitchFamily="18" charset="0"/>
                <a:cs typeface="Times New Roman" panose="02020603050405020304" pitchFamily="18" charset="0"/>
              </a:rPr>
              <a:t>while</a:t>
            </a:r>
            <a:r>
              <a:rPr lang="es-AR" sz="1400" dirty="0">
                <a:latin typeface="Times New Roman" panose="02020603050405020304" pitchFamily="18" charset="0"/>
                <a:cs typeface="Times New Roman" panose="02020603050405020304" pitchFamily="18" charset="0"/>
              </a:rPr>
              <a:t>(1) {</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valor=</a:t>
            </a:r>
            <a:r>
              <a:rPr lang="es-AR" sz="1400" dirty="0" err="1">
                <a:latin typeface="Times New Roman" panose="02020603050405020304" pitchFamily="18" charset="0"/>
                <a:cs typeface="Times New Roman" panose="02020603050405020304" pitchFamily="18" charset="0"/>
              </a:rPr>
              <a:t>read_adc</a:t>
            </a:r>
            <a:r>
              <a:rPr lang="es-AR" sz="1400" dirty="0">
                <a:latin typeface="Times New Roman" panose="02020603050405020304" pitchFamily="18" charset="0"/>
                <a:cs typeface="Times New Roman" panose="02020603050405020304" pitchFamily="18" charset="0"/>
              </a:rPr>
              <a:t>();                		 //Lectura de la temperatura</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yT</a:t>
            </a:r>
            <a:r>
              <a:rPr lang="es-AR" sz="1400" dirty="0">
                <a:latin typeface="Times New Roman" panose="02020603050405020304" pitchFamily="18" charset="0"/>
                <a:cs typeface="Times New Roman" panose="02020603050405020304" pitchFamily="18" charset="0"/>
              </a:rPr>
              <a:t>=valor*5000.0/1024.0;           		//escalo x10</a:t>
            </a:r>
          </a:p>
          <a:p>
            <a:r>
              <a:rPr lang="es-AR" sz="1400" dirty="0">
                <a:latin typeface="Times New Roman" panose="02020603050405020304" pitchFamily="18" charset="0"/>
                <a:cs typeface="Times New Roman" panose="02020603050405020304" pitchFamily="18" charset="0"/>
              </a:rPr>
              <a:t>                                   			 //por </a:t>
            </a:r>
            <a:r>
              <a:rPr lang="es-AR" sz="1400" dirty="0" err="1">
                <a:latin typeface="Times New Roman" panose="02020603050405020304" pitchFamily="18" charset="0"/>
                <a:cs typeface="Times New Roman" panose="02020603050405020304" pitchFamily="18" charset="0"/>
              </a:rPr>
              <a:t>ej</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Tmax</a:t>
            </a:r>
            <a:r>
              <a:rPr lang="es-AR" sz="1400" dirty="0">
                <a:latin typeface="Times New Roman" panose="02020603050405020304" pitchFamily="18" charset="0"/>
                <a:cs typeface="Times New Roman" panose="02020603050405020304" pitchFamily="18" charset="0"/>
              </a:rPr>
              <a:t>=500 grados=1024 bit</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rT</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temp_limit</a:t>
            </a:r>
            <a:r>
              <a:rPr lang="es-AR" sz="1400" dirty="0">
                <a:latin typeface="Times New Roman" panose="02020603050405020304" pitchFamily="18" charset="0"/>
                <a:cs typeface="Times New Roman" panose="02020603050405020304" pitchFamily="18" charset="0"/>
              </a:rPr>
              <a:t>;</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eT</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rT-yT</a:t>
            </a:r>
            <a:r>
              <a:rPr lang="es-AR" sz="1400" dirty="0">
                <a:latin typeface="Times New Roman" panose="02020603050405020304" pitchFamily="18" charset="0"/>
                <a:cs typeface="Times New Roman" panose="02020603050405020304" pitchFamily="18" charset="0"/>
              </a:rPr>
              <a:t>;                         		//Cálculo error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iT</a:t>
            </a:r>
            <a:r>
              <a:rPr lang="es-AR" sz="1400" dirty="0">
                <a:latin typeface="Times New Roman" panose="02020603050405020304" pitchFamily="18" charset="0"/>
                <a:cs typeface="Times New Roman" panose="02020603050405020304" pitchFamily="18" charset="0"/>
              </a:rPr>
              <a:t>=b*(eT+eT0)+iT0;                     		 //Cálculo del término integral</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dT</a:t>
            </a:r>
            <a:r>
              <a:rPr lang="es-AR" sz="1400" dirty="0">
                <a:latin typeface="Times New Roman" panose="02020603050405020304" pitchFamily="18" charset="0"/>
                <a:cs typeface="Times New Roman" panose="02020603050405020304" pitchFamily="18" charset="0"/>
              </a:rPr>
              <a:t>=c*(eT-eT0);                    		//Cálculo del término derivativo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iT+a</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eT+dT</a:t>
            </a:r>
            <a:r>
              <a:rPr lang="es-AR" sz="1400" dirty="0">
                <a:latin typeface="Times New Roman" panose="02020603050405020304" pitchFamily="18" charset="0"/>
                <a:cs typeface="Times New Roman" panose="02020603050405020304" pitchFamily="18" charset="0"/>
              </a:rPr>
              <a:t>;                  	 	 //Cálculo de la salida PID</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if</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&gt;</a:t>
            </a:r>
            <a:r>
              <a:rPr lang="es-AR" sz="1400" dirty="0" err="1">
                <a:latin typeface="Times New Roman" panose="02020603050405020304" pitchFamily="18" charset="0"/>
                <a:cs typeface="Times New Roman" panose="02020603050405020304" pitchFamily="18" charset="0"/>
              </a:rPr>
              <a:t>max</a:t>
            </a:r>
            <a:r>
              <a:rPr lang="es-AR" sz="1400" dirty="0">
                <a:latin typeface="Times New Roman" panose="02020603050405020304" pitchFamily="18" charset="0"/>
                <a:cs typeface="Times New Roman" panose="02020603050405020304" pitchFamily="18" charset="0"/>
              </a:rPr>
              <a:t>) {                    		 //Salida PID si es mayor que el MAX</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a:t>
            </a:r>
            <a:r>
              <a:rPr lang="es-AR" sz="1400" dirty="0" err="1">
                <a:latin typeface="Times New Roman" panose="02020603050405020304" pitchFamily="18" charset="0"/>
                <a:cs typeface="Times New Roman" panose="02020603050405020304" pitchFamily="18" charset="0"/>
              </a:rPr>
              <a:t>max</a:t>
            </a:r>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else</a:t>
            </a:r>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if</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&lt;min){                   		//Salida PID si es menor que el MIN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=min;}                           </a:t>
            </a:r>
          </a:p>
          <a:p>
            <a:r>
              <a:rPr lang="es-AR" sz="1400" dirty="0">
                <a:latin typeface="Times New Roman" panose="02020603050405020304" pitchFamily="18" charset="0"/>
                <a:cs typeface="Times New Roman" panose="02020603050405020304" pitchFamily="18" charset="0"/>
              </a:rPr>
              <a:t>        }                             </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=1000; 			//</a:t>
            </a:r>
            <a:r>
              <a:rPr lang="es-AR" sz="1400" dirty="0" err="1">
                <a:latin typeface="Times New Roman" panose="02020603050405020304" pitchFamily="18" charset="0"/>
                <a:cs typeface="Times New Roman" panose="02020603050405020304" pitchFamily="18" charset="0"/>
              </a:rPr>
              <a:t>pwm</a:t>
            </a:r>
            <a:r>
              <a:rPr lang="es-AR" sz="1400" dirty="0">
                <a:latin typeface="Times New Roman" panose="02020603050405020304" pitchFamily="18" charset="0"/>
                <a:cs typeface="Times New Roman" panose="02020603050405020304" pitchFamily="18" charset="0"/>
              </a:rPr>
              <a:t> al 100% para aplicar un </a:t>
            </a:r>
            <a:r>
              <a:rPr lang="es-AR" sz="1400" dirty="0" err="1">
                <a:latin typeface="Times New Roman" panose="02020603050405020304" pitchFamily="18" charset="0"/>
                <a:cs typeface="Times New Roman" panose="02020603050405020304" pitchFamily="18" charset="0"/>
              </a:rPr>
              <a:t>escalon</a:t>
            </a:r>
            <a:r>
              <a:rPr lang="es-AR" sz="1400" dirty="0">
                <a:latin typeface="Times New Roman" panose="02020603050405020304" pitchFamily="18" charset="0"/>
                <a:cs typeface="Times New Roman" panose="02020603050405020304" pitchFamily="18" charset="0"/>
              </a:rPr>
              <a:t> a la planta</a:t>
            </a:r>
          </a:p>
          <a:p>
            <a:r>
              <a:rPr lang="es-AR" sz="1400" dirty="0">
                <a:latin typeface="Times New Roman" panose="02020603050405020304" pitchFamily="18" charset="0"/>
                <a:cs typeface="Times New Roman" panose="02020603050405020304" pitchFamily="18" charset="0"/>
              </a:rPr>
              <a:t>  control=</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               			 //Transferencia de salida PID a señal PWM</a:t>
            </a:r>
          </a:p>
          <a:p>
            <a:r>
              <a:rPr lang="es-AR" sz="1400" dirty="0">
                <a:latin typeface="Times New Roman" panose="02020603050405020304" pitchFamily="18" charset="0"/>
                <a:cs typeface="Times New Roman" panose="02020603050405020304" pitchFamily="18" charset="0"/>
              </a:rPr>
              <a:t>                            			 //la variable </a:t>
            </a:r>
            <a:r>
              <a:rPr lang="es-AR" sz="1400" dirty="0" err="1">
                <a:latin typeface="Times New Roman" panose="02020603050405020304" pitchFamily="18" charset="0"/>
                <a:cs typeface="Times New Roman" panose="02020603050405020304" pitchFamily="18" charset="0"/>
              </a:rPr>
              <a:t>float</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 se convierte en int16</a:t>
            </a:r>
          </a:p>
          <a:p>
            <a:r>
              <a:rPr lang="es-AR" sz="1400" dirty="0">
                <a:latin typeface="Times New Roman" panose="02020603050405020304" pitchFamily="18" charset="0"/>
                <a:cs typeface="Times New Roman" panose="02020603050405020304" pitchFamily="18" charset="0"/>
              </a:rPr>
              <a:t>                             			//por </a:t>
            </a:r>
            <a:r>
              <a:rPr lang="es-AR" sz="1400" dirty="0" err="1">
                <a:latin typeface="Times New Roman" panose="02020603050405020304" pitchFamily="18" charset="0"/>
                <a:cs typeface="Times New Roman" panose="02020603050405020304" pitchFamily="18" charset="0"/>
              </a:rPr>
              <a:t>ej</a:t>
            </a:r>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=900 son 900us; </a:t>
            </a:r>
            <a:r>
              <a:rPr lang="es-AR" sz="1400" dirty="0" err="1">
                <a:latin typeface="Times New Roman" panose="02020603050405020304" pitchFamily="18" charset="0"/>
                <a:cs typeface="Times New Roman" panose="02020603050405020304" pitchFamily="18" charset="0"/>
              </a:rPr>
              <a:t>uT</a:t>
            </a:r>
            <a:r>
              <a:rPr lang="es-AR" sz="1400" dirty="0">
                <a:latin typeface="Times New Roman" panose="02020603050405020304" pitchFamily="18" charset="0"/>
                <a:cs typeface="Times New Roman" panose="02020603050405020304" pitchFamily="18" charset="0"/>
              </a:rPr>
              <a:t>=50 son 50us</a:t>
            </a:r>
          </a:p>
          <a:p>
            <a:r>
              <a:rPr lang="es-AR" sz="1400" dirty="0">
                <a:latin typeface="Times New Roman" panose="02020603050405020304" pitchFamily="18" charset="0"/>
                <a:cs typeface="Times New Roman" panose="02020603050405020304" pitchFamily="18" charset="0"/>
              </a:rPr>
              <a:t>  set_pwm2_duty(control);</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iT0=</a:t>
            </a:r>
            <a:r>
              <a:rPr lang="es-AR" sz="1400" dirty="0" err="1">
                <a:latin typeface="Times New Roman" panose="02020603050405020304" pitchFamily="18" charset="0"/>
                <a:cs typeface="Times New Roman" panose="02020603050405020304" pitchFamily="18" charset="0"/>
              </a:rPr>
              <a:t>iT</a:t>
            </a:r>
            <a:r>
              <a:rPr lang="es-AR" sz="1400" dirty="0">
                <a:latin typeface="Times New Roman" panose="02020603050405020304" pitchFamily="18" charset="0"/>
                <a:cs typeface="Times New Roman" panose="02020603050405020304" pitchFamily="18" charset="0"/>
              </a:rPr>
              <a:t>;                           		//Guardar variables</a:t>
            </a:r>
          </a:p>
          <a:p>
            <a:r>
              <a:rPr lang="es-AR" sz="1400" dirty="0">
                <a:latin typeface="Times New Roman" panose="02020603050405020304" pitchFamily="18" charset="0"/>
                <a:cs typeface="Times New Roman" panose="02020603050405020304" pitchFamily="18" charset="0"/>
              </a:rPr>
              <a:t>  eT0=</a:t>
            </a:r>
            <a:r>
              <a:rPr lang="es-AR" sz="1400" dirty="0" err="1">
                <a:latin typeface="Times New Roman" panose="02020603050405020304" pitchFamily="18" charset="0"/>
                <a:cs typeface="Times New Roman" panose="02020603050405020304" pitchFamily="18" charset="0"/>
              </a:rPr>
              <a:t>eT</a:t>
            </a:r>
            <a:r>
              <a:rPr lang="es-AR" sz="1400" dirty="0">
                <a:latin typeface="Times New Roman" panose="02020603050405020304" pitchFamily="18" charset="0"/>
                <a:cs typeface="Times New Roman" panose="02020603050405020304" pitchFamily="18" charset="0"/>
              </a:rPr>
              <a:t>;</a:t>
            </a:r>
          </a:p>
          <a:p>
            <a:r>
              <a:rPr lang="es-AR" sz="1400" dirty="0">
                <a:latin typeface="Times New Roman" panose="02020603050405020304" pitchFamily="18" charset="0"/>
                <a:cs typeface="Times New Roman" panose="02020603050405020304" pitchFamily="18" charset="0"/>
              </a:rPr>
              <a:t>  </a:t>
            </a:r>
            <a:r>
              <a:rPr lang="es-AR" sz="1400" dirty="0" err="1">
                <a:latin typeface="Times New Roman" panose="02020603050405020304" pitchFamily="18" charset="0"/>
                <a:cs typeface="Times New Roman" panose="02020603050405020304" pitchFamily="18" charset="0"/>
              </a:rPr>
              <a:t>delay_ms</a:t>
            </a:r>
            <a:r>
              <a:rPr lang="es-AR" sz="1400" dirty="0">
                <a:latin typeface="Times New Roman" panose="02020603050405020304" pitchFamily="18" charset="0"/>
                <a:cs typeface="Times New Roman" panose="02020603050405020304" pitchFamily="18" charset="0"/>
              </a:rPr>
              <a:t>(100);                   	 	//Tiempo de muestreo</a:t>
            </a:r>
          </a:p>
          <a:p>
            <a:r>
              <a:rPr lang="es-AR" sz="1400" dirty="0">
                <a:latin typeface="Times New Roman" panose="02020603050405020304" pitchFamily="18" charset="0"/>
                <a:cs typeface="Times New Roman" panose="02020603050405020304" pitchFamily="18" charset="0"/>
              </a:rPr>
              <a:t>  }</a:t>
            </a:r>
          </a:p>
          <a:p>
            <a:r>
              <a:rPr lang="es-AR" sz="1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1" name="Picture 3"/>
          <p:cNvPicPr>
            <a:picLocks noChangeAspect="1" noChangeArrowheads="1"/>
          </p:cNvPicPr>
          <p:nvPr/>
        </p:nvPicPr>
        <p:blipFill>
          <a:blip r:embed="rId2" cstate="print"/>
          <a:srcRect/>
          <a:stretch>
            <a:fillRect/>
          </a:stretch>
        </p:blipFill>
        <p:spPr bwMode="auto">
          <a:xfrm>
            <a:off x="-5784" y="936760"/>
            <a:ext cx="8754248" cy="5921240"/>
          </a:xfrm>
          <a:prstGeom prst="rect">
            <a:avLst/>
          </a:prstGeom>
          <a:noFill/>
          <a:ln w="9525">
            <a:noFill/>
            <a:miter lim="800000"/>
            <a:headEnd/>
            <a:tailEnd/>
          </a:ln>
        </p:spPr>
      </p:pic>
      <p:sp>
        <p:nvSpPr>
          <p:cNvPr id="5"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Text Box 4"/>
          <p:cNvSpPr txBox="1">
            <a:spLocks noChangeArrowheads="1"/>
          </p:cNvSpPr>
          <p:nvPr/>
        </p:nvSpPr>
        <p:spPr bwMode="auto">
          <a:xfrm>
            <a:off x="539750" y="333375"/>
            <a:ext cx="8208963" cy="366713"/>
          </a:xfrm>
          <a:prstGeom prst="rect">
            <a:avLst/>
          </a:prstGeom>
          <a:noFill/>
          <a:ln w="9525">
            <a:noFill/>
            <a:miter lim="800000"/>
            <a:headEnd/>
            <a:tailEnd/>
          </a:ln>
          <a:effectLst/>
        </p:spPr>
        <p:txBody>
          <a:bodyPr>
            <a:spAutoFit/>
          </a:bodyPr>
          <a:lstStyle/>
          <a:p>
            <a:pPr>
              <a:buFontTx/>
              <a:buNone/>
            </a:pPr>
            <a:endParaRPr lang="es-MX" sz="1800"/>
          </a:p>
        </p:txBody>
      </p:sp>
      <p:sp>
        <p:nvSpPr>
          <p:cNvPr id="71685" name="Text Box 5"/>
          <p:cNvSpPr txBox="1">
            <a:spLocks noChangeArrowheads="1"/>
          </p:cNvSpPr>
          <p:nvPr/>
        </p:nvSpPr>
        <p:spPr bwMode="auto">
          <a:xfrm>
            <a:off x="539750" y="476250"/>
            <a:ext cx="7993063" cy="457200"/>
          </a:xfrm>
          <a:prstGeom prst="rect">
            <a:avLst/>
          </a:prstGeom>
          <a:noFill/>
          <a:ln w="9525">
            <a:noFill/>
            <a:miter lim="800000"/>
            <a:headEnd/>
            <a:tailEnd/>
          </a:ln>
          <a:effectLst/>
        </p:spPr>
        <p:txBody>
          <a:bodyPr>
            <a:spAutoFit/>
          </a:bodyPr>
          <a:lstStyle/>
          <a:p>
            <a:pPr>
              <a:buFontTx/>
              <a:buNone/>
            </a:pPr>
            <a:endParaRPr lang="es-MX" sz="2400"/>
          </a:p>
        </p:txBody>
      </p:sp>
      <p:sp>
        <p:nvSpPr>
          <p:cNvPr id="71689" name="Text Box 9"/>
          <p:cNvSpPr txBox="1">
            <a:spLocks noChangeArrowheads="1"/>
          </p:cNvSpPr>
          <p:nvPr/>
        </p:nvSpPr>
        <p:spPr bwMode="auto">
          <a:xfrm>
            <a:off x="539751" y="1196603"/>
            <a:ext cx="3600202" cy="461665"/>
          </a:xfrm>
          <a:prstGeom prst="rect">
            <a:avLst/>
          </a:prstGeom>
          <a:noFill/>
          <a:ln w="9525">
            <a:noFill/>
            <a:miter lim="800000"/>
            <a:headEnd/>
            <a:tailEnd/>
          </a:ln>
          <a:effectLst/>
        </p:spPr>
        <p:txBody>
          <a:bodyPr wrap="square">
            <a:spAutoFit/>
          </a:bodyPr>
          <a:lstStyle/>
          <a:p>
            <a:pPr>
              <a:buClr>
                <a:srgbClr val="800000"/>
              </a:buClr>
              <a:buFont typeface="Wingdings" pitchFamily="2" charset="2"/>
              <a:buChar char="q"/>
            </a:pPr>
            <a:r>
              <a:rPr lang="es-ES" sz="2400" b="1" dirty="0">
                <a:latin typeface="Times New Roman" pitchFamily="18" charset="0"/>
                <a:cs typeface="Times New Roman" pitchFamily="18" charset="0"/>
              </a:rPr>
              <a:t> </a:t>
            </a:r>
            <a:r>
              <a:rPr lang="es-ES" sz="2400" dirty="0">
                <a:latin typeface="Times New Roman" pitchFamily="18" charset="0"/>
                <a:cs typeface="Times New Roman" pitchFamily="18" charset="0"/>
              </a:rPr>
              <a:t>Analizaremos la planta</a:t>
            </a:r>
          </a:p>
        </p:txBody>
      </p:sp>
      <p:sp>
        <p:nvSpPr>
          <p:cNvPr id="71690" name="Rectangle 10"/>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endParaRPr lang="es-AR"/>
          </a:p>
        </p:txBody>
      </p:sp>
      <p:sp>
        <p:nvSpPr>
          <p:cNvPr id="71692" name="Rectangle 12"/>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endParaRPr lang="es-AR"/>
          </a:p>
        </p:txBody>
      </p:sp>
      <p:sp>
        <p:nvSpPr>
          <p:cNvPr id="71694" name="Rectangle 14"/>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endParaRPr lang="es-AR"/>
          </a:p>
        </p:txBody>
      </p:sp>
      <p:sp>
        <p:nvSpPr>
          <p:cNvPr id="71695" name="Rectangle 15"/>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endParaRPr lang="es-AR"/>
          </a:p>
        </p:txBody>
      </p:sp>
      <p:graphicFrame>
        <p:nvGraphicFramePr>
          <p:cNvPr id="71699" name="Object 19"/>
          <p:cNvGraphicFramePr>
            <a:graphicFrameLocks noChangeAspect="1"/>
          </p:cNvGraphicFramePr>
          <p:nvPr/>
        </p:nvGraphicFramePr>
        <p:xfrm>
          <a:off x="4139952" y="1124744"/>
          <a:ext cx="2720993" cy="720080"/>
        </p:xfrm>
        <a:graphic>
          <a:graphicData uri="http://schemas.openxmlformats.org/presentationml/2006/ole">
            <mc:AlternateContent xmlns:mc="http://schemas.openxmlformats.org/markup-compatibility/2006">
              <mc:Choice xmlns:v="urn:schemas-microsoft-com:vml" Requires="v">
                <p:oleObj spid="_x0000_s120841" name="Ecuación" r:id="rId3" imgW="1473200" imgH="393700" progId="Equation.3">
                  <p:embed/>
                </p:oleObj>
              </mc:Choice>
              <mc:Fallback>
                <p:oleObj name="Ecuación" r:id="rId3" imgW="1473200" imgH="3937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124744"/>
                        <a:ext cx="2720993"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 3</a:t>
            </a:r>
          </a:p>
        </p:txBody>
      </p:sp>
      <p:grpSp>
        <p:nvGrpSpPr>
          <p:cNvPr id="2" name="24 Grupo"/>
          <p:cNvGrpSpPr/>
          <p:nvPr/>
        </p:nvGrpSpPr>
        <p:grpSpPr>
          <a:xfrm>
            <a:off x="0" y="2060848"/>
            <a:ext cx="9144000" cy="4536504"/>
            <a:chOff x="0" y="2060848"/>
            <a:chExt cx="9144000" cy="4536504"/>
          </a:xfrm>
        </p:grpSpPr>
        <p:grpSp>
          <p:nvGrpSpPr>
            <p:cNvPr id="3" name="21 Grupo"/>
            <p:cNvGrpSpPr/>
            <p:nvPr/>
          </p:nvGrpSpPr>
          <p:grpSpPr>
            <a:xfrm>
              <a:off x="0" y="2060848"/>
              <a:ext cx="9144000" cy="4536504"/>
              <a:chOff x="539750" y="2924175"/>
              <a:chExt cx="7450138" cy="3165475"/>
            </a:xfrm>
          </p:grpSpPr>
          <p:pic>
            <p:nvPicPr>
              <p:cNvPr id="71682" name="Picture 2" descr="sinto1"/>
              <p:cNvPicPr>
                <a:picLocks noChangeAspect="1" noChangeArrowheads="1"/>
              </p:cNvPicPr>
              <p:nvPr/>
            </p:nvPicPr>
            <p:blipFill>
              <a:blip r:embed="rId5" cstate="print"/>
              <a:srcRect/>
              <a:stretch>
                <a:fillRect/>
              </a:stretch>
            </p:blipFill>
            <p:spPr bwMode="auto">
              <a:xfrm>
                <a:off x="4643438" y="2924175"/>
                <a:ext cx="3346450" cy="3165475"/>
              </a:xfrm>
              <a:prstGeom prst="rect">
                <a:avLst/>
              </a:prstGeom>
              <a:noFill/>
            </p:spPr>
          </p:pic>
          <p:sp>
            <p:nvSpPr>
              <p:cNvPr id="71696" name="Text Box 16"/>
              <p:cNvSpPr txBox="1">
                <a:spLocks noChangeArrowheads="1"/>
              </p:cNvSpPr>
              <p:nvPr/>
            </p:nvSpPr>
            <p:spPr bwMode="auto">
              <a:xfrm>
                <a:off x="5022289" y="3312184"/>
                <a:ext cx="2469326" cy="257712"/>
              </a:xfrm>
              <a:prstGeom prst="rect">
                <a:avLst/>
              </a:prstGeom>
              <a:solidFill>
                <a:schemeClr val="bg1"/>
              </a:solidFill>
              <a:ln w="6350" algn="ctr">
                <a:solidFill>
                  <a:srgbClr val="800000"/>
                </a:solidFill>
                <a:miter lim="800000"/>
                <a:headEnd/>
                <a:tailEnd/>
              </a:ln>
              <a:effectLst/>
            </p:spPr>
            <p:txBody>
              <a:bodyPr wrap="square">
                <a:spAutoFit/>
              </a:bodyPr>
              <a:lstStyle/>
              <a:p>
                <a:pPr>
                  <a:buClr>
                    <a:srgbClr val="800000"/>
                  </a:buClr>
                  <a:buFont typeface="Wingdings" pitchFamily="2" charset="2"/>
                  <a:buChar char="§"/>
                </a:pPr>
                <a:r>
                  <a:rPr lang="es-ES" dirty="0">
                    <a:latin typeface="Times New Roman" pitchFamily="18" charset="0"/>
                    <a:cs typeface="Times New Roman" pitchFamily="18" charset="0"/>
                  </a:rPr>
                  <a:t> </a:t>
                </a:r>
                <a:r>
                  <a:rPr lang="es-ES" dirty="0" err="1">
                    <a:latin typeface="Times New Roman" pitchFamily="18" charset="0"/>
                    <a:cs typeface="Times New Roman" pitchFamily="18" charset="0"/>
                  </a:rPr>
                  <a:t>K</a:t>
                </a:r>
                <a:r>
                  <a:rPr lang="es-ES" baseline="-25000" dirty="0" err="1">
                    <a:latin typeface="Times New Roman" pitchFamily="18" charset="0"/>
                    <a:cs typeface="Times New Roman" pitchFamily="18" charset="0"/>
                  </a:rPr>
                  <a:t>cr</a:t>
                </a:r>
                <a:r>
                  <a:rPr lang="es-ES" dirty="0">
                    <a:latin typeface="Times New Roman" pitchFamily="18" charset="0"/>
                    <a:cs typeface="Times New Roman" pitchFamily="18" charset="0"/>
                  </a:rPr>
                  <a:t> (ganancia crítica) = 4.6</a:t>
                </a:r>
              </a:p>
            </p:txBody>
          </p:sp>
          <p:pic>
            <p:nvPicPr>
              <p:cNvPr id="71700" name="Picture 20" descr="sinto2"/>
              <p:cNvPicPr>
                <a:picLocks noChangeAspect="1" noChangeArrowheads="1"/>
              </p:cNvPicPr>
              <p:nvPr/>
            </p:nvPicPr>
            <p:blipFill>
              <a:blip r:embed="rId6" cstate="print"/>
              <a:srcRect/>
              <a:stretch>
                <a:fillRect/>
              </a:stretch>
            </p:blipFill>
            <p:spPr bwMode="auto">
              <a:xfrm>
                <a:off x="539750" y="2954338"/>
                <a:ext cx="3816350" cy="3122612"/>
              </a:xfrm>
              <a:prstGeom prst="rect">
                <a:avLst/>
              </a:prstGeom>
              <a:noFill/>
            </p:spPr>
          </p:pic>
        </p:grpSp>
        <p:cxnSp>
          <p:nvCxnSpPr>
            <p:cNvPr id="24" name="23 Conector recto de flecha"/>
            <p:cNvCxnSpPr/>
            <p:nvPr/>
          </p:nvCxnSpPr>
          <p:spPr>
            <a:xfrm>
              <a:off x="7452320" y="2996952"/>
              <a:ext cx="288032" cy="2880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2" name="Text Box 8"/>
          <p:cNvSpPr txBox="1">
            <a:spLocks noChangeArrowheads="1"/>
          </p:cNvSpPr>
          <p:nvPr/>
        </p:nvSpPr>
        <p:spPr bwMode="auto">
          <a:xfrm>
            <a:off x="539552" y="1340768"/>
            <a:ext cx="8208963" cy="830997"/>
          </a:xfrm>
          <a:prstGeom prst="rect">
            <a:avLst/>
          </a:prstGeom>
          <a:noFill/>
          <a:ln w="9525">
            <a:noFill/>
            <a:miter lim="800000"/>
            <a:headEnd/>
            <a:tailEnd/>
          </a:ln>
          <a:effectLst/>
        </p:spPr>
        <p:txBody>
          <a:bodyPr>
            <a:spAutoFit/>
          </a:bodyPr>
          <a:lstStyle/>
          <a:p>
            <a:pPr>
              <a:buClr>
                <a:srgbClr val="800000"/>
              </a:buClr>
              <a:buFont typeface="Wingdings" pitchFamily="2" charset="2"/>
              <a:buChar char="q"/>
            </a:pPr>
            <a:r>
              <a:rPr lang="es-ES" sz="2400" b="1" dirty="0">
                <a:latin typeface="Times New Roman" pitchFamily="18" charset="0"/>
                <a:cs typeface="Times New Roman" pitchFamily="18" charset="0"/>
              </a:rPr>
              <a:t> </a:t>
            </a:r>
            <a:r>
              <a:rPr lang="es-ES" sz="2400" dirty="0">
                <a:latin typeface="Times New Roman" pitchFamily="18" charset="0"/>
                <a:cs typeface="Times New Roman" pitchFamily="18" charset="0"/>
              </a:rPr>
              <a:t>Con un controlador proporcional con </a:t>
            </a:r>
            <a:r>
              <a:rPr lang="es-ES" sz="2400" dirty="0" err="1">
                <a:latin typeface="Times New Roman" pitchFamily="18" charset="0"/>
                <a:cs typeface="Times New Roman" pitchFamily="18" charset="0"/>
              </a:rPr>
              <a:t>Kp</a:t>
            </a:r>
            <a:r>
              <a:rPr lang="es-ES" sz="2400" dirty="0">
                <a:latin typeface="Times New Roman" pitchFamily="18" charset="0"/>
                <a:cs typeface="Times New Roman" pitchFamily="18" charset="0"/>
              </a:rPr>
              <a:t> = 4.6 tenemos la siguiente respuesta a la entrada escalón</a:t>
            </a:r>
          </a:p>
        </p:txBody>
      </p:sp>
      <p:sp>
        <p:nvSpPr>
          <p:cNvPr id="72719" name="Text Box 15"/>
          <p:cNvSpPr txBox="1">
            <a:spLocks noChangeArrowheads="1"/>
          </p:cNvSpPr>
          <p:nvPr/>
        </p:nvSpPr>
        <p:spPr bwMode="auto">
          <a:xfrm>
            <a:off x="5399087" y="2420888"/>
            <a:ext cx="3744913" cy="1200329"/>
          </a:xfrm>
          <a:prstGeom prst="rect">
            <a:avLst/>
          </a:prstGeom>
          <a:solidFill>
            <a:schemeClr val="bg1"/>
          </a:solidFill>
          <a:ln w="6350" algn="ctr">
            <a:noFill/>
            <a:miter lim="800000"/>
            <a:headEnd/>
            <a:tailEnd/>
          </a:ln>
          <a:effectLst/>
        </p:spPr>
        <p:txBody>
          <a:bodyPr>
            <a:spAutoFit/>
          </a:bodyPr>
          <a:lstStyle/>
          <a:p>
            <a:pPr>
              <a:buClr>
                <a:srgbClr val="800000"/>
              </a:buClr>
              <a:buFont typeface="Wingdings" pitchFamily="2" charset="2"/>
              <a:buChar char="§"/>
            </a:pPr>
            <a:r>
              <a:rPr lang="es-ES" sz="2400" dirty="0">
                <a:latin typeface="Times New Roman" pitchFamily="18" charset="0"/>
                <a:cs typeface="Times New Roman" pitchFamily="18" charset="0"/>
              </a:rPr>
              <a:t> Mediante la tabla de </a:t>
            </a:r>
            <a:r>
              <a:rPr lang="es-ES" sz="2400" dirty="0" err="1">
                <a:latin typeface="Times New Roman" pitchFamily="18" charset="0"/>
                <a:cs typeface="Times New Roman" pitchFamily="18" charset="0"/>
              </a:rPr>
              <a:t>Ziegler</a:t>
            </a:r>
            <a:r>
              <a:rPr lang="es-ES" sz="2400" dirty="0">
                <a:latin typeface="Times New Roman" pitchFamily="18" charset="0"/>
                <a:cs typeface="Times New Roman" pitchFamily="18" charset="0"/>
              </a:rPr>
              <a:t>- </a:t>
            </a:r>
            <a:r>
              <a:rPr lang="es-ES" sz="2400" dirty="0" err="1">
                <a:latin typeface="Times New Roman" pitchFamily="18" charset="0"/>
                <a:cs typeface="Times New Roman" pitchFamily="18" charset="0"/>
              </a:rPr>
              <a:t>Nichols</a:t>
            </a:r>
            <a:r>
              <a:rPr lang="es-ES" sz="2400" dirty="0">
                <a:latin typeface="Times New Roman" pitchFamily="18" charset="0"/>
                <a:cs typeface="Times New Roman" pitchFamily="18" charset="0"/>
              </a:rPr>
              <a:t> obtenemos los siguientes valores:</a:t>
            </a:r>
          </a:p>
        </p:txBody>
      </p:sp>
      <p:graphicFrame>
        <p:nvGraphicFramePr>
          <p:cNvPr id="72724" name="Group 20"/>
          <p:cNvGraphicFramePr>
            <a:graphicFrameLocks noGrp="1"/>
          </p:cNvGraphicFramePr>
          <p:nvPr/>
        </p:nvGraphicFramePr>
        <p:xfrm>
          <a:off x="5292080" y="3933056"/>
          <a:ext cx="3671639" cy="1872456"/>
        </p:xfrm>
        <a:graphic>
          <a:graphicData uri="http://schemas.openxmlformats.org/drawingml/2006/table">
            <a:tbl>
              <a:tblPr/>
              <a:tblGrid>
                <a:gridCol w="919175">
                  <a:extLst>
                    <a:ext uri="{9D8B030D-6E8A-4147-A177-3AD203B41FA5}">
                      <a16:colId xmlns:a16="http://schemas.microsoft.com/office/drawing/2014/main" val="20000"/>
                    </a:ext>
                  </a:extLst>
                </a:gridCol>
                <a:gridCol w="917488">
                  <a:extLst>
                    <a:ext uri="{9D8B030D-6E8A-4147-A177-3AD203B41FA5}">
                      <a16:colId xmlns:a16="http://schemas.microsoft.com/office/drawing/2014/main" val="20001"/>
                    </a:ext>
                  </a:extLst>
                </a:gridCol>
                <a:gridCol w="915801">
                  <a:extLst>
                    <a:ext uri="{9D8B030D-6E8A-4147-A177-3AD203B41FA5}">
                      <a16:colId xmlns:a16="http://schemas.microsoft.com/office/drawing/2014/main" val="20002"/>
                    </a:ext>
                  </a:extLst>
                </a:gridCol>
                <a:gridCol w="919175">
                  <a:extLst>
                    <a:ext uri="{9D8B030D-6E8A-4147-A177-3AD203B41FA5}">
                      <a16:colId xmlns:a16="http://schemas.microsoft.com/office/drawing/2014/main" val="20003"/>
                    </a:ext>
                  </a:extLst>
                </a:gridCol>
              </a:tblGrid>
              <a:tr h="468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a:ln>
                            <a:noFill/>
                          </a:ln>
                          <a:solidFill>
                            <a:schemeClr val="tx1"/>
                          </a:solidFill>
                          <a:effectLst/>
                          <a:latin typeface="Arial" charset="0"/>
                          <a:cs typeface="Arial" charset="0"/>
                        </a:rPr>
                        <a:t>Acción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dirty="0" err="1">
                          <a:ln>
                            <a:noFill/>
                          </a:ln>
                          <a:solidFill>
                            <a:schemeClr val="tx1"/>
                          </a:solidFill>
                          <a:effectLst/>
                          <a:latin typeface="Arial" charset="0"/>
                          <a:cs typeface="Arial" charset="0"/>
                        </a:rPr>
                        <a:t>Kp</a:t>
                      </a:r>
                      <a:endParaRPr kumimoji="0" lang="es-ES" sz="14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cs typeface="Arial" charset="0"/>
                        </a:rPr>
                        <a:t>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cs typeface="Arial" charset="0"/>
                        </a:rPr>
                        <a:t>Td</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extLst>
                  <a:ext uri="{0D108BD9-81ED-4DB2-BD59-A6C34878D82A}">
                    <a16:rowId xmlns:a16="http://schemas.microsoft.com/office/drawing/2014/main" val="10000"/>
                  </a:ext>
                </a:extLst>
              </a:tr>
              <a:tr h="468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cs typeface="Arial" charset="0"/>
                        </a:rPr>
                        <a:t>P</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2.3</a:t>
                      </a:r>
                      <a:endParaRPr kumimoji="0" lang="es-ES" sz="1400" b="0" i="0" u="none" strike="noStrike" cap="none" normalizeH="0" baseline="-2500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cs typeface="Arial" charset="0"/>
                        </a:rPr>
                        <a:t>PI</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1.8</a:t>
                      </a:r>
                      <a:endParaRPr kumimoji="0" lang="es-ES" sz="1400" b="0" i="0" u="none" strike="noStrike" cap="none" normalizeH="0" baseline="-2500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1.8</a:t>
                      </a:r>
                      <a:endParaRPr kumimoji="0" lang="es-ES" sz="1400" b="0" i="0" u="none" strike="noStrike" cap="none" normalizeH="0" baseline="-2500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11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1" i="0" u="none" strike="noStrike" cap="none" normalizeH="0" baseline="0">
                          <a:ln>
                            <a:noFill/>
                          </a:ln>
                          <a:solidFill>
                            <a:schemeClr val="tx1"/>
                          </a:solidFill>
                          <a:effectLst/>
                          <a:latin typeface="Arial" charset="0"/>
                          <a:cs typeface="Arial" charset="0"/>
                        </a:rPr>
                        <a:t>PID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2.8</a:t>
                      </a:r>
                      <a:endParaRPr kumimoji="0" lang="es-ES" sz="1400" b="0" i="0" u="none" strike="noStrike" cap="none" normalizeH="0" baseline="-2500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a:ln>
                            <a:noFill/>
                          </a:ln>
                          <a:solidFill>
                            <a:schemeClr val="tx1"/>
                          </a:solidFill>
                          <a:effectLst/>
                          <a:latin typeface="Arial" charset="0"/>
                          <a:cs typeface="Arial" charset="0"/>
                        </a:rPr>
                        <a:t>1.1</a:t>
                      </a:r>
                      <a:endParaRPr kumimoji="0" lang="es-ES" sz="1400" b="0" i="0" u="none" strike="noStrike" cap="none" normalizeH="0" baseline="-2500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400" b="0" i="0" u="none" strike="noStrike" cap="none" normalizeH="0" baseline="0" dirty="0">
                          <a:ln>
                            <a:noFill/>
                          </a:ln>
                          <a:solidFill>
                            <a:schemeClr val="tx1"/>
                          </a:solidFill>
                          <a:effectLst/>
                          <a:latin typeface="Arial" charset="0"/>
                          <a:cs typeface="Arial" charset="0"/>
                        </a:rPr>
                        <a:t>0.3</a:t>
                      </a:r>
                      <a:endParaRPr kumimoji="0" lang="es-ES" sz="1400" b="0" i="0" u="none" strike="noStrike" cap="none" normalizeH="0" baseline="-2500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 3</a:t>
            </a:r>
          </a:p>
        </p:txBody>
      </p:sp>
      <p:grpSp>
        <p:nvGrpSpPr>
          <p:cNvPr id="2" name="30 Grupo"/>
          <p:cNvGrpSpPr/>
          <p:nvPr/>
        </p:nvGrpSpPr>
        <p:grpSpPr>
          <a:xfrm>
            <a:off x="0" y="2348880"/>
            <a:ext cx="5076056" cy="4176464"/>
            <a:chOff x="0" y="2348880"/>
            <a:chExt cx="5076056" cy="4176464"/>
          </a:xfrm>
        </p:grpSpPr>
        <p:grpSp>
          <p:nvGrpSpPr>
            <p:cNvPr id="3" name="21 Grupo"/>
            <p:cNvGrpSpPr/>
            <p:nvPr/>
          </p:nvGrpSpPr>
          <p:grpSpPr>
            <a:xfrm>
              <a:off x="0" y="2348880"/>
              <a:ext cx="5076056" cy="4176464"/>
              <a:chOff x="539750" y="2768600"/>
              <a:chExt cx="4103688" cy="3365500"/>
            </a:xfrm>
          </p:grpSpPr>
          <p:pic>
            <p:nvPicPr>
              <p:cNvPr id="72722" name="Picture 18" descr="sinto3"/>
              <p:cNvPicPr>
                <a:picLocks noChangeAspect="1" noChangeArrowheads="1"/>
              </p:cNvPicPr>
              <p:nvPr/>
            </p:nvPicPr>
            <p:blipFill>
              <a:blip r:embed="rId2" cstate="print"/>
              <a:srcRect/>
              <a:stretch>
                <a:fillRect/>
              </a:stretch>
            </p:blipFill>
            <p:spPr bwMode="auto">
              <a:xfrm>
                <a:off x="539750" y="2768600"/>
                <a:ext cx="4103688" cy="3365500"/>
              </a:xfrm>
              <a:prstGeom prst="rect">
                <a:avLst/>
              </a:prstGeom>
              <a:noFill/>
            </p:spPr>
          </p:pic>
          <p:sp>
            <p:nvSpPr>
              <p:cNvPr id="72723" name="Text Box 19"/>
              <p:cNvSpPr txBox="1">
                <a:spLocks noChangeArrowheads="1"/>
              </p:cNvSpPr>
              <p:nvPr/>
            </p:nvSpPr>
            <p:spPr bwMode="auto">
              <a:xfrm>
                <a:off x="2140229" y="5437790"/>
                <a:ext cx="1511325" cy="369332"/>
              </a:xfrm>
              <a:prstGeom prst="rect">
                <a:avLst/>
              </a:prstGeom>
              <a:solidFill>
                <a:schemeClr val="bg1"/>
              </a:solidFill>
              <a:ln w="6350" algn="ctr">
                <a:solidFill>
                  <a:srgbClr val="800000"/>
                </a:solidFill>
                <a:miter lim="800000"/>
                <a:headEnd/>
                <a:tailEnd/>
              </a:ln>
              <a:effectLst/>
            </p:spPr>
            <p:txBody>
              <a:bodyPr wrap="square">
                <a:spAutoFit/>
              </a:bodyPr>
              <a:lstStyle/>
              <a:p>
                <a:pPr>
                  <a:buClr>
                    <a:srgbClr val="800000"/>
                  </a:buClr>
                  <a:buFont typeface="Wingdings" pitchFamily="2" charset="2"/>
                  <a:buNone/>
                </a:pPr>
                <a:r>
                  <a:rPr lang="es-ES" dirty="0" err="1">
                    <a:latin typeface="Times New Roman" pitchFamily="18" charset="0"/>
                    <a:cs typeface="Times New Roman" pitchFamily="18" charset="0"/>
                  </a:rPr>
                  <a:t>Pcr</a:t>
                </a:r>
                <a:r>
                  <a:rPr lang="es-ES" dirty="0">
                    <a:latin typeface="Times New Roman" pitchFamily="18" charset="0"/>
                    <a:cs typeface="Times New Roman" pitchFamily="18" charset="0"/>
                  </a:rPr>
                  <a:t> = 2.2 </a:t>
                </a:r>
                <a:r>
                  <a:rPr lang="es-ES" dirty="0" err="1">
                    <a:latin typeface="Times New Roman" pitchFamily="18" charset="0"/>
                    <a:cs typeface="Times New Roman" pitchFamily="18" charset="0"/>
                  </a:rPr>
                  <a:t>seg</a:t>
                </a:r>
                <a:endParaRPr lang="es-ES" dirty="0">
                  <a:latin typeface="Times New Roman" pitchFamily="18" charset="0"/>
                  <a:cs typeface="Times New Roman" pitchFamily="18" charset="0"/>
                </a:endParaRPr>
              </a:p>
            </p:txBody>
          </p:sp>
        </p:grpSp>
        <p:cxnSp>
          <p:nvCxnSpPr>
            <p:cNvPr id="24" name="23 Conector recto"/>
            <p:cNvCxnSpPr/>
            <p:nvPr/>
          </p:nvCxnSpPr>
          <p:spPr>
            <a:xfrm>
              <a:off x="1080000" y="5661248"/>
              <a:ext cx="0" cy="50405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25 Conector recto"/>
            <p:cNvCxnSpPr/>
            <p:nvPr/>
          </p:nvCxnSpPr>
          <p:spPr>
            <a:xfrm>
              <a:off x="1584000" y="5661248"/>
              <a:ext cx="0" cy="50405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8" name="27 Conector recto"/>
            <p:cNvCxnSpPr/>
            <p:nvPr/>
          </p:nvCxnSpPr>
          <p:spPr>
            <a:xfrm>
              <a:off x="971600" y="5877272"/>
              <a:ext cx="72008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flipH="1">
              <a:off x="1403648" y="5661248"/>
              <a:ext cx="504056"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1 Grupo"/>
          <p:cNvGrpSpPr/>
          <p:nvPr/>
        </p:nvGrpSpPr>
        <p:grpSpPr>
          <a:xfrm>
            <a:off x="0" y="908720"/>
            <a:ext cx="9144000" cy="5832648"/>
            <a:chOff x="900113" y="1989138"/>
            <a:chExt cx="6688137" cy="4241800"/>
          </a:xfrm>
        </p:grpSpPr>
        <p:pic>
          <p:nvPicPr>
            <p:cNvPr id="73730" name="Picture 2" descr="sinto4"/>
            <p:cNvPicPr>
              <a:picLocks noChangeAspect="1" noChangeArrowheads="1"/>
            </p:cNvPicPr>
            <p:nvPr/>
          </p:nvPicPr>
          <p:blipFill>
            <a:blip r:embed="rId2" cstate="print"/>
            <a:srcRect/>
            <a:stretch>
              <a:fillRect/>
            </a:stretch>
          </p:blipFill>
          <p:spPr bwMode="auto">
            <a:xfrm>
              <a:off x="900113" y="2133600"/>
              <a:ext cx="2654300" cy="2105025"/>
            </a:xfrm>
            <a:prstGeom prst="rect">
              <a:avLst/>
            </a:prstGeom>
            <a:noFill/>
          </p:spPr>
        </p:pic>
        <p:sp>
          <p:nvSpPr>
            <p:cNvPr id="73745" name="Text Box 17"/>
            <p:cNvSpPr txBox="1">
              <a:spLocks noChangeArrowheads="1"/>
            </p:cNvSpPr>
            <p:nvPr/>
          </p:nvSpPr>
          <p:spPr bwMode="auto">
            <a:xfrm>
              <a:off x="2700339" y="1989138"/>
              <a:ext cx="1122497" cy="268597"/>
            </a:xfrm>
            <a:prstGeom prst="rect">
              <a:avLst/>
            </a:prstGeom>
            <a:solidFill>
              <a:schemeClr val="bg1"/>
            </a:solidFill>
            <a:ln w="6350" algn="ctr">
              <a:solidFill>
                <a:srgbClr val="800000"/>
              </a:solidFill>
              <a:miter lim="800000"/>
              <a:headEnd/>
              <a:tailEnd/>
            </a:ln>
            <a:effectLst/>
          </p:spPr>
          <p:txBody>
            <a:bodyPr wrap="square">
              <a:spAutoFit/>
            </a:bodyPr>
            <a:lstStyle/>
            <a:p>
              <a:pPr>
                <a:buClr>
                  <a:srgbClr val="800000"/>
                </a:buClr>
                <a:buFont typeface="Wingdings" pitchFamily="2" charset="2"/>
                <a:buNone/>
              </a:pPr>
              <a:r>
                <a:rPr lang="es-ES" dirty="0">
                  <a:latin typeface="Times New Roman" pitchFamily="18" charset="0"/>
                  <a:cs typeface="Times New Roman" pitchFamily="18" charset="0"/>
                </a:rPr>
                <a:t>Controlador P</a:t>
              </a:r>
            </a:p>
          </p:txBody>
        </p:sp>
        <p:pic>
          <p:nvPicPr>
            <p:cNvPr id="73746" name="Picture 18" descr="sinto5"/>
            <p:cNvPicPr>
              <a:picLocks noChangeAspect="1" noChangeArrowheads="1"/>
            </p:cNvPicPr>
            <p:nvPr/>
          </p:nvPicPr>
          <p:blipFill>
            <a:blip r:embed="rId3" cstate="print"/>
            <a:srcRect/>
            <a:stretch>
              <a:fillRect/>
            </a:stretch>
          </p:blipFill>
          <p:spPr bwMode="auto">
            <a:xfrm>
              <a:off x="2627313" y="3213100"/>
              <a:ext cx="2678112" cy="2085975"/>
            </a:xfrm>
            <a:prstGeom prst="rect">
              <a:avLst/>
            </a:prstGeom>
            <a:noFill/>
          </p:spPr>
        </p:pic>
        <p:sp>
          <p:nvSpPr>
            <p:cNvPr id="73747" name="Text Box 19"/>
            <p:cNvSpPr txBox="1">
              <a:spLocks noChangeArrowheads="1"/>
            </p:cNvSpPr>
            <p:nvPr/>
          </p:nvSpPr>
          <p:spPr bwMode="auto">
            <a:xfrm>
              <a:off x="3995738" y="2924175"/>
              <a:ext cx="1196474" cy="268597"/>
            </a:xfrm>
            <a:prstGeom prst="rect">
              <a:avLst/>
            </a:prstGeom>
            <a:solidFill>
              <a:schemeClr val="bg1"/>
            </a:solidFill>
            <a:ln w="6350" algn="ctr">
              <a:solidFill>
                <a:srgbClr val="800000"/>
              </a:solidFill>
              <a:miter lim="800000"/>
              <a:headEnd/>
              <a:tailEnd/>
            </a:ln>
            <a:effectLst/>
          </p:spPr>
          <p:txBody>
            <a:bodyPr wrap="square">
              <a:spAutoFit/>
            </a:bodyPr>
            <a:lstStyle/>
            <a:p>
              <a:pPr>
                <a:buClr>
                  <a:srgbClr val="800000"/>
                </a:buClr>
                <a:buFont typeface="Wingdings" pitchFamily="2" charset="2"/>
                <a:buNone/>
              </a:pPr>
              <a:r>
                <a:rPr lang="es-ES" dirty="0">
                  <a:latin typeface="Times New Roman" pitchFamily="18" charset="0"/>
                  <a:cs typeface="Times New Roman" pitchFamily="18" charset="0"/>
                </a:rPr>
                <a:t>Controlador PI</a:t>
              </a:r>
            </a:p>
          </p:txBody>
        </p:sp>
        <p:pic>
          <p:nvPicPr>
            <p:cNvPr id="73748" name="Picture 20" descr="sinto6"/>
            <p:cNvPicPr>
              <a:picLocks noChangeAspect="1" noChangeArrowheads="1"/>
            </p:cNvPicPr>
            <p:nvPr/>
          </p:nvPicPr>
          <p:blipFill>
            <a:blip r:embed="rId4" cstate="print"/>
            <a:srcRect/>
            <a:stretch>
              <a:fillRect/>
            </a:stretch>
          </p:blipFill>
          <p:spPr bwMode="auto">
            <a:xfrm>
              <a:off x="4932363" y="4076700"/>
              <a:ext cx="2655887" cy="2154238"/>
            </a:xfrm>
            <a:prstGeom prst="rect">
              <a:avLst/>
            </a:prstGeom>
            <a:noFill/>
          </p:spPr>
        </p:pic>
        <p:sp>
          <p:nvSpPr>
            <p:cNvPr id="73749" name="Text Box 21"/>
            <p:cNvSpPr txBox="1">
              <a:spLocks noChangeArrowheads="1"/>
            </p:cNvSpPr>
            <p:nvPr/>
          </p:nvSpPr>
          <p:spPr bwMode="auto">
            <a:xfrm>
              <a:off x="6215013" y="3807052"/>
              <a:ext cx="1163808" cy="494463"/>
            </a:xfrm>
            <a:prstGeom prst="rect">
              <a:avLst/>
            </a:prstGeom>
            <a:solidFill>
              <a:schemeClr val="bg1"/>
            </a:solidFill>
            <a:ln w="6350" algn="ctr">
              <a:solidFill>
                <a:srgbClr val="800000"/>
              </a:solidFill>
              <a:miter lim="800000"/>
              <a:headEnd/>
              <a:tailEnd/>
            </a:ln>
            <a:effectLst/>
          </p:spPr>
          <p:txBody>
            <a:bodyPr wrap="square">
              <a:spAutoFit/>
            </a:bodyPr>
            <a:lstStyle/>
            <a:p>
              <a:pPr>
                <a:buClr>
                  <a:srgbClr val="800000"/>
                </a:buClr>
                <a:buFont typeface="Wingdings" pitchFamily="2" charset="2"/>
                <a:buNone/>
              </a:pPr>
              <a:r>
                <a:rPr lang="es-ES" dirty="0">
                  <a:latin typeface="Times New Roman" pitchFamily="18" charset="0"/>
                  <a:cs typeface="Times New Roman" pitchFamily="18" charset="0"/>
                </a:rPr>
                <a:t>Controlador PID</a:t>
              </a:r>
            </a:p>
          </p:txBody>
        </p:sp>
      </p:grpSp>
      <p:sp>
        <p:nvSpPr>
          <p:cNvPr id="23"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 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Curva de reacción de Smith</a:t>
            </a:r>
          </a:p>
        </p:txBody>
      </p:sp>
      <p:sp>
        <p:nvSpPr>
          <p:cNvPr id="5" name="4 Rectángulo"/>
          <p:cNvSpPr/>
          <p:nvPr/>
        </p:nvSpPr>
        <p:spPr>
          <a:xfrm>
            <a:off x="323528" y="1268760"/>
            <a:ext cx="8496944" cy="3416320"/>
          </a:xfrm>
          <a:prstGeom prst="rect">
            <a:avLst/>
          </a:prstGeom>
        </p:spPr>
        <p:txBody>
          <a:bodyPr wrap="square">
            <a:spAutoFit/>
          </a:bodyPr>
          <a:lstStyle/>
          <a:p>
            <a:r>
              <a:rPr lang="es-AR" sz="2400" dirty="0">
                <a:latin typeface="Times New Roman" pitchFamily="18" charset="0"/>
                <a:cs typeface="Times New Roman" pitchFamily="18" charset="0"/>
              </a:rPr>
              <a:t>Para el cálculo de los parámetros se utiliza el método de los dos puntos (propuesto por C.L. Smith). </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El método consiste en determinar los instantes de tiempo t1 y t2 en los cuales la respuesta alcanza el 0.283 y el 0.632 del cambio producido en la salida debido a un escalón en la variable de entrada. </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A partir de ellos se determina la constante de tiempo y el tiempo muerto mediante las siguientes expresiones: </a:t>
            </a:r>
          </a:p>
        </p:txBody>
      </p:sp>
      <p:graphicFrame>
        <p:nvGraphicFramePr>
          <p:cNvPr id="100353" name="Object 1"/>
          <p:cNvGraphicFramePr>
            <a:graphicFrameLocks noChangeAspect="1"/>
          </p:cNvGraphicFramePr>
          <p:nvPr/>
        </p:nvGraphicFramePr>
        <p:xfrm>
          <a:off x="1115616" y="5157192"/>
          <a:ext cx="2636837" cy="817563"/>
        </p:xfrm>
        <a:graphic>
          <a:graphicData uri="http://schemas.openxmlformats.org/presentationml/2006/ole">
            <mc:AlternateContent xmlns:mc="http://schemas.openxmlformats.org/markup-compatibility/2006">
              <mc:Choice xmlns:v="urn:schemas-microsoft-com:vml" Requires="v">
                <p:oleObj spid="_x0000_s100367" name="Ecuación" r:id="rId3" imgW="1473120" imgH="457200" progId="Equation.3">
                  <p:embed/>
                </p:oleObj>
              </mc:Choice>
              <mc:Fallback>
                <p:oleObj name="Ecuación" r:id="rId3" imgW="1473120" imgH="45720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5157192"/>
                        <a:ext cx="2636837" cy="817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354" name="Object 1"/>
          <p:cNvGraphicFramePr>
            <a:graphicFrameLocks noChangeAspect="1"/>
          </p:cNvGraphicFramePr>
          <p:nvPr/>
        </p:nvGraphicFramePr>
        <p:xfrm>
          <a:off x="4644008" y="4869160"/>
          <a:ext cx="2606675" cy="1377950"/>
        </p:xfrm>
        <a:graphic>
          <a:graphicData uri="http://schemas.openxmlformats.org/presentationml/2006/ole">
            <mc:AlternateContent xmlns:mc="http://schemas.openxmlformats.org/markup-compatibility/2006">
              <mc:Choice xmlns:v="urn:schemas-microsoft-com:vml" Requires="v">
                <p:oleObj spid="_x0000_s100368" name="Ecuación" r:id="rId5" imgW="1295280" imgH="685800" progId="Equation.3">
                  <p:embed/>
                </p:oleObj>
              </mc:Choice>
              <mc:Fallback>
                <p:oleObj name="Ecuación" r:id="rId5" imgW="1295280" imgH="685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4869160"/>
                        <a:ext cx="2606675" cy="1377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Curva de reacción de Smith</a:t>
            </a:r>
          </a:p>
        </p:txBody>
      </p:sp>
      <p:sp>
        <p:nvSpPr>
          <p:cNvPr id="6" name="5 Rectángulo"/>
          <p:cNvSpPr/>
          <p:nvPr/>
        </p:nvSpPr>
        <p:spPr>
          <a:xfrm>
            <a:off x="467544" y="980728"/>
            <a:ext cx="8208912" cy="1200329"/>
          </a:xfrm>
          <a:prstGeom prst="rect">
            <a:avLst/>
          </a:prstGeom>
        </p:spPr>
        <p:txBody>
          <a:bodyPr wrap="square">
            <a:spAutoFit/>
          </a:bodyPr>
          <a:lstStyle/>
          <a:p>
            <a:r>
              <a:rPr lang="es-AR" sz="2400" dirty="0">
                <a:latin typeface="Times New Roman" pitchFamily="18" charset="0"/>
                <a:cs typeface="Times New Roman" pitchFamily="18" charset="0"/>
              </a:rPr>
              <a:t>Estimar los parámetros (K, </a:t>
            </a:r>
            <a:r>
              <a:rPr lang="es-AR" sz="2400" dirty="0" err="1">
                <a:latin typeface="Times New Roman" pitchFamily="18" charset="0"/>
                <a:cs typeface="Times New Roman" pitchFamily="18" charset="0"/>
              </a:rPr>
              <a:t>Tp</a:t>
            </a:r>
            <a:r>
              <a:rPr lang="es-AR" sz="2400" dirty="0">
                <a:latin typeface="Times New Roman" pitchFamily="18" charset="0"/>
                <a:cs typeface="Times New Roman" pitchFamily="18" charset="0"/>
              </a:rPr>
              <a:t> y </a:t>
            </a:r>
            <a:r>
              <a:rPr lang="es-AR" sz="2400" dirty="0" err="1">
                <a:latin typeface="Times New Roman" pitchFamily="18" charset="0"/>
                <a:cs typeface="Times New Roman" pitchFamily="18" charset="0"/>
              </a:rPr>
              <a:t>To</a:t>
            </a:r>
            <a:r>
              <a:rPr lang="es-AR" sz="2400" dirty="0">
                <a:latin typeface="Times New Roman" pitchFamily="18" charset="0"/>
                <a:cs typeface="Times New Roman" pitchFamily="18" charset="0"/>
              </a:rPr>
              <a:t>) de un modelo simple (primer orden + retardo) que mejor aproxima las características de la respuesta.</a:t>
            </a:r>
          </a:p>
        </p:txBody>
      </p:sp>
      <p:sp>
        <p:nvSpPr>
          <p:cNvPr id="7" name="6 Rectángulo"/>
          <p:cNvSpPr/>
          <p:nvPr/>
        </p:nvSpPr>
        <p:spPr>
          <a:xfrm>
            <a:off x="539552" y="2132856"/>
            <a:ext cx="8136904" cy="461665"/>
          </a:xfrm>
          <a:prstGeom prst="rect">
            <a:avLst/>
          </a:prstGeom>
        </p:spPr>
        <p:txBody>
          <a:bodyPr wrap="square">
            <a:spAutoFit/>
          </a:bodyPr>
          <a:lstStyle/>
          <a:p>
            <a:r>
              <a:rPr lang="es-AR" sz="2400" dirty="0">
                <a:latin typeface="Times New Roman" pitchFamily="18" charset="0"/>
                <a:cs typeface="Times New Roman" pitchFamily="18" charset="0"/>
              </a:rPr>
              <a:t>Ejemplo de características: 28.3% y 63.2% del estacionario</a:t>
            </a:r>
          </a:p>
        </p:txBody>
      </p:sp>
      <p:grpSp>
        <p:nvGrpSpPr>
          <p:cNvPr id="18" name="17 Grupo"/>
          <p:cNvGrpSpPr/>
          <p:nvPr/>
        </p:nvGrpSpPr>
        <p:grpSpPr>
          <a:xfrm>
            <a:off x="1043608" y="2708920"/>
            <a:ext cx="5886822" cy="4118302"/>
            <a:chOff x="1043608" y="2708920"/>
            <a:chExt cx="5886822" cy="4118302"/>
          </a:xfrm>
        </p:grpSpPr>
        <p:pic>
          <p:nvPicPr>
            <p:cNvPr id="68610" name="Picture 2"/>
            <p:cNvPicPr>
              <a:picLocks noChangeAspect="1" noChangeArrowheads="1"/>
            </p:cNvPicPr>
            <p:nvPr/>
          </p:nvPicPr>
          <p:blipFill>
            <a:blip r:embed="rId2" cstate="print"/>
            <a:srcRect/>
            <a:stretch>
              <a:fillRect/>
            </a:stretch>
          </p:blipFill>
          <p:spPr bwMode="auto">
            <a:xfrm>
              <a:off x="1691680" y="2708920"/>
              <a:ext cx="5238750" cy="3962400"/>
            </a:xfrm>
            <a:prstGeom prst="rect">
              <a:avLst/>
            </a:prstGeom>
            <a:noFill/>
            <a:ln w="9525">
              <a:noFill/>
              <a:miter lim="800000"/>
              <a:headEnd/>
              <a:tailEnd/>
            </a:ln>
          </p:spPr>
        </p:pic>
        <p:sp>
          <p:nvSpPr>
            <p:cNvPr id="8" name="7 CuadroTexto"/>
            <p:cNvSpPr txBox="1"/>
            <p:nvPr/>
          </p:nvSpPr>
          <p:spPr>
            <a:xfrm>
              <a:off x="2339752" y="6488668"/>
              <a:ext cx="864096"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L     T</a:t>
              </a:r>
            </a:p>
          </p:txBody>
        </p:sp>
        <p:sp>
          <p:nvSpPr>
            <p:cNvPr id="9" name="8 CuadroTexto"/>
            <p:cNvSpPr txBox="1"/>
            <p:nvPr/>
          </p:nvSpPr>
          <p:spPr>
            <a:xfrm>
              <a:off x="3491880" y="4581128"/>
              <a:ext cx="1008112"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L + T/3</a:t>
              </a:r>
            </a:p>
          </p:txBody>
        </p:sp>
        <p:sp>
          <p:nvSpPr>
            <p:cNvPr id="10" name="9 CuadroTexto"/>
            <p:cNvSpPr txBox="1"/>
            <p:nvPr/>
          </p:nvSpPr>
          <p:spPr>
            <a:xfrm>
              <a:off x="2808000" y="5949280"/>
              <a:ext cx="360040"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t1</a:t>
              </a:r>
            </a:p>
          </p:txBody>
        </p:sp>
        <p:sp>
          <p:nvSpPr>
            <p:cNvPr id="11" name="10 CuadroTexto"/>
            <p:cNvSpPr txBox="1"/>
            <p:nvPr/>
          </p:nvSpPr>
          <p:spPr>
            <a:xfrm>
              <a:off x="3275856" y="5949280"/>
              <a:ext cx="360040"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t2</a:t>
              </a:r>
            </a:p>
          </p:txBody>
        </p:sp>
        <p:sp>
          <p:nvSpPr>
            <p:cNvPr id="12" name="11 Rectángulo"/>
            <p:cNvSpPr/>
            <p:nvPr/>
          </p:nvSpPr>
          <p:spPr>
            <a:xfrm>
              <a:off x="2339752" y="4797152"/>
              <a:ext cx="432048"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4" name="13 Conector recto de flecha"/>
            <p:cNvCxnSpPr>
              <a:endCxn id="12" idx="2"/>
            </p:cNvCxnSpPr>
            <p:nvPr/>
          </p:nvCxnSpPr>
          <p:spPr>
            <a:xfrm flipH="1">
              <a:off x="2555776" y="4725144"/>
              <a:ext cx="864096"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1043608" y="2852936"/>
              <a:ext cx="1152128" cy="3539430"/>
            </a:xfrm>
            <a:prstGeom prst="rect">
              <a:avLst/>
            </a:prstGeom>
            <a:solidFill>
              <a:schemeClr val="bg1"/>
            </a:solidFill>
          </p:spPr>
          <p:txBody>
            <a:bodyPr wrap="square" rtlCol="0">
              <a:spAutoFit/>
            </a:bodyPr>
            <a:lstStyle/>
            <a:p>
              <a:r>
                <a:rPr lang="es-AR" sz="1600" dirty="0"/>
                <a:t>C(t)final</a:t>
              </a:r>
            </a:p>
            <a:p>
              <a:endParaRPr lang="es-AR" sz="1600" dirty="0"/>
            </a:p>
            <a:p>
              <a:endParaRPr lang="es-AR" sz="1600" dirty="0"/>
            </a:p>
            <a:p>
              <a:endParaRPr lang="es-AR" sz="1600" dirty="0"/>
            </a:p>
            <a:p>
              <a:endParaRPr lang="es-AR" sz="1600" dirty="0"/>
            </a:p>
            <a:p>
              <a:r>
                <a:rPr lang="es-AR" sz="1600" dirty="0"/>
                <a:t>0,632.K</a:t>
              </a:r>
            </a:p>
            <a:p>
              <a:endParaRPr lang="es-AR" sz="1600" dirty="0"/>
            </a:p>
            <a:p>
              <a:endParaRPr lang="es-AR" sz="1600" dirty="0"/>
            </a:p>
            <a:p>
              <a:endParaRPr lang="es-AR" sz="1600" dirty="0"/>
            </a:p>
            <a:p>
              <a:endParaRPr lang="es-AR" sz="1600" dirty="0"/>
            </a:p>
            <a:p>
              <a:r>
                <a:rPr lang="es-AR" sz="1600" dirty="0"/>
                <a:t>0,283.K</a:t>
              </a:r>
            </a:p>
            <a:p>
              <a:endParaRPr lang="es-AR" sz="1600" dirty="0"/>
            </a:p>
            <a:p>
              <a:endParaRPr lang="es-AR" sz="1600" dirty="0"/>
            </a:p>
            <a:p>
              <a:r>
                <a:rPr lang="es-AR" sz="1600" dirty="0"/>
                <a:t>C(t) inicial</a:t>
              </a:r>
            </a:p>
          </p:txBody>
        </p:sp>
        <p:sp>
          <p:nvSpPr>
            <p:cNvPr id="16" name="15 CuadroTexto"/>
            <p:cNvSpPr txBox="1"/>
            <p:nvPr/>
          </p:nvSpPr>
          <p:spPr>
            <a:xfrm>
              <a:off x="5868144" y="4437112"/>
              <a:ext cx="360040"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K</a:t>
              </a:r>
            </a:p>
          </p:txBody>
        </p:sp>
        <p:sp>
          <p:nvSpPr>
            <p:cNvPr id="17" name="16 CuadroTexto"/>
            <p:cNvSpPr txBox="1"/>
            <p:nvPr/>
          </p:nvSpPr>
          <p:spPr>
            <a:xfrm>
              <a:off x="6228184" y="6381328"/>
              <a:ext cx="360040" cy="338554"/>
            </a:xfrm>
            <a:prstGeom prst="rect">
              <a:avLst/>
            </a:prstGeom>
            <a:solidFill>
              <a:schemeClr val="bg1"/>
            </a:solidFill>
          </p:spPr>
          <p:txBody>
            <a:bodyPr wrap="square" rtlCol="0">
              <a:spAutoFit/>
            </a:bodyPr>
            <a:lstStyle/>
            <a:p>
              <a:r>
                <a:rPr lang="es-AR" sz="1600" dirty="0">
                  <a:latin typeface="Times New Roman" pitchFamily="18" charset="0"/>
                  <a:cs typeface="Times New Roman" pitchFamily="18" charset="0"/>
                </a:rPr>
                <a:t>t</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Curva de reacción de Smith</a:t>
            </a:r>
          </a:p>
        </p:txBody>
      </p:sp>
      <p:pic>
        <p:nvPicPr>
          <p:cNvPr id="69634" name="Picture 2"/>
          <p:cNvPicPr>
            <a:picLocks noChangeAspect="1" noChangeArrowheads="1"/>
          </p:cNvPicPr>
          <p:nvPr/>
        </p:nvPicPr>
        <p:blipFill>
          <a:blip r:embed="rId2" cstate="print"/>
          <a:srcRect/>
          <a:stretch>
            <a:fillRect/>
          </a:stretch>
        </p:blipFill>
        <p:spPr bwMode="auto">
          <a:xfrm>
            <a:off x="1043608" y="1025352"/>
            <a:ext cx="6959247" cy="583264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Curva de reacción de Smith</a:t>
            </a:r>
          </a:p>
        </p:txBody>
      </p:sp>
      <p:sp>
        <p:nvSpPr>
          <p:cNvPr id="8" name="7 Rectángulo"/>
          <p:cNvSpPr/>
          <p:nvPr/>
        </p:nvSpPr>
        <p:spPr>
          <a:xfrm>
            <a:off x="467544" y="1916832"/>
            <a:ext cx="8064896" cy="830997"/>
          </a:xfrm>
          <a:prstGeom prst="rect">
            <a:avLst/>
          </a:prstGeom>
        </p:spPr>
        <p:txBody>
          <a:bodyPr wrap="square">
            <a:spAutoFit/>
          </a:bodyPr>
          <a:lstStyle/>
          <a:p>
            <a:r>
              <a:rPr lang="es-AR" sz="2400" dirty="0">
                <a:latin typeface="Times New Roman" pitchFamily="18" charset="0"/>
                <a:cs typeface="Times New Roman" pitchFamily="18" charset="0"/>
              </a:rPr>
              <a:t>Característica al 28.3% </a:t>
            </a:r>
            <a:r>
              <a:rPr lang="es-AR" sz="2400" dirty="0">
                <a:latin typeface="Times New Roman" pitchFamily="18" charset="0"/>
                <a:cs typeface="Times New Roman" pitchFamily="18" charset="0"/>
                <a:sym typeface="Wingdings" pitchFamily="2" charset="2"/>
              </a:rPr>
              <a:t> </a:t>
            </a:r>
            <a:r>
              <a:rPr lang="es-AR" sz="2400" dirty="0">
                <a:latin typeface="Times New Roman" pitchFamily="18" charset="0"/>
                <a:cs typeface="Times New Roman" pitchFamily="18" charset="0"/>
              </a:rPr>
              <a:t>50 + 0.283 ( 52.22 – 50 ) ≅ 50.63 </a:t>
            </a:r>
          </a:p>
          <a:p>
            <a:r>
              <a:rPr lang="es-AR" sz="2400" dirty="0">
                <a:latin typeface="Times New Roman" pitchFamily="18" charset="0"/>
                <a:cs typeface="Times New Roman" pitchFamily="18" charset="0"/>
              </a:rPr>
              <a:t>t1 ≅ 12.32 min </a:t>
            </a:r>
          </a:p>
        </p:txBody>
      </p:sp>
      <p:sp>
        <p:nvSpPr>
          <p:cNvPr id="9" name="8 Rectángulo"/>
          <p:cNvSpPr/>
          <p:nvPr/>
        </p:nvSpPr>
        <p:spPr>
          <a:xfrm>
            <a:off x="539552" y="4437112"/>
            <a:ext cx="7560840" cy="830997"/>
          </a:xfrm>
          <a:prstGeom prst="rect">
            <a:avLst/>
          </a:prstGeom>
        </p:spPr>
        <p:txBody>
          <a:bodyPr wrap="square">
            <a:spAutoFit/>
          </a:bodyPr>
          <a:lstStyle/>
          <a:p>
            <a:r>
              <a:rPr lang="es-AR" sz="2400" dirty="0">
                <a:latin typeface="Times New Roman" pitchFamily="18" charset="0"/>
                <a:cs typeface="Times New Roman" pitchFamily="18" charset="0"/>
              </a:rPr>
              <a:t>K = </a:t>
            </a:r>
            <a:r>
              <a:rPr lang="es-AR" sz="2400" u="sng" dirty="0">
                <a:latin typeface="Times New Roman" pitchFamily="18" charset="0"/>
                <a:cs typeface="Times New Roman" pitchFamily="18" charset="0"/>
              </a:rPr>
              <a:t>cambio en la temperatura </a:t>
            </a:r>
            <a:r>
              <a:rPr lang="es-AR" sz="2400" dirty="0">
                <a:latin typeface="Times New Roman" pitchFamily="18" charset="0"/>
                <a:cs typeface="Times New Roman" pitchFamily="18" charset="0"/>
              </a:rPr>
              <a:t>= </a:t>
            </a:r>
            <a:r>
              <a:rPr lang="es-AR" sz="2400" u="sng" dirty="0">
                <a:latin typeface="Times New Roman" pitchFamily="18" charset="0"/>
                <a:cs typeface="Times New Roman" pitchFamily="18" charset="0"/>
              </a:rPr>
              <a:t>52.22 – 50 </a:t>
            </a:r>
            <a:r>
              <a:rPr lang="es-AR" sz="2400" dirty="0">
                <a:latin typeface="Times New Roman" pitchFamily="18" charset="0"/>
                <a:cs typeface="Times New Roman" pitchFamily="18" charset="0"/>
              </a:rPr>
              <a:t>= 0.22</a:t>
            </a:r>
          </a:p>
          <a:p>
            <a:r>
              <a:rPr lang="es-AR" sz="2400" dirty="0">
                <a:latin typeface="Times New Roman" pitchFamily="18" charset="0"/>
                <a:cs typeface="Times New Roman" pitchFamily="18" charset="0"/>
              </a:rPr>
              <a:t>          cambio en la apertura            60-50</a:t>
            </a:r>
          </a:p>
        </p:txBody>
      </p:sp>
      <p:sp>
        <p:nvSpPr>
          <p:cNvPr id="10" name="9 Rectángulo"/>
          <p:cNvSpPr/>
          <p:nvPr/>
        </p:nvSpPr>
        <p:spPr>
          <a:xfrm>
            <a:off x="467544" y="5445224"/>
            <a:ext cx="3724930" cy="1200329"/>
          </a:xfrm>
          <a:prstGeom prst="rect">
            <a:avLst/>
          </a:prstGeom>
        </p:spPr>
        <p:txBody>
          <a:bodyPr wrap="none">
            <a:spAutoFit/>
          </a:bodyPr>
          <a:lstStyle/>
          <a:p>
            <a:r>
              <a:rPr lang="es-AR" sz="2400" dirty="0">
                <a:latin typeface="Times New Roman" pitchFamily="18" charset="0"/>
                <a:cs typeface="Times New Roman" pitchFamily="18" charset="0"/>
              </a:rPr>
              <a:t>T ≅ 1.5*(t2 - t1) = 5.46 min </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L ≅ t2 - T = 10.5 min</a:t>
            </a:r>
          </a:p>
        </p:txBody>
      </p:sp>
      <p:sp>
        <p:nvSpPr>
          <p:cNvPr id="6" name="5 CuadroTexto"/>
          <p:cNvSpPr txBox="1"/>
          <p:nvPr/>
        </p:nvSpPr>
        <p:spPr>
          <a:xfrm>
            <a:off x="467544" y="1196752"/>
            <a:ext cx="7632848" cy="461665"/>
          </a:xfrm>
          <a:prstGeom prst="rect">
            <a:avLst/>
          </a:prstGeom>
          <a:noFill/>
        </p:spPr>
        <p:txBody>
          <a:bodyPr wrap="square" rtlCol="0">
            <a:spAutoFit/>
          </a:bodyPr>
          <a:lstStyle/>
          <a:p>
            <a:r>
              <a:rPr lang="es-AR" sz="2400" dirty="0">
                <a:latin typeface="Times New Roman" pitchFamily="18" charset="0"/>
                <a:cs typeface="Times New Roman" pitchFamily="18" charset="0"/>
              </a:rPr>
              <a:t>C(t)</a:t>
            </a:r>
            <a:r>
              <a:rPr lang="es-AR" sz="2400" baseline="-25000" dirty="0">
                <a:latin typeface="Times New Roman" pitchFamily="18" charset="0"/>
                <a:cs typeface="Times New Roman" pitchFamily="18" charset="0"/>
              </a:rPr>
              <a:t>28.3% </a:t>
            </a:r>
            <a:r>
              <a:rPr lang="es-AR" sz="2400" dirty="0">
                <a:latin typeface="Times New Roman" pitchFamily="18" charset="0"/>
                <a:cs typeface="Times New Roman" pitchFamily="18" charset="0"/>
              </a:rPr>
              <a:t>= C(t)</a:t>
            </a:r>
            <a:r>
              <a:rPr lang="es-AR" sz="2400" baseline="-25000" dirty="0">
                <a:latin typeface="Times New Roman" pitchFamily="18" charset="0"/>
                <a:cs typeface="Times New Roman" pitchFamily="18" charset="0"/>
              </a:rPr>
              <a:t>inicial</a:t>
            </a:r>
            <a:r>
              <a:rPr lang="es-AR" sz="2400" dirty="0">
                <a:latin typeface="Times New Roman" pitchFamily="18" charset="0"/>
                <a:cs typeface="Times New Roman" pitchFamily="18" charset="0"/>
              </a:rPr>
              <a:t> + 0.283*[C(t)</a:t>
            </a:r>
            <a:r>
              <a:rPr lang="es-AR" sz="2400" baseline="-25000" dirty="0">
                <a:latin typeface="Times New Roman" pitchFamily="18" charset="0"/>
                <a:cs typeface="Times New Roman" pitchFamily="18" charset="0"/>
              </a:rPr>
              <a:t>final</a:t>
            </a:r>
            <a:r>
              <a:rPr lang="es-AR" sz="2400" dirty="0">
                <a:latin typeface="Times New Roman" pitchFamily="18" charset="0"/>
                <a:cs typeface="Times New Roman" pitchFamily="18" charset="0"/>
              </a:rPr>
              <a:t> – C(t)</a:t>
            </a:r>
            <a:r>
              <a:rPr lang="es-AR" sz="2400" baseline="-25000" dirty="0">
                <a:latin typeface="Times New Roman" pitchFamily="18" charset="0"/>
                <a:cs typeface="Times New Roman" pitchFamily="18" charset="0"/>
              </a:rPr>
              <a:t>inicial</a:t>
            </a:r>
            <a:r>
              <a:rPr lang="es-AR" sz="2400" dirty="0">
                <a:latin typeface="Times New Roman" pitchFamily="18" charset="0"/>
                <a:cs typeface="Times New Roman" pitchFamily="18" charset="0"/>
              </a:rPr>
              <a:t>]</a:t>
            </a:r>
          </a:p>
        </p:txBody>
      </p:sp>
      <p:sp>
        <p:nvSpPr>
          <p:cNvPr id="7" name="6 CuadroTexto"/>
          <p:cNvSpPr txBox="1"/>
          <p:nvPr/>
        </p:nvSpPr>
        <p:spPr>
          <a:xfrm>
            <a:off x="539552" y="2852936"/>
            <a:ext cx="7632848" cy="461665"/>
          </a:xfrm>
          <a:prstGeom prst="rect">
            <a:avLst/>
          </a:prstGeom>
          <a:noFill/>
        </p:spPr>
        <p:txBody>
          <a:bodyPr wrap="square" rtlCol="0">
            <a:spAutoFit/>
          </a:bodyPr>
          <a:lstStyle/>
          <a:p>
            <a:r>
              <a:rPr lang="es-AR" sz="2400" dirty="0">
                <a:latin typeface="Times New Roman" pitchFamily="18" charset="0"/>
                <a:cs typeface="Times New Roman" pitchFamily="18" charset="0"/>
              </a:rPr>
              <a:t>C(t)</a:t>
            </a:r>
            <a:r>
              <a:rPr lang="es-AR" sz="2400" baseline="-25000" dirty="0">
                <a:latin typeface="Times New Roman" pitchFamily="18" charset="0"/>
                <a:cs typeface="Times New Roman" pitchFamily="18" charset="0"/>
              </a:rPr>
              <a:t>63.2% </a:t>
            </a:r>
            <a:r>
              <a:rPr lang="es-AR" sz="2400" dirty="0">
                <a:latin typeface="Times New Roman" pitchFamily="18" charset="0"/>
                <a:cs typeface="Times New Roman" pitchFamily="18" charset="0"/>
              </a:rPr>
              <a:t>= C(t)</a:t>
            </a:r>
            <a:r>
              <a:rPr lang="es-AR" sz="2400" baseline="-25000" dirty="0">
                <a:latin typeface="Times New Roman" pitchFamily="18" charset="0"/>
                <a:cs typeface="Times New Roman" pitchFamily="18" charset="0"/>
              </a:rPr>
              <a:t>inicial</a:t>
            </a:r>
            <a:r>
              <a:rPr lang="es-AR" sz="2400" dirty="0">
                <a:latin typeface="Times New Roman" pitchFamily="18" charset="0"/>
                <a:cs typeface="Times New Roman" pitchFamily="18" charset="0"/>
              </a:rPr>
              <a:t> + 0.632*[C(t)</a:t>
            </a:r>
            <a:r>
              <a:rPr lang="es-AR" sz="2400" baseline="-25000" dirty="0">
                <a:latin typeface="Times New Roman" pitchFamily="18" charset="0"/>
                <a:cs typeface="Times New Roman" pitchFamily="18" charset="0"/>
              </a:rPr>
              <a:t>final</a:t>
            </a:r>
            <a:r>
              <a:rPr lang="es-AR" sz="2400" dirty="0">
                <a:latin typeface="Times New Roman" pitchFamily="18" charset="0"/>
                <a:cs typeface="Times New Roman" pitchFamily="18" charset="0"/>
              </a:rPr>
              <a:t> – C(t)</a:t>
            </a:r>
            <a:r>
              <a:rPr lang="es-AR" sz="2400" baseline="-25000" dirty="0">
                <a:latin typeface="Times New Roman" pitchFamily="18" charset="0"/>
                <a:cs typeface="Times New Roman" pitchFamily="18" charset="0"/>
              </a:rPr>
              <a:t>inicial</a:t>
            </a:r>
            <a:r>
              <a:rPr lang="es-AR" sz="2400" dirty="0">
                <a:latin typeface="Times New Roman" pitchFamily="18" charset="0"/>
                <a:cs typeface="Times New Roman" pitchFamily="18" charset="0"/>
              </a:rPr>
              <a:t>]</a:t>
            </a:r>
          </a:p>
        </p:txBody>
      </p:sp>
      <p:sp>
        <p:nvSpPr>
          <p:cNvPr id="11" name="10 Rectángulo"/>
          <p:cNvSpPr/>
          <p:nvPr/>
        </p:nvSpPr>
        <p:spPr>
          <a:xfrm>
            <a:off x="539552" y="3429000"/>
            <a:ext cx="7920880" cy="830997"/>
          </a:xfrm>
          <a:prstGeom prst="rect">
            <a:avLst/>
          </a:prstGeom>
        </p:spPr>
        <p:txBody>
          <a:bodyPr wrap="square">
            <a:spAutoFit/>
          </a:bodyPr>
          <a:lstStyle/>
          <a:p>
            <a:r>
              <a:rPr lang="es-AR" sz="2400" dirty="0">
                <a:latin typeface="Times New Roman" pitchFamily="18" charset="0"/>
                <a:cs typeface="Times New Roman" pitchFamily="18" charset="0"/>
              </a:rPr>
              <a:t>Característica al 63.2% </a:t>
            </a:r>
            <a:r>
              <a:rPr lang="es-AR" sz="2400" dirty="0">
                <a:latin typeface="Times New Roman" pitchFamily="18" charset="0"/>
                <a:cs typeface="Times New Roman" pitchFamily="18" charset="0"/>
                <a:sym typeface="Wingdings" pitchFamily="2" charset="2"/>
              </a:rPr>
              <a:t> </a:t>
            </a:r>
            <a:r>
              <a:rPr lang="es-AR" sz="2400" dirty="0">
                <a:latin typeface="Times New Roman" pitchFamily="18" charset="0"/>
                <a:cs typeface="Times New Roman" pitchFamily="18" charset="0"/>
              </a:rPr>
              <a:t>50 + 0.632 ( 52.22 – 50 ) ≅ 51.40 </a:t>
            </a:r>
          </a:p>
          <a:p>
            <a:r>
              <a:rPr lang="es-AR" sz="2400" dirty="0">
                <a:latin typeface="Times New Roman" pitchFamily="18" charset="0"/>
                <a:cs typeface="Times New Roman" pitchFamily="18" charset="0"/>
              </a:rPr>
              <a:t>t2 ≅ 15.96 min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a:t>
            </a:r>
          </a:p>
        </p:txBody>
      </p:sp>
      <p:pic>
        <p:nvPicPr>
          <p:cNvPr id="124930" name="Picture 2"/>
          <p:cNvPicPr>
            <a:picLocks noChangeAspect="1" noChangeArrowheads="1"/>
          </p:cNvPicPr>
          <p:nvPr/>
        </p:nvPicPr>
        <p:blipFill>
          <a:blip r:embed="rId3" cstate="print"/>
          <a:srcRect/>
          <a:stretch>
            <a:fillRect/>
          </a:stretch>
        </p:blipFill>
        <p:spPr bwMode="auto">
          <a:xfrm>
            <a:off x="-612576" y="476673"/>
            <a:ext cx="10585176" cy="6381328"/>
          </a:xfrm>
          <a:prstGeom prst="rect">
            <a:avLst/>
          </a:prstGeom>
          <a:noFill/>
          <a:ln w="9525">
            <a:noFill/>
            <a:miter lim="800000"/>
            <a:headEnd/>
            <a:tailEnd/>
          </a:ln>
          <a:effectLst/>
        </p:spPr>
      </p:pic>
      <p:sp>
        <p:nvSpPr>
          <p:cNvPr id="6" name="5 Rectángulo"/>
          <p:cNvSpPr/>
          <p:nvPr/>
        </p:nvSpPr>
        <p:spPr>
          <a:xfrm>
            <a:off x="3491880" y="3356992"/>
            <a:ext cx="4572000" cy="923330"/>
          </a:xfrm>
          <a:prstGeom prst="rect">
            <a:avLst/>
          </a:prstGeom>
        </p:spPr>
        <p:txBody>
          <a:bodyPr>
            <a:spAutoFit/>
          </a:bodyPr>
          <a:lstStyle/>
          <a:p>
            <a:r>
              <a:rPr lang="es-AR" dirty="0">
                <a:latin typeface="Times New Roman" pitchFamily="18" charset="0"/>
                <a:cs typeface="Times New Roman" pitchFamily="18" charset="0"/>
              </a:rPr>
              <a:t>T = 3/2(t2 – t1) = 3/2(160 - 80) = 120 segundos </a:t>
            </a:r>
          </a:p>
          <a:p>
            <a:endParaRPr lang="es-AR" dirty="0">
              <a:latin typeface="Times New Roman" pitchFamily="18" charset="0"/>
              <a:cs typeface="Times New Roman" pitchFamily="18" charset="0"/>
            </a:endParaRPr>
          </a:p>
          <a:p>
            <a:r>
              <a:rPr lang="es-AR" dirty="0">
                <a:latin typeface="Times New Roman" pitchFamily="18" charset="0"/>
                <a:cs typeface="Times New Roman" pitchFamily="18" charset="0"/>
              </a:rPr>
              <a:t>L = t2 – T = 160-120 = 40 segundos</a:t>
            </a:r>
          </a:p>
        </p:txBody>
      </p:sp>
      <p:graphicFrame>
        <p:nvGraphicFramePr>
          <p:cNvPr id="7" name="6 Objeto"/>
          <p:cNvGraphicFramePr>
            <a:graphicFrameLocks noChangeAspect="1"/>
          </p:cNvGraphicFramePr>
          <p:nvPr/>
        </p:nvGraphicFramePr>
        <p:xfrm>
          <a:off x="7812360" y="0"/>
          <a:ext cx="839787" cy="863600"/>
        </p:xfrm>
        <a:graphic>
          <a:graphicData uri="http://schemas.openxmlformats.org/presentationml/2006/ole">
            <mc:AlternateContent xmlns:mc="http://schemas.openxmlformats.org/markup-compatibility/2006">
              <mc:Choice xmlns:v="urn:schemas-microsoft-com:vml" Requires="v">
                <p:oleObj spid="_x0000_s124947" name="Package" r:id="rId4" imgW="839160" imgH="862920" progId="Package">
                  <p:embed/>
                </p:oleObj>
              </mc:Choice>
              <mc:Fallback>
                <p:oleObj name="Package" r:id="rId4" imgW="839160" imgH="862920" progId="Package">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2360" y="0"/>
                        <a:ext cx="83978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9 Objeto"/>
          <p:cNvGraphicFramePr>
            <a:graphicFrameLocks noChangeAspect="1"/>
          </p:cNvGraphicFramePr>
          <p:nvPr/>
        </p:nvGraphicFramePr>
        <p:xfrm>
          <a:off x="755576" y="0"/>
          <a:ext cx="1662388" cy="1440160"/>
        </p:xfrm>
        <a:graphic>
          <a:graphicData uri="http://schemas.openxmlformats.org/presentationml/2006/ole">
            <mc:AlternateContent xmlns:mc="http://schemas.openxmlformats.org/markup-compatibility/2006">
              <mc:Choice xmlns:v="urn:schemas-microsoft-com:vml" Requires="v">
                <p:oleObj spid="_x0000_s124948" name="Worksheet" showAsIcon="1" r:id="rId6" imgW="914400" imgH="792360" progId="Excel.Sheet.8">
                  <p:embed/>
                </p:oleObj>
              </mc:Choice>
              <mc:Fallback>
                <p:oleObj name="Worksheet" showAsIcon="1" r:id="rId6" imgW="914400" imgH="792360" progId="Excel.Sheet.8">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576" y="0"/>
                        <a:ext cx="1662388" cy="1440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a:t>
            </a:r>
          </a:p>
        </p:txBody>
      </p:sp>
      <p:pic>
        <p:nvPicPr>
          <p:cNvPr id="125956" name="Picture 4"/>
          <p:cNvPicPr>
            <a:picLocks noChangeAspect="1" noChangeArrowheads="1"/>
          </p:cNvPicPr>
          <p:nvPr/>
        </p:nvPicPr>
        <p:blipFill>
          <a:blip r:embed="rId2" cstate="print"/>
          <a:srcRect/>
          <a:stretch>
            <a:fillRect/>
          </a:stretch>
        </p:blipFill>
        <p:spPr bwMode="auto">
          <a:xfrm>
            <a:off x="-609600" y="620688"/>
            <a:ext cx="10366176" cy="6237312"/>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Ejemplo</a:t>
            </a:r>
          </a:p>
        </p:txBody>
      </p:sp>
      <p:pic>
        <p:nvPicPr>
          <p:cNvPr id="125954" name="Picture 2"/>
          <p:cNvPicPr>
            <a:picLocks noChangeAspect="1" noChangeArrowheads="1"/>
          </p:cNvPicPr>
          <p:nvPr/>
        </p:nvPicPr>
        <p:blipFill>
          <a:blip r:embed="rId2" cstate="print"/>
          <a:srcRect/>
          <a:stretch>
            <a:fillRect/>
          </a:stretch>
        </p:blipFill>
        <p:spPr bwMode="auto">
          <a:xfrm>
            <a:off x="-684584" y="548681"/>
            <a:ext cx="10585176" cy="6309320"/>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Método de los dos puntos</a:t>
            </a:r>
          </a:p>
        </p:txBody>
      </p:sp>
      <p:sp>
        <p:nvSpPr>
          <p:cNvPr id="6" name="5 Rectángulo"/>
          <p:cNvSpPr/>
          <p:nvPr/>
        </p:nvSpPr>
        <p:spPr>
          <a:xfrm>
            <a:off x="395536" y="1052736"/>
            <a:ext cx="8352928" cy="4893647"/>
          </a:xfrm>
          <a:prstGeom prst="rect">
            <a:avLst/>
          </a:prstGeom>
        </p:spPr>
        <p:txBody>
          <a:bodyPr wrap="square">
            <a:spAutoFit/>
          </a:bodyPr>
          <a:lstStyle/>
          <a:p>
            <a:r>
              <a:rPr lang="es-AR" sz="2400" dirty="0">
                <a:latin typeface="Times New Roman" pitchFamily="18" charset="0"/>
                <a:cs typeface="Times New Roman" pitchFamily="18" charset="0"/>
              </a:rPr>
              <a:t>El método de </a:t>
            </a:r>
            <a:r>
              <a:rPr lang="es-AR" sz="2400" dirty="0" err="1">
                <a:latin typeface="Times New Roman" pitchFamily="18" charset="0"/>
                <a:cs typeface="Times New Roman" pitchFamily="18" charset="0"/>
              </a:rPr>
              <a:t>Ziegler</a:t>
            </a:r>
            <a:r>
              <a:rPr lang="es-AR" sz="2400" dirty="0">
                <a:latin typeface="Times New Roman" pitchFamily="18" charset="0"/>
                <a:cs typeface="Times New Roman" pitchFamily="18" charset="0"/>
              </a:rPr>
              <a:t> y </a:t>
            </a:r>
            <a:r>
              <a:rPr lang="es-AR" sz="2400" dirty="0" err="1">
                <a:latin typeface="Times New Roman" pitchFamily="18" charset="0"/>
                <a:cs typeface="Times New Roman" pitchFamily="18" charset="0"/>
              </a:rPr>
              <a:t>Nichols</a:t>
            </a:r>
            <a:r>
              <a:rPr lang="es-AR" sz="2400" dirty="0">
                <a:latin typeface="Times New Roman" pitchFamily="18" charset="0"/>
                <a:cs typeface="Times New Roman" pitchFamily="18" charset="0"/>
              </a:rPr>
              <a:t> requiere que se trace una recta tangente a la curva de reacción del sistema en el punto de inflexión. Esto no siempre es fácil de realizar, máxime si la respuesta del sistema presenta ruido. Una variación en la pendiente de la recta tangente afecta tanto el valor del tiempo muerto como el de la constante de tiempo del modelo.</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Para identificar dos parámetros que requiere el modelo, la constante de tiempo y el tiempo muerto aparente del</a:t>
            </a:r>
          </a:p>
          <a:p>
            <a:r>
              <a:rPr lang="es-AR" sz="2400" dirty="0">
                <a:latin typeface="Times New Roman" pitchFamily="18" charset="0"/>
                <a:cs typeface="Times New Roman" pitchFamily="18" charset="0"/>
              </a:rPr>
              <a:t>sistema, se pueden establecer dos ecuaciones con dos incógnitas utilizando dos puntos sobre la curva de reacción. De este modo se garantiza que la respuesta del modelo coincida con la del sistema real en estos dos puntos como mínimo.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Método de los dos puntos</a:t>
            </a:r>
          </a:p>
        </p:txBody>
      </p:sp>
      <p:sp>
        <p:nvSpPr>
          <p:cNvPr id="5" name="4 Rectángulo"/>
          <p:cNvSpPr/>
          <p:nvPr/>
        </p:nvSpPr>
        <p:spPr>
          <a:xfrm>
            <a:off x="395536" y="1196752"/>
            <a:ext cx="8136904" cy="4524315"/>
          </a:xfrm>
          <a:prstGeom prst="rect">
            <a:avLst/>
          </a:prstGeom>
        </p:spPr>
        <p:txBody>
          <a:bodyPr wrap="square">
            <a:spAutoFit/>
          </a:bodyPr>
          <a:lstStyle/>
          <a:p>
            <a:r>
              <a:rPr lang="es-AR" sz="2400" dirty="0">
                <a:latin typeface="Times New Roman" pitchFamily="18" charset="0"/>
                <a:cs typeface="Times New Roman" pitchFamily="18" charset="0"/>
              </a:rPr>
              <a:t>Pueden establecerse, por consiguiente, ecuaciones generales para los métodos de dos puntos, con el fin de identificar un modelo de primer orden más tiempo muerto con base en los tiempos requeridos para alcanzar dos puntos específicos en la curva de reacción del proceso.</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Si p1 y p2 son dos valores porcentuales del cambio en la respuesta del sistema a un cambio escalón en la entrada y</a:t>
            </a:r>
          </a:p>
          <a:p>
            <a:r>
              <a:rPr lang="es-AR" sz="2400" dirty="0">
                <a:latin typeface="Times New Roman" pitchFamily="18" charset="0"/>
                <a:cs typeface="Times New Roman" pitchFamily="18" charset="0"/>
              </a:rPr>
              <a:t>t1 y t2 son los tiempos requeridos para alcanzar estos dos valores medidos desde el inicio del escalón, entonces los parámetros de un modelo de primer orden más tiempo muerto se pueden obtener como:</a:t>
            </a:r>
          </a:p>
        </p:txBody>
      </p:sp>
      <p:sp>
        <p:nvSpPr>
          <p:cNvPr id="6" name="5 CuadroTexto"/>
          <p:cNvSpPr txBox="1"/>
          <p:nvPr/>
        </p:nvSpPr>
        <p:spPr>
          <a:xfrm>
            <a:off x="3275856" y="5445224"/>
            <a:ext cx="2160240" cy="1200329"/>
          </a:xfrm>
          <a:prstGeom prst="rect">
            <a:avLst/>
          </a:prstGeom>
          <a:noFill/>
        </p:spPr>
        <p:txBody>
          <a:bodyPr wrap="square" rtlCol="0">
            <a:spAutoFit/>
          </a:bodyPr>
          <a:lstStyle/>
          <a:p>
            <a:r>
              <a:rPr lang="es-AR" sz="2400" dirty="0">
                <a:latin typeface="Times New Roman" pitchFamily="18" charset="0"/>
                <a:cs typeface="Times New Roman" pitchFamily="18" charset="0"/>
              </a:rPr>
              <a:t>T = a.t1 + b.t2</a:t>
            </a:r>
          </a:p>
          <a:p>
            <a:endParaRPr lang="es-AR" sz="2400" dirty="0">
              <a:latin typeface="Times New Roman" pitchFamily="18" charset="0"/>
              <a:cs typeface="Times New Roman" pitchFamily="18" charset="0"/>
            </a:endParaRPr>
          </a:p>
          <a:p>
            <a:r>
              <a:rPr lang="es-AR" sz="2400" dirty="0">
                <a:latin typeface="Times New Roman" pitchFamily="18" charset="0"/>
                <a:cs typeface="Times New Roman" pitchFamily="18" charset="0"/>
              </a:rPr>
              <a:t>L = c.t1 + d.t2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Método de los dos puntos</a:t>
            </a:r>
          </a:p>
        </p:txBody>
      </p:sp>
      <p:sp>
        <p:nvSpPr>
          <p:cNvPr id="6" name="5 Rectángulo"/>
          <p:cNvSpPr/>
          <p:nvPr/>
        </p:nvSpPr>
        <p:spPr>
          <a:xfrm>
            <a:off x="179512" y="980728"/>
            <a:ext cx="8712968" cy="707886"/>
          </a:xfrm>
          <a:prstGeom prst="rect">
            <a:avLst/>
          </a:prstGeom>
        </p:spPr>
        <p:txBody>
          <a:bodyPr wrap="square">
            <a:spAutoFit/>
          </a:bodyPr>
          <a:lstStyle/>
          <a:p>
            <a:r>
              <a:rPr lang="es-AR" sz="2000" dirty="0">
                <a:latin typeface="Times New Roman" pitchFamily="18" charset="0"/>
                <a:cs typeface="Times New Roman" pitchFamily="18" charset="0"/>
              </a:rPr>
              <a:t>La ganancia del proceso </a:t>
            </a:r>
            <a:r>
              <a:rPr lang="es-AR" sz="2000" dirty="0" err="1">
                <a:latin typeface="Times New Roman" pitchFamily="18" charset="0"/>
                <a:cs typeface="Times New Roman" pitchFamily="18" charset="0"/>
              </a:rPr>
              <a:t>kp</a:t>
            </a:r>
            <a:r>
              <a:rPr lang="es-AR" sz="2000" dirty="0">
                <a:latin typeface="Times New Roman" pitchFamily="18" charset="0"/>
                <a:cs typeface="Times New Roman" pitchFamily="18" charset="0"/>
              </a:rPr>
              <a:t> es el cambio total en la salida ( </a:t>
            </a:r>
            <a:r>
              <a:rPr lang="es-AR" sz="2000" dirty="0" err="1">
                <a:latin typeface="Times New Roman" pitchFamily="18" charset="0"/>
                <a:cs typeface="Times New Roman" pitchFamily="18" charset="0"/>
              </a:rPr>
              <a:t>Δy</a:t>
            </a:r>
            <a:r>
              <a:rPr lang="es-AR" sz="2000" dirty="0">
                <a:latin typeface="Times New Roman" pitchFamily="18" charset="0"/>
                <a:cs typeface="Times New Roman" pitchFamily="18" charset="0"/>
              </a:rPr>
              <a:t> = </a:t>
            </a:r>
            <a:r>
              <a:rPr lang="es-AR" sz="2000" dirty="0" err="1">
                <a:latin typeface="Times New Roman" pitchFamily="18" charset="0"/>
                <a:cs typeface="Times New Roman" pitchFamily="18" charset="0"/>
              </a:rPr>
              <a:t>yf</a:t>
            </a:r>
            <a:r>
              <a:rPr lang="es-AR" sz="2000" dirty="0">
                <a:latin typeface="Times New Roman" pitchFamily="18" charset="0"/>
                <a:cs typeface="Times New Roman" pitchFamily="18" charset="0"/>
              </a:rPr>
              <a:t> – </a:t>
            </a:r>
            <a:r>
              <a:rPr lang="es-AR" sz="2000" dirty="0" err="1">
                <a:latin typeface="Times New Roman" pitchFamily="18" charset="0"/>
                <a:cs typeface="Times New Roman" pitchFamily="18" charset="0"/>
              </a:rPr>
              <a:t>yi</a:t>
            </a:r>
            <a:r>
              <a:rPr lang="es-AR" sz="2000" dirty="0">
                <a:latin typeface="Times New Roman" pitchFamily="18" charset="0"/>
                <a:cs typeface="Times New Roman" pitchFamily="18" charset="0"/>
              </a:rPr>
              <a:t> ) dividido por el cambio en la entrada ( </a:t>
            </a:r>
            <a:r>
              <a:rPr lang="es-AR" sz="2000" dirty="0" err="1">
                <a:latin typeface="Times New Roman" pitchFamily="18" charset="0"/>
                <a:cs typeface="Times New Roman" pitchFamily="18" charset="0"/>
              </a:rPr>
              <a:t>Δu</a:t>
            </a:r>
            <a:r>
              <a:rPr lang="es-AR" sz="2000" dirty="0">
                <a:latin typeface="Times New Roman" pitchFamily="18" charset="0"/>
                <a:cs typeface="Times New Roman" pitchFamily="18" charset="0"/>
              </a:rPr>
              <a:t> = uf – </a:t>
            </a:r>
            <a:r>
              <a:rPr lang="es-AR" sz="2000" dirty="0" err="1">
                <a:latin typeface="Times New Roman" pitchFamily="18" charset="0"/>
                <a:cs typeface="Times New Roman" pitchFamily="18" charset="0"/>
              </a:rPr>
              <a:t>ui</a:t>
            </a:r>
            <a:r>
              <a:rPr lang="es-AR" sz="2000" dirty="0">
                <a:latin typeface="Times New Roman" pitchFamily="18" charset="0"/>
                <a:cs typeface="Times New Roman" pitchFamily="18" charset="0"/>
              </a:rPr>
              <a:t> ), como </a:t>
            </a:r>
            <a:r>
              <a:rPr lang="es-AR" sz="2000" dirty="0" err="1">
                <a:latin typeface="Times New Roman" pitchFamily="18" charset="0"/>
                <a:cs typeface="Times New Roman" pitchFamily="18" charset="0"/>
              </a:rPr>
              <a:t>Kp</a:t>
            </a:r>
            <a:r>
              <a:rPr lang="es-AR" sz="2000" dirty="0">
                <a:latin typeface="Times New Roman" pitchFamily="18" charset="0"/>
                <a:cs typeface="Times New Roman" pitchFamily="18" charset="0"/>
              </a:rPr>
              <a:t> = </a:t>
            </a:r>
            <a:r>
              <a:rPr lang="es-AR" sz="2000" dirty="0" err="1">
                <a:latin typeface="Times New Roman" pitchFamily="18" charset="0"/>
                <a:cs typeface="Times New Roman" pitchFamily="18" charset="0"/>
              </a:rPr>
              <a:t>Δy</a:t>
            </a:r>
            <a:r>
              <a:rPr lang="es-AR" sz="2000" dirty="0">
                <a:latin typeface="Times New Roman" pitchFamily="18" charset="0"/>
                <a:cs typeface="Times New Roman" pitchFamily="18" charset="0"/>
              </a:rPr>
              <a:t> / </a:t>
            </a:r>
            <a:r>
              <a:rPr lang="es-AR" sz="2000" dirty="0" err="1">
                <a:latin typeface="Times New Roman" pitchFamily="18" charset="0"/>
                <a:cs typeface="Times New Roman" pitchFamily="18" charset="0"/>
              </a:rPr>
              <a:t>Δu</a:t>
            </a:r>
            <a:endParaRPr lang="es-AR" sz="2000" dirty="0">
              <a:latin typeface="Times New Roman" pitchFamily="18" charset="0"/>
              <a:cs typeface="Times New Roman" pitchFamily="18" charset="0"/>
            </a:endParaRPr>
          </a:p>
        </p:txBody>
      </p:sp>
      <p:pic>
        <p:nvPicPr>
          <p:cNvPr id="71682" name="Picture 2"/>
          <p:cNvPicPr>
            <a:picLocks noChangeAspect="1" noChangeArrowheads="1"/>
          </p:cNvPicPr>
          <p:nvPr/>
        </p:nvPicPr>
        <p:blipFill>
          <a:blip r:embed="rId2" cstate="print"/>
          <a:srcRect/>
          <a:stretch>
            <a:fillRect/>
          </a:stretch>
        </p:blipFill>
        <p:spPr bwMode="auto">
          <a:xfrm>
            <a:off x="755576" y="1700808"/>
            <a:ext cx="7494934" cy="4968552"/>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1560" y="0"/>
            <a:ext cx="8229600" cy="1143000"/>
          </a:xfrm>
          <a:prstGeom prst="rect">
            <a:avLst/>
          </a:prstGeom>
        </p:spPr>
        <p:txBody>
          <a:bodyPr vert="horz" lIns="91440" tIns="45720" rIns="91440" bIns="45720" rtlCol="0" anchor="ctr">
            <a:normAutofit/>
          </a:bodyPr>
          <a:lstStyle/>
          <a:p>
            <a:pPr algn="ctr">
              <a:buFontTx/>
              <a:buNone/>
            </a:pPr>
            <a:r>
              <a:rPr lang="es-ES" sz="4400" dirty="0"/>
              <a:t>Método de los dos puntos</a:t>
            </a:r>
          </a:p>
        </p:txBody>
      </p:sp>
      <p:sp>
        <p:nvSpPr>
          <p:cNvPr id="7" name="6 Rectángulo"/>
          <p:cNvSpPr/>
          <p:nvPr/>
        </p:nvSpPr>
        <p:spPr>
          <a:xfrm>
            <a:off x="251520" y="1052736"/>
            <a:ext cx="8568952" cy="1569660"/>
          </a:xfrm>
          <a:prstGeom prst="rect">
            <a:avLst/>
          </a:prstGeom>
        </p:spPr>
        <p:txBody>
          <a:bodyPr wrap="square">
            <a:spAutoFit/>
          </a:bodyPr>
          <a:lstStyle/>
          <a:p>
            <a:r>
              <a:rPr lang="es-AR" sz="2400" dirty="0">
                <a:latin typeface="Times New Roman" pitchFamily="18" charset="0"/>
                <a:cs typeface="Times New Roman" pitchFamily="18" charset="0"/>
              </a:rPr>
              <a:t>Los porcentajes del cambio en la respuesta para la determinación de los dos tiempos requeridos por el procedimiento de identificación, así como los valores de las constantes a, b, c y d para las ecuaciones de los métodos de los diferentes autores se resumen en esta tabla.</a:t>
            </a:r>
          </a:p>
        </p:txBody>
      </p:sp>
      <p:grpSp>
        <p:nvGrpSpPr>
          <p:cNvPr id="3" name="Grupo 2"/>
          <p:cNvGrpSpPr/>
          <p:nvPr/>
        </p:nvGrpSpPr>
        <p:grpSpPr>
          <a:xfrm>
            <a:off x="179512" y="2852936"/>
            <a:ext cx="8648700" cy="3505200"/>
            <a:chOff x="179512" y="2852936"/>
            <a:chExt cx="8648700" cy="3505200"/>
          </a:xfrm>
        </p:grpSpPr>
        <p:grpSp>
          <p:nvGrpSpPr>
            <p:cNvPr id="9" name="8 Grupo"/>
            <p:cNvGrpSpPr/>
            <p:nvPr/>
          </p:nvGrpSpPr>
          <p:grpSpPr>
            <a:xfrm>
              <a:off x="179512" y="2852936"/>
              <a:ext cx="8648700" cy="3505200"/>
              <a:chOff x="179512" y="2852936"/>
              <a:chExt cx="8648700" cy="3505200"/>
            </a:xfrm>
          </p:grpSpPr>
          <p:pic>
            <p:nvPicPr>
              <p:cNvPr id="72706" name="Picture 2"/>
              <p:cNvPicPr>
                <a:picLocks noChangeAspect="1" noChangeArrowheads="1"/>
              </p:cNvPicPr>
              <p:nvPr/>
            </p:nvPicPr>
            <p:blipFill>
              <a:blip r:embed="rId2" cstate="print"/>
              <a:srcRect/>
              <a:stretch>
                <a:fillRect/>
              </a:stretch>
            </p:blipFill>
            <p:spPr bwMode="auto">
              <a:xfrm>
                <a:off x="179512" y="2852936"/>
                <a:ext cx="8648700" cy="3505200"/>
              </a:xfrm>
              <a:prstGeom prst="rect">
                <a:avLst/>
              </a:prstGeom>
              <a:noFill/>
              <a:ln w="9525">
                <a:noFill/>
                <a:miter lim="800000"/>
                <a:headEnd/>
                <a:tailEnd/>
              </a:ln>
            </p:spPr>
          </p:pic>
          <p:sp>
            <p:nvSpPr>
              <p:cNvPr id="8" name="7 Rectángulo"/>
              <p:cNvSpPr/>
              <p:nvPr/>
            </p:nvSpPr>
            <p:spPr>
              <a:xfrm>
                <a:off x="323528" y="2988000"/>
                <a:ext cx="1152128"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grpSp>
        <p:sp>
          <p:nvSpPr>
            <p:cNvPr id="2" name="CuadroTexto 1"/>
            <p:cNvSpPr txBox="1"/>
            <p:nvPr/>
          </p:nvSpPr>
          <p:spPr>
            <a:xfrm>
              <a:off x="2411760" y="3789040"/>
              <a:ext cx="216024" cy="369332"/>
            </a:xfrm>
            <a:prstGeom prst="rect">
              <a:avLst/>
            </a:prstGeom>
            <a:noFill/>
          </p:spPr>
          <p:txBody>
            <a:bodyPr wrap="square" rtlCol="0">
              <a:spAutoFit/>
            </a:bodyPr>
            <a:lstStyle/>
            <a:p>
              <a:r>
                <a:rPr lang="es-AR" dirty="0"/>
                <a:t>,</a:t>
              </a:r>
            </a:p>
          </p:txBody>
        </p:sp>
      </p:gr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10395</TotalTime>
  <Words>1912</Words>
  <Application>Microsoft Office PowerPoint</Application>
  <PresentationFormat>Presentación en pantalla (4:3)</PresentationFormat>
  <Paragraphs>267</Paragraphs>
  <Slides>45</Slides>
  <Notes>1</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5</vt:i4>
      </vt:variant>
      <vt:variant>
        <vt:lpstr>Títulos de diapositiva</vt:lpstr>
      </vt:variant>
      <vt:variant>
        <vt:i4>45</vt:i4>
      </vt:variant>
    </vt:vector>
  </HeadingPairs>
  <TitlesOfParts>
    <vt:vector size="55" baseType="lpstr">
      <vt:lpstr>Arial</vt:lpstr>
      <vt:lpstr>Calibri</vt:lpstr>
      <vt:lpstr>Times New Roman</vt:lpstr>
      <vt:lpstr>Wingdings</vt:lpstr>
      <vt:lpstr>Tema de Office</vt:lpstr>
      <vt:lpstr>Microsoft Editor de ecuaciones 3.0</vt:lpstr>
      <vt:lpstr>Ecuación</vt:lpstr>
      <vt:lpstr>Imagen de mapa de bits</vt:lpstr>
      <vt:lpstr>Package</vt:lpstr>
      <vt:lpstr>Worksheet</vt:lpstr>
      <vt:lpstr>Electrónica Industrial</vt:lpstr>
      <vt:lpstr>Presentación de PowerPoint</vt:lpstr>
      <vt:lpstr>Presentación de PowerPoint</vt:lpstr>
      <vt:lpstr>Sintonización</vt:lpstr>
      <vt:lpstr>Sintonización</vt:lpstr>
      <vt:lpstr>Primer método de ZN</vt:lpstr>
      <vt:lpstr>Primer método de ZN</vt:lpstr>
      <vt:lpstr>Primer método de ZN</vt:lpstr>
      <vt:lpstr>Primer método de ZN</vt:lpstr>
      <vt:lpstr>Primer método de ZN</vt:lpstr>
      <vt:lpstr>Primer método de ZN</vt:lpstr>
      <vt:lpstr>Presentación de PowerPoint</vt:lpstr>
      <vt:lpstr>Primer método de ZN</vt:lpstr>
      <vt:lpstr>Primer método de ZN</vt:lpstr>
      <vt:lpstr>Segundo método de ZN</vt:lpstr>
      <vt:lpstr>Segundo método de ZN</vt:lpstr>
      <vt:lpstr>Segundo método de ZN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Usuario</dc:creator>
  <cp:lastModifiedBy>Daniel Graff</cp:lastModifiedBy>
  <cp:revision>69</cp:revision>
  <dcterms:created xsi:type="dcterms:W3CDTF">2015-04-29T18:53:42Z</dcterms:created>
  <dcterms:modified xsi:type="dcterms:W3CDTF">2016-05-04T17:48:13Z</dcterms:modified>
</cp:coreProperties>
</file>